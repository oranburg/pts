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0"/>
  </p:notesMasterIdLst>
  <p:handoutMasterIdLst>
    <p:handoutMasterId r:id="rId8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65C"/>
    <a:srgbClr val="FFD75B"/>
    <a:srgbClr val="B21F2C"/>
    <a:srgbClr val="0932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3267"/>
    <p:restoredTop sz="94610"/>
  </p:normalViewPr>
  <p:slideViewPr>
    <p:cSldViewPr snapToGrid="0" snapToObjects="1">
      <p:cViewPr varScale="1">
        <p:scale>
          <a:sx n="130" d="100"/>
          <a:sy n="130" d="100"/>
        </p:scale>
        <p:origin x="208" y="688"/>
      </p:cViewPr>
      <p:guideLst/>
    </p:cSldViewPr>
  </p:slideViewPr>
  <p:notesTextViewPr>
    <p:cViewPr>
      <p:scale>
        <a:sx n="1" d="1"/>
        <a:sy n="1" d="1"/>
      </p:scale>
      <p:origin x="0" y="0"/>
    </p:cViewPr>
  </p:notesTextViewPr>
  <p:notesViewPr>
    <p:cSldViewPr snapToGrid="0" snapToObjects="1">
      <p:cViewPr varScale="1">
        <p:scale>
          <a:sx n="94" d="100"/>
          <a:sy n="94" d="100"/>
        </p:scale>
        <p:origin x="4544" y="20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366754-0CBB-BFDC-2C2D-022082608C7D}"/>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5E2833-8702-699E-B8A5-EE379B546581}"/>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endParaRPr lang="en-US" dirty="0"/>
          </a:p>
        </p:txBody>
      </p:sp>
      <p:sp>
        <p:nvSpPr>
          <p:cNvPr id="4" name="Footer Placeholder 3">
            <a:extLst>
              <a:ext uri="{FF2B5EF4-FFF2-40B4-BE49-F238E27FC236}">
                <a16:creationId xmlns:a16="http://schemas.microsoft.com/office/drawing/2014/main" id="{1767407A-A640-9256-9A4F-2BAADF2D277A}"/>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D1FBD06-E65D-397D-AF6C-A872DBD63512}"/>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endParaRPr lang="en-US" dirty="0"/>
          </a:p>
        </p:txBody>
      </p:sp>
    </p:spTree>
    <p:extLst>
      <p:ext uri="{BB962C8B-B14F-4D97-AF65-F5344CB8AC3E}">
        <p14:creationId xmlns:p14="http://schemas.microsoft.com/office/powerpoint/2010/main" val="836317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706BFEF-787D-6249-B313-AF10B97B5AC9}" type="datetimeFigureOut">
              <a:rPr lang="en-US" smtClean="0"/>
              <a:t>2/24/26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55AD4C16-B485-2D49-9126-E887320796B6}" type="slidenum">
              <a:rPr lang="en-US" smtClean="0"/>
              <a:t>‹#›</a:t>
            </a:fld>
            <a:endParaRPr lang="en-US"/>
          </a:p>
        </p:txBody>
      </p:sp>
    </p:spTree>
    <p:extLst>
      <p:ext uri="{BB962C8B-B14F-4D97-AF65-F5344CB8AC3E}">
        <p14:creationId xmlns:p14="http://schemas.microsoft.com/office/powerpoint/2010/main" val="2203912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Chapter 2 shifts from 'what qualifies as a trade secret' (Ch. 1) to 'how to systematically find and organize them.' SAY: 'Last class we learned the three-element test. Today we learn how to apply it to real information assets — and why that process matters in court.' TRANSITION: Open with the retrieval practice question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Wait 10-15 seconds for students to recall. Cold-call if needed. This is spaced retrieval from Session 2. ANSWER: Information + Economic Value from Secrecy + Reasonable Efforts. FOLLOW-UP: 'Good. Those three elements are the test. But how does a company actually figure out what qualifies? That's what Chapter 2 is about.'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taught you the what — what qualifies as a trade secret. Chapter 2 teaches the how — how to identify, classify, and organize trade secrets systematically.' TRANSITION: Introduce the concept of the trade secret inventory.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This chapter bridges doctrinal knowledge (the three-element test) and practical application (building an inventory). SAY: 'A company that cannot specifically identify its trade secrets will lose in court. That's not a hypothetical — that's what happened in InteliClear v. ETC Global in 2020.' TRANSITION: Next slide introduces the inventory concept.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This is the animating principle of the entire chapter. The specificity requirement is both a legal rule and a practical reality. SAY: 'Imagine a plaintiff walks into court and says: all of our proprietary information was stolen. The judge's first question: What proprietary information? If the plaintiff can't answer with specificity, the case is over — often at the motion to dismiss stage.' CONTEXT: Reference InteliClear — the court required 'reasonable particularity.' This principle drives the entire inventory exercise. TRANSITION: Next — why the inventory matters.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trade secret inventory is the single most important document in any protection plan. It serves three distinct functions.' TRANSITION: Walk through the three functions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inventory is a litigation-readiness document. If a trade secret dispute arises, the company can point to the inventory to show that it identified the information, classified it, and treated it as confidential BEFORE the dispute — not after. SAY: 'Courts are skeptical of companies that suddenly discover they had trade secrets only after a former employee joins a competitor. The inventory is your timestamped proof that you took this seriously.' CONTEXT: This connects to Element 3 (reasonable efforts). The inventory itself IS a reasonable effort. TRANSITION: Function 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inventory enables strategic prioritization. A company with 50 trade secrets cannot protect all of them equally — some are worth millions, others are worth much less. The inventory helps allocate limited resources to the highest-value secrets. SAY: 'Think of it like triage in an emergency room. You have to decide what gets attention first. The inventory is your triage tool.' TRANSITION: Function 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Trade secrets often exist only in people's heads. If the person who holds the knowledge leaves the company, and there's no documentation, the company may lose the secret entirely — not to misappropriation, but to institutional amnesia. SAY: 'This is exactly Pico Salsa's problem. Miguel holds almost all of the technical knowledge in his head. If Miguel gets hit by a bus, so does the Ferment-X process.' TRANSITION: Common inventory pitfalls.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There are three ways an inventory fails. First, it's too vague — listing 'our technology' or 'our proprietary information' without specifics. Courts reject this. Second, it's too granular — listing every individual file or line of code creates an unmanageable document. Third, it's static — filed away and never updated as the business evolves. SAY: 'The gold standard is a living document at a useful level of specificity. Specific enough for a court, practical enough for the business.' TRANSITION: This raises the question — how specific is 'specific enough'?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need to find the sweet spot. CONTEXT: This standard comes from InteliClear. The court required reasonable particularity — specific enough for a third party to understand what is claimed without disclosing the secret itself. TRANSITION: Now let us talk about how to classify what you find.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'Once you've identified your trade secrets, you need to classify them. Classification drives protection strategy — different types of secrets need different protections.' TRANSITION: Introduce the three categories.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Classification is not just an organizational exercise — it directly determines what protective measures are appropriate. Technical secrets need access controls and compartmentalization. Business secrets need contractual protections and data governance. SAY: 'You wouldn't protect a customer list the same way you protect a manufacturing formula. The threats are different, the vulnerabilities are different, and the countermeasures are different.' TRANSITION: Walk through the three categories.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Technical trade secrets are the most intuitive category. They include manufacturing processes, chemical formulas, software algorithms, engineering specifications, and prototypes. SAY: 'The Coca-Cola formula, Google's search algorithm, the recipe for WD-40 — these are all technical trade secrets. For Pico Salsa, the Ferment-X process and the starter culture are both technical secrets.' CONTEXT: Technical secrets typically require physical and digital security measures: access segmentation, locked facilities, encrypted storage, compartmentalized knowledge. TRANSITION: Category 2.</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Business trade secrets are less intuitive but equally protectable. They include compiled customer data, pricing models, supplier terms, marketing strategies, and sales forecasts. SAY: 'A customer list is one of the most commonly litigated trade secrets. But not all customer lists qualify — if the customers are publicly identifiable, the list may not be secret. What makes it protectable is the compiled relationship data: contact details, purchasing history, pricing terms, preferences.' CONTEXT: Business secrets typically require contractual protections (NDAs, non-solicitation agreements) and policies governing how relationship data is stored and shared. TRANSITION: Category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Hybrid trade secrets sit at the intersection of technical and business information. They include things like pricing algorithms that use proprietary technical inputs, or manufacturing processes optimized based on customer-specific requirements. SAY: 'For Pico Salsa, the R&amp;D notes on recipe variations are hybrid — they combine technical knowledge (fermentation parameters) with business intelligence (customer flavor preferences). Hybrid secrets need both technical and contractual protections.' TRANSITION: Three-column comparison.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This summary slide is for reference. Students should copy this framework into their notes. SAY: Keep this framework in mind when you work on the Pico Salsa inventory exercise. Every information asset you identify should be tagged as technical, business, or hybrid. CONTEXT: Classification directly maps to protection strategy in Chapters 4 (internal) and 5 (external). TRANSITION: Case illustration.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This is the payoff of classification. It's not academic — it drives concrete recommendations in the TSPP. SAY: 'When you build the Internal Risk Mitigation Table in Stage 4, and the External Risk Mitigation Table in Stage 5, your recommendations should map directly to the classification you assigned here in Stage 2.' TRANSITION: Case illustration.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Basic American v. Shatila (1999). The case involved a dehydrated hash brown potato manufacturing process. Each individual step was known in the industry, but the specific combination of steps — the particular sequence, temperatures, and timing — was kept secret. FACTS: A former executive left and replicated the process at a competitor. The company prevailed because it had documented the process, classified it as proprietary, and protected it with NDAs and access restrictions. SIGNIFICANCE: This illustrates that classification and documentation are not merely administrative tasks — they are litigation preparation. The company could point to its inventory work to establish that the combination was treated as a trade secret. SAY: 'The inventory work that Basic American did before the dispute is exactly what you'll be doing for Pico Salsa in Stage 2.' TRANSITION: Retrieval practice break.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5-10 seconds. Cold-call. ANSWER: Technical, Business, Hybrid. FOLLOW-UP: 'Good. Now give me an example of each from the Pico Salsa fact file.' Expected: Ferment-X (technical), customer list (business), R&amp;D notes/recipe variations (hybrid).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let's apply this to Pico Salsa.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'Time to apply what we've learned. You have the Pico Salsa Fact File, Parts I and II. Working individually or in small groups, identify three to five information assets that might qualify as trade secrets. For each one, tag it as technical, business, or hybrid, and give a preliminary assessment using the three-element test.' TIMING: 15 minutes of work, then 10 minutes of debrief.</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'These are the candidate information assets. Your job is to assess each one against the three-element test. Not all of them will qualify. Some have vulnerabilities. You have 15 minutes.' EXPECTED RESPONSES: Students should flag: (a) Ferment-X is the strongest candidate but has a public presentation vulnerability (Southwest Startup Showcase); (b) the starter culture is distinct from Ferment-X and has its own risk profile; (c) the customer list is partially public (some accounts are identifiable); (d) Miguel's notebooks present a documentation/ownership problem. DEBRIEF: Surface the finding that Pico Salsa has several potential trade secrets but significant vulnerabilities in documentation and reasonable efforts. TRANSITION: Walk through the expected analysis.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This is the work prompt. Circulate among groups. Watch for: students who classify everything as 'technical' (push them on the customer list and supplier relationships); students who overlook the starter culture as separate from Ferment-X (it has distinct vulnerabilities); students who don't flag the Southwest Startup Showcase presentation. TIMING: 15 minutes. TRANSITION: After work time, advance to the debrief slides.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POINT 1. SAY: 'The Ferment-X process is clearly Pico Salsa's crown jewel. It's technical, it has economic value, and it's the core competitive advantage. But here's the problem: Miguel presented general information about the fermentation process at the Southwest Startup Showcase. How much did he disclose? To whom? Under what confidentiality protections?' CONTEXT: This is a reasonable efforts issue (Element 3) and a potential 'generally known' issue (Element 2). The inventory should flag this vulnerability. TRANSITION: Finding 2.</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POINT 2. SAY: 'Students often lump the starter culture together with the Ferment-X process. But they have different access profiles and different vulnerability vectors. The starter culture is a physical thing — it exists in the lab. Who has access to it? Is it stored securely? Could someone take a sample?' CONTEXT: The starter culture may be the most defensible trade secret because it's hard to reverse-engineer and easy to physically secure — IF Pico Salsa takes the right steps. TRANSITION: Finding 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POINT 3. SAY: 'Customer lists are one of the most commonly litigated trade secrets, and courts are split on when they qualify. The key question is whether the list adds value beyond what a competitor could assemble through public research. For Pico Salsa, the customer names may be ascertainable, but the compiled relationship data — pricing terms, order history, contact preferences — is not.' CONTEXT: This distinction between 'customer names' and 'compiled customer intelligence' is critical. The inventory entry should be specific about what is being claimed. TRANSITION: Finding 4.</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POINT 4. SAY: 'Miguel shared a Dropbox link with Red Mesa Farms — no NDA, no confidentiality markings, no access restrictions. This is a reasonable efforts problem. The supplier pricing and terms themselves may have economic value from secrecy, but Pico Salsa hasn't done the work to protect them.' CONTEXT: This finding sets up the internal and external mitigation work in Chapters 4 and 5. Students should note this vulnerability in their inventory. TRANSITION: Finding 5.</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POINT 5. SAY: 'Remember negative know-how from Chapter 1? Failed experiments are protectable because they save a competitor the time and cost of running those experiments themselves. Pico Salsa's R&amp;D notes document what didn't work, which is valuable information.' CONTEXT: The R&amp;D notes are hybrid because they combine technical knowledge (fermentation parameters) with business intelligence (which flavors customers preferred). Low priority individually, but medium in aggregate. TRANSITION: Miguel's notebooks.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POINT 6. SAY: 'This is the hardest issue for students. Miguel keeps personal notebooks with company trade secrets mixed in with personal notes. Are the notebooks his personal property or the company's? What happens if he leaves? What happens if he loses one?' CONTEXT: Students who read the fact file closely will flag this. It's a documentation problem (the trade secrets are not in company-controlled storage), an ownership problem (who controls the notebooks?), and a reasonable efforts problem (personal notebooks are not a reasonable security measure). Strong inventory entries will note this as a vulnerability. TRANSITION: Priority assignment.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'You've identified the assets and classified them. Now you need to prioritize. Not everything gets the same level of protection.' TRANSITION: Introduce the priority criteria.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Priority assignment drives resource allocation throughout the TSPP. It determines which risks get addressed first (Chapter 3), which internal measures are most urgent (Chapter 4), and which external relationships need the most protection (Chapter 5). SAY: 'A High-priority secret gets the most attention and the most resources. A Low-priority secret gets basic protections. The priority level is your recommendation to the client about where to invest.' CONTEXT: Three criteria — market impact (would disclosure allow replication?), revenue implications (does secrecy support pricing?), and replaceability (could it be recreated, and at what cost?). TRANSITION: Apply to Pico Salsa.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'Ferment-X is clearly High on all criteria. It's the core product differentiator, it supports $850,000 in annual revenue, and it took years of R&amp;D to develop. If a competitor got this, they could replicate the product within months.' CONTEXT: This is the anchor for every TSPP stage. Everything flows from protecting the Ferment-X process. TRANSITION: Customer list.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customer list is Medium because the account names could be identified through market research — you can figure out who buys artisan salsa in Albuquerque. But the compiled relationship data — who orders what, at what price, how often, and the contact relationships built over years — that's much harder to replicate.' CONTEXT: This is a common exam question: when does a customer list qualify as a trade secret? The answer turns on whether the list adds value beyond publicly available information. TRANSITION: Preview Session 4.</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'Welcome back. Quick review from last session, then we'll dive into the specificity requirement — the legal standard that governs how you describe trade secrets in your inventory and in court.' TRANSITION: Retrieval practice.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10 seconds. Cold-call. ANSWER: (1) Evidence for litigation, (2) Resource allocation, (3) Institutional knowledge. FOLLOW-UP: 'Which of these functions is most important for Pico Salsa right now?' Expected: Institutional knowledge — Miguel holds too much in his head.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'Today's big question: how specific do your inventory entries need to be? The answer comes from the courts.'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specificity requirement is a legal standard, not just a best practice. Courts will dismiss trade secret claims if the plaintiff cannot describe the alleged secrets with reasonable particularity. This is not hypothetical — it happens regularly.' TRANSITION: InteliClear.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InteliClear, LLC v. ETC Global Holdings, Inc., 978 F.3d 653 (9th Cir. 2020). FACTS: InteliClear developed a comprehensive electronic system for managing stock brokerage accounting, securities clearance, and settlement. It was a SQL relational database designed to handle millions of trades per day. SIGNIFICANCE: This is the leading modern case on the specificity requirement. It establishes that trade secret plaintiffs must describe their secrets with 'reasonable particularity' but that this standard is not impossibly high — especially before discovery. SAY: 'InteliClear built a complex database system for Wall Street. Then their licensee built a suspiciously similar system. The question: did InteliClear describe its trade secrets specifically enough to survive summary judgment?' TRANSITION: The license and termination.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CONTINUED: ETC licensed the InteliClear System in 2008 under a Software License Agreement with confidentiality provisions. In 2017, ETC terminated the license and certified it had destroyed all copies. But before terminating, ETC had begun building its own system. When it launched, InteliClear's architect noticed identical column names and structural similarities. SAY: 'ETC certified that it had removed all copies of the InteliClear system. But the new system it built looked remarkably similar. A forensic expert compared them and found — quoting the report — 'abundant evidence' of copying. The expert said it looked like a painter copying a model.' TRANSITION: The legal issue.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CONTINUED: Capsicum Group, the forensic expert, found that elements of ETC's system were identical to InteliClear's. The expert's declaration described the similarities as so striking 'that it appeared to us that ETC's system had been constructed by a programmer who had one eye on the InteliClear System as it was running and the other eye on the system he was building.' SAY: 'Despite this forensic evidence, the case nearly failed — not because the evidence of copying was weak, but because InteliClear's description of its trade secrets wasn't specific enough for the trial court.' TRANSITION: The specificity problem.</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The district court granted summary judgment for ETC on the ground that InteliClear failed to identify its trade secrets with 'reasonable particularity.' The court said the descriptions were too vague. SAY: 'The district court looked at InteliClear's description and said: you haven't told us specifically what's secret. You can't just say 'our whole database system.' Which parts? Which elements? Which combinations?' CONTEXT: This happened the day after discovery opened — no discovery had yet occurred. InteliClear argued it needed discovery to refine its identification. TRANSITION: The holding.</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The Ninth Circuit reversed. The court held that InteliClear had raised a triable issue of fact as to whether it described its trade secrets with sufficient particularity. The court emphasized two key points. SAY: 'The Ninth Circuit said: look, InteliClear identified specific database components, explained how the combination was unique in the industry, and showed that the combination produced an effect not found elsewhere on Wall Street. That's enough to survive summary judgment — especially before any discovery has occurred.' CONTEXT: The court also held that the district court abused its discretion by denying discovery under Rule 56(d). The case reinforces that specificity is an iterative process that develops through discovery. TRANSITION: The practical lesson.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This is the 'describe without disclosing' paradox at the heart of trade secret identification. The inventory must be specific enough for a third party (a judge, opposing counsel) to understand what is claimed as secret, but it should not be so detailed that reading the inventory discloses the secret. SAY: 'Think of it as describing the box without opening it. You say: inside this box is our proprietary fermentation protocol, including temperature curves, timing sequences, and starter culture ratios. You don't say: the temperature starts at 72°F for 48 hours, then rises to...' TRANSITION: What does 'reasonable particularity' look like in practice?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Ninth Circuit used the phrase 'in combination, unique in the industry.' That is what made InteliClear's identification sufficient. Each database component standing alone might be known. But the specific combination — how the tables related to each other, how the data flowed — that was the trade secret. CONTEXT: This directly echoes the combination secrets doctrine from Chapter 1 (Metallurgical Industries v. Fourtek). Combination secrets require combination-level identification. TRANSITION: Contrast with cases where specificity failed.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what a good inventory entry looks like for Pico Salsa. It names the trade secret specifically — Ferment-X. It describes the components — temperature protocols, timing parameters, starter culture specifications. It doesn't disclose the actual values. This is the level of specificity that InteliClear teaches us courts expect.' CONTEXT: Students should use this as a model for their Stage 2 deliverable. Each entry in the inventory table should reach this level of specificity. TRANSITION: Brief reference to Convolve, then Learning Curve deep dive.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Convolve, Inc. v. Compaq Computer Corp. (2013). FACTS: The plaintiff repeatedly failed to identify its trade secrets with adequate specificity despite multiple court orders and opportunities to supplement. After years of discovery, the court held that the identifications were still insufficient. SIGNIFICANCE: Shows that the specificity requirement has teeth — plaintiffs who cannot articulate what they're protecting will lose. SAY: 'InteliClear got a second chance because it was early in the case. Convolve did not — because the court had given them chance after chance and they still couldn't be specific. The lesson: get your identification right from the start.' TRANSITION: Now let's look at a case about creative concepts and marketing information as trade secrets.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Learning Curve Toys, Inc. v. PlayWood Toys, Inc., 342 F.3d 714 (7th Cir. 2003). This is the deep dive for Chapter 2. WHEN TO USE: In the Chapter 2 context, Learning Curve illustrates whether creative concepts and product designs — not just technical processes or customer lists — can constitute trade secrets. It also provides rich material on reasonable efforts in a small-company context. RECOMMENDED TIME: 25-30 minutes. SAY: 'This is a wonderful case about a simple idea — cutting grooves into toy railroad track to make it go clickety-clack. The question: can something that simple be a trade secret?' TRANSITION: The facts.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PlayWood Toys was a tiny company — just two people. Robert Clausi was the sole toy designer, and Scott Moore was the sole officer and director. Neither had prior experience in the toy industry. They manufactured prototypes through Mario Borsato, a woodworker who was bound by a written confidentiality agreement. SAY: 'This is a company even smaller than Pico Salsa. Two guys with a dream and a workshop. Keep that in mind when we get to the reasonable efforts analysis — the court's expectations for a two-person company are different from those for DuPont.' TRANSITION: The encounter with Learning Curve.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CONTINUED: At the 1993 New York Toy Fair, Learning Curve representatives — Roy Wilson (designer), Harry Abraham (VP), and John Lee (president) — visited PlayWood's booth and were impressed with the quality of their wooden toy prototypes. They proposed a manufacturing partnership where PlayWood would produce Learning Curve's Thomas the Tank Engine products. SAY: 'Learning Curve had the Thomas the Tank Engine license — a very valuable brand. They needed a manufacturer who could make high-quality wooden toys. PlayWood seemed like a good fit.' TRANSITION: The confidential meeting.</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CONTINUED: Four days after the Toy Fair, Abraham and Wilson visited PlayWood in Toronto. Before substantive discussion began, Abraham said: 'We're going to disclose confidential information to you guys... and we're going to do it under the basis of a confidential understanding.' Clausi responded: 'I also have some things, some ideas... and I think they're confidential as well. So if we're both okay with that, we should continue.' SAY: 'Notice: this is an oral confidentiality agreement. No written NDA. No signatures. Just a handshake understanding. Is that enough? The court says yes — but we'll get to that.' CONTEXT: This oral agreement is critical because PlayWood had no written confidentiality agreement with Learning Curve. The entire reasonable efforts analysis hinges on it. TRANSITION: The invention.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CONTINUED: During the meeting, Abraham told Clausi that track sales were terrible because Learning Curve's track was identical to competitor Brio's. Clausi immediately suggested making the track more realistic by cutting grooves into it — grooves that would look like real railroad ties and make a clickety-clack sound when a train rolled over them. He drew lines on a piece of track, asked Borsato to cut grooves, and within minutes had a working prototype. SAY: 'The whole thing took less than 30 minutes and cost less than a dollar. Clausi literally drew some lines on a piece of wood and said: cut here. And that simple idea became Learning Curve's bestselling product.' TRANSITION: What happened next.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CONTINUED: Abraham and Wilson were intrigued by the concept. But Abraham cut off further development discussion, saying 'focus — you guys have to get the contract for the basic product first.' Before leaving, Wilson asked if he could take the cut track prototype. Clausi gave it to him — without getting a receipt or a written confidentiality agreement. SAY: 'Clausi handed over his only prototype to the people who had the most to gain from stealing it. No receipt. No written agreement. And then Learning Curve never called PlayWood again. A year later, Learning Curve launched Clickety-Clack Track — their most successful product ever.' TRANSITION: The legal issues.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Learning Curve argued that PlayWood's concept was too simple, too obvious, and too inexpensive to be a trade secret. The district court agreed and overturned the jury verdict. The Seventh Circuit reversed. SAY: 'The district court said: it cost less than a dollar and took less than 30 minutes. That can't be a trade secret. The Seventh Circuit said: wrong — simplicity doesn't disqualify a trade secret. Let's see why.' TRANSITION: The holding.</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The Seventh Circuit reversed the district court and reinstated the jury verdict of $737,058 in royalties. The court applied the Illinois Trade Secrets Act factors and found that PlayWood's concept met each requirement. SAY: 'The jury awarded over $700,000 in royalties. The district court threw out the verdict. The Seventh Circuit put it back. And the court's analysis teaches us several important lessons about what counts as a trade secret.' TRANSITION: Key lessons.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LESSON 1. SAY: 'The district court was fixated on the fact that PlayWood spent less than a dollar. But the Seventh Circuit said: cost of development is one piece of evidence, but it's not the whole picture. Creative concepts — intuitive flashes of insight — can have enormous value regardless of how cheaply they were developed. Learning Curve's sales skyrocketed after launching Clickety-Clack Track. That's value.' CONTEXT: The court distinguished between compilation cases (where developmental cost matters more) and creative concept cases (where the insight itself is the value). Quote: 'Toy designers, like many artistic individuals, have intuitive flashes of creativity.' TRANSITION: Lesson 2.</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LESSON 2. SAY: 'PlayWood's only protection was the oral agreement made at the start of the February 18 meeting. No written NDA. No signatures. The court said: for a small, unsophisticated company in its first business negotiation, reliance on the oral agreement was reasonable. The standard is reasonable under the circumstances — and the circumstances include the size and sophistication of the parties.' CONTEXT: This is critical for Pico Salsa. Pico Salsa is also small and informal. The court's message: small companies get some leeway, but only if they can show they did something. An oral agreement is the floor — not the ceiling. SAY: 'But don't take this as license to skip written NDAs. PlayWood won, but just barely. A written NDA would have made this case easy instead of close.' TRANSITION: Lesson 3.</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LESSON 3. SAY: 'Learning Curve expands our understanding of what counts as a trade secret beyond the obvious categories. It's not just formulas and customer lists. Creative concepts — how to make a product look different, sound different, feel different — are protectable too.' CONTEXT: Connection to the TSPP — this helps students think about whether Pico Salsa's marketing strategies, product positioning, and branding ideas qualify as trade secrets. The Ferment-X brand itself may not be protectable as a trade secret (that's trademark territory), but the creative decisions behind the product — why certain flavors were chosen, how they're positioned against competitors — might be. TRANSITION: Application to Pico Salsa.</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'Think about this for your inventory. Does Pico Salsa have marketing strategies, product positioning concepts, or creative ideas that give it a competitive edge? What about the decision to focus on fermented salsa rather than conventional salsa — is that a protectable insight?' CONTEXT: Students who take this lesson seriously will identify marketing and positioning strategies as potential inventory entries, expanding beyond the obvious technical secrets. This makes for stronger TSPP deliverables. TRANSITION: Retrieval practice, then Burten reference.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5 seconds. ANSWER: Yes. Learning Curve establishes that developmental cost is one factor but not dispositive. Creative concepts can have enormous value regardless of cost. The key is whether the concept was secret and provided economic value from its secrecy. FOLLOW-UP: 'What was PlayWood's biggest mistake?' Expected: Handing over the only prototype without a written NDA.</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Brief reference to Burten, then the inventory refinement exercise.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Burten v. Milton Bradley Co., 763 F.2d 461 (1st Cir. 1985). BRIEF REFERENCE: Independent toy inventors submitted an electronic board game called 'Triumph' to Milton Bradley under a standard disclosure form. Milton Bradley rejected the game, then released a strikingly similar product called 'Dark Tower.' The jury awarded $737,058 in royalties. The key issue was whether Milton Bradley's standard disclosure form effectively waived confidentiality. HOLDING: The First Circuit held that the disclosure form was ambiguous — it did not contain an explicit waiver of confidential relationship. The jury was entitled to find that a confidential relationship existed. SIGNIFICANCE FOR CHAPTER 2: Reinforces that classification of information as confidential — even through informal or implied agreements — has legal consequences. Companies that receive ideas under even ambiguous confidentiality obligations may be liable for misappropriation. SAY: 'The lesson for Pico Salsa: when you share information with business partners, even informal understandings about confidentiality matter. But explicit is always better than implicit.' TRANSITION: Inventory refinement exercise.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created a preliminary inventory last session. Now let's refine it. Each entry needs five components: name and description, category, three-element analysis, priority level, and access/exposure notes.' TRANSITION: Walk through the deliverable format.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This is the format for the Stage 2 deliverable — the Trade Secret Inventory Table. Each entry should include all five components. The table should contain 5-8 entries and fit on one page. SAY: 'For each entry, I want to see specific, fact-based reasoning — not boilerplate. Don't tell me 'information has economic value' — tell me WHY it has economic value for Pico Salsa specifically.' CONTEXT: Distribute the column headers if students don't already have them: Name/Description, Category, Three-Element Analysis, Priority Level, Access/Exposure Notes. TRANSITION: Work through a model entry together.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Let's walk through a model entry together.
NAME: 'The Ferment-X fermentation process, including temperature protocols (specific heating and cooling curves), timing parameters (duration of each fermentation stage), and starter culture specifications (proprietary blend ratios and maintenance procedures).'
CATEGORY: Technical.
THREE-ELEMENT ANALYSIS: (1) Information: Specific, concrete process parameters that could be used by a competitor to replicate the product. Goes beyond general fermentation knowledge. (2) Economic Value: Supports $850,000 in annual revenue. Core product differentiator. Would take a competitor years to reverse-engineer from the final product. (3) Reasonable Efforts: MIXED — NDA with one employee (Rachel), but no NDA with Evan or Luis. Stored partly in Miguel's personal notebooks and Dropbox. Public presentation at Southwest Startup Showcase raises questions about 'generally known' status.
PRIORITY: High — core competitive advantage, irreplaceable without years of R&amp;D.
ACCESS/EXPOSURE: Miguel (full knowledge), Evan (significant knowledge of parameters), Luis (partial knowledge), Rachel (general awareness). No NDAs for Evan or Luis. Personal Dropbox storage. Public presentation vulnerability.
SAY: 'This is the level of detail I expect. Notice how the three-element analysis identifies both strengths and vulnerabilities. The inventory is honest — it doesn't pretend everything is perfect.'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Students return to their preliminary inventories and refine them using the five-component format. 15 minutes of work time. Circulate among groups or individuals. COMMON ISSUES TO WATCH FOR: (1) Students who list everything as High priority — push them to differentiate. (2) Students who overlook the starter culture as separate from Ferment-X. (3) Students who fail to note the Southwest Startup Showcase public disclosure. (4) Students who provide boilerplate three-element analysis rather than fact-specific reasoning. SAY: 'I'm walking around. Flag me if you're stuck. Remember: the inventory should be honest about vulnerabilities — that's what makes it useful for the TSPP.' TRANSITION: After work time, common pitfalls.</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Students frequently jump ahead to recommendations ('Pico Salsa should get NDAs') when the Stage 2 assignment asks only for identification and classification. Protection recommendations belong in Stages 4 and 5. SAY: 'At this stage, you're the diagnostician, not the surgeon. You're identifying the assets and assessing their condition. The prescription comes later. Your inventory entry should note that there's no NDA — but it shouldn't recommend drafting one. That's Stage 4's job.' TRANSITION: Other common pitfalls.</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'Most students identify the Ferment-X process and the customer list and stop there. Strong inventories also capture the supplier relationships (Red Mesa Farms pricing and terms), the R&amp;D notes on failed experiments (negative know-how), Evan's process modifications (which may belong to the company under work-for-hire principles), and the specific recipe variations developed for different customer segments.' CONTEXT: The grading rubric rewards completeness — did the student identify enough trade secrets? Five entries is the minimum; seven or eight is better. TRANSITION: Deliverable guidance.</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deliverable is a one-page Trade Secret Inventory Table with five to eight entries. The grading rubric evaluates four things: completeness (did you identify enough trade secrets?), quality (is the analysis accurate and fact-specific?), format (does it fit on one page and read professionally?), and timeliness (is it on time?).' CONTEXT: This is Attachment A of the final TSPP. Students should understand that this deliverable will be revised and polished in Chapter 7 when they assemble the complete plan. The version submitted now is a working draft. TRANSITION: Grading emphasis.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difference between A and B work in Stage 2 comes down to specificity and honesty. A-level inventories use Pico Salsa specific facts in the three-element analysis. B-level inventories use boilerplate language that could apply to any company. CONTEXT: Give a concrete example. A-level entry says: Economic value is supported by $850,000 annual revenue directly attributable to the Ferment-X product line. B-level entry says: The information has economic value because it provides a competitive advantage. The first is specific; the second is generic. TRANSITION: Preview Chapter 3.</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'You've completed the identification and classification work. You know what Pico Salsa's trade secrets are, what category they fall in, and how they're prioritized. The next question is fundamentally different: not what do we have, but how could we lose it?' CONTEXT: Chapter 3 introduces risk assessment, which requires a different analytical lens. Students shift from cataloging assets to mapping threats. TRANSITION: Bridge to Chapter 3.</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Chapter 3 and Pico Salsa Fact File Part III before next class. Part III covers internal vulnerabilities — and there are a lot of them.' CONTEXT: Assign the reading. Remind students that Stage 2 is due before or by Class 5. TRANSITION: Mastery checklist.</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 can do all six of these things, you've mastered Chapter 2. The Stage 2 deliverable tests all of them.' CONTEXT: Students can use this as a self-assessment checklist before submitting their deliverable. TRANSITION: TSPP module.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'Stage 2 is the foundation of your TSPP. If the inventory is wrong, everything else is built on sand. Get this right.' TRANSITION: Stage 2 overview.</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'Your Stage 2 deliverable is the Trade Secret Inventory Table. It becomes Attachment A of your final TSPP. You'll revise it in Chapter 7, but what you submit now should be professional quality.' CONTEXT: Remind students of the column headers: Name/Description, Category, Three-Element Analysis, Priority Level, Access/Exposure Notes. TRANSITION: Key reminders.</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three-element test from Chapter 1 is your analytical engine. Every inventory entry must address all three elements with Pico Salsa-specific facts. Generic analysis will not receive full credit.' CONTEXT: Reference Handout 01 (Three-Element Test Checklist) — students should use it as they work through each entry. TRANSITION: Specificity reminder.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'InteliClear teaches us the standard. Your inventory entries should be specific enough that a third party can understand what you're claiming as a trade secret, without disclosing the secret itself. Follow the model entry we built together in class.' TRANSITION: Honest assessment.</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Pico Salsa has no NDA with Evan, say so in the access/exposure notes. If the Southwest Startup Showcase presentation raises questions about Element 2, flag it. The inventory is a diagnostic tool — it has to be honest to be useful. Chapters 4 and 5 will address the fixes.' CONTEXT: Students sometimes worry that flagging vulnerabilities will make their work look bad. Reassure them: identifying weaknesses is a strength, not a weakness, in professional legal work. TRANSITION: End of TSPP module.</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a:t>
            </a:r>
            <a:endParaRPr lang="en-US" sz="1000" dirty="0"/>
          </a:p>
        </p:txBody>
      </p:sp>
      <p:sp>
        <p:nvSpPr>
          <p:cNvPr id="3" name="Text 1"/>
          <p:cNvSpPr/>
          <p:nvPr/>
        </p:nvSpPr>
        <p:spPr>
          <a:xfrm>
            <a:off x="731520" y="1097280"/>
            <a:ext cx="7680960" cy="731520"/>
          </a:xfrm>
          <a:prstGeom prst="rect">
            <a:avLst/>
          </a:prstGeom>
          <a:noFill/>
          <a:ln/>
        </p:spPr>
        <p:txBody>
          <a:bodyPr wrap="square" rtlCol="0" anchor="ctr"/>
          <a:lstStyle/>
          <a:p>
            <a:pPr marL="0" indent="0" algn="ctr">
              <a:buNone/>
            </a:pPr>
            <a:r>
              <a:rPr lang="en-US" sz="2800" b="1" dirty="0">
                <a:solidFill>
                  <a:srgbClr val="FFD65C"/>
                </a:solidFill>
                <a:latin typeface="Arial" pitchFamily="34" charset="0"/>
                <a:ea typeface="Arial" pitchFamily="34" charset="-122"/>
                <a:cs typeface="Arial" pitchFamily="34" charset="-120"/>
              </a:rPr>
              <a:t>CHAPTER 2</a:t>
            </a:r>
            <a:endParaRPr lang="en-US" sz="2800" dirty="0"/>
          </a:p>
        </p:txBody>
      </p:sp>
      <p:sp>
        <p:nvSpPr>
          <p:cNvPr id="4" name="Text 2"/>
          <p:cNvSpPr/>
          <p:nvPr/>
        </p:nvSpPr>
        <p:spPr>
          <a:xfrm>
            <a:off x="731520" y="1828800"/>
            <a:ext cx="7680960" cy="128016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Identifying and Classifying</a:t>
            </a:r>
            <a:endParaRPr lang="en-US" sz="4400" dirty="0"/>
          </a:p>
          <a:p>
            <a:pPr marL="0" indent="0" algn="ctr">
              <a:buNone/>
            </a:pPr>
            <a:r>
              <a:rPr lang="en-US" sz="4400" b="1" dirty="0">
                <a:solidFill>
                  <a:srgbClr val="FFFFFF"/>
                </a:solidFill>
                <a:latin typeface="Arial" pitchFamily="34" charset="0"/>
                <a:ea typeface="Arial" pitchFamily="34" charset="-122"/>
                <a:cs typeface="Arial" pitchFamily="34" charset="-120"/>
              </a:rPr>
              <a:t>Trade Secrets</a:t>
            </a:r>
            <a:endParaRPr lang="en-US" sz="4400" dirty="0"/>
          </a:p>
        </p:txBody>
      </p:sp>
      <p:sp>
        <p:nvSpPr>
          <p:cNvPr id="5" name="Text 3"/>
          <p:cNvSpPr/>
          <p:nvPr/>
        </p:nvSpPr>
        <p:spPr>
          <a:xfrm>
            <a:off x="731520" y="3200400"/>
            <a:ext cx="7680960" cy="548640"/>
          </a:xfrm>
          <a:prstGeom prst="rect">
            <a:avLst/>
          </a:prstGeom>
          <a:noFill/>
          <a:ln/>
        </p:spPr>
        <p:txBody>
          <a:bodyPr wrap="square" rtlCol="0" anchor="ctr"/>
          <a:lstStyle/>
          <a:p>
            <a:pPr marL="0" indent="0" algn="ctr">
              <a:buNone/>
            </a:pPr>
            <a:r>
              <a:rPr lang="en-US" sz="2000" dirty="0">
                <a:solidFill>
                  <a:srgbClr val="FFFFFF"/>
                </a:solidFill>
                <a:latin typeface="Arial" pitchFamily="34" charset="0"/>
                <a:ea typeface="Arial" pitchFamily="34" charset="-122"/>
                <a:cs typeface="Arial" pitchFamily="34" charset="-120"/>
              </a:rPr>
              <a:t>From Abstract Rights to Concrete Inventory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3255"/>
        </a:solidFill>
        <a:effectLst/>
      </p:bgPr>
    </p:bg>
    <p:spTree>
      <p:nvGrpSpPr>
        <p:cNvPr id="1" name=""/>
        <p:cNvGrpSpPr/>
        <p:nvPr/>
      </p:nvGrpSpPr>
      <p:grpSpPr>
        <a:xfrm>
          <a:off x="0" y="0"/>
          <a:ext cx="0" cy="0"/>
          <a:chOff x="0" y="0"/>
          <a:chExt cx="0" cy="0"/>
        </a:xfrm>
      </p:grpSpPr>
      <p:sp>
        <p:nvSpPr>
          <p:cNvPr id="3" name="Text 1"/>
          <p:cNvSpPr/>
          <p:nvPr/>
        </p:nvSpPr>
        <p:spPr>
          <a:xfrm>
            <a:off x="2735394" y="178420"/>
            <a:ext cx="3673212" cy="640080"/>
          </a:xfrm>
          <a:prstGeom prst="rect">
            <a:avLst/>
          </a:prstGeom>
          <a:noFill/>
          <a:ln/>
        </p:spPr>
        <p:txBody>
          <a:bodyPr wrap="square" rtlCol="0" anchor="ctr"/>
          <a:lstStyle/>
          <a:p>
            <a:pPr marL="0" indent="0" algn="l">
              <a:buNone/>
            </a:pPr>
            <a:r>
              <a:rPr lang="en-US" sz="4400" b="1" dirty="0">
                <a:solidFill>
                  <a:srgbClr val="FFD65C"/>
                </a:solidFill>
                <a:latin typeface="Arial" pitchFamily="34" charset="0"/>
                <a:ea typeface="Arial" pitchFamily="34" charset="-122"/>
                <a:cs typeface="Arial" pitchFamily="34" charset="-120"/>
              </a:rPr>
              <a:t>Quick Check</a:t>
            </a:r>
            <a:endParaRPr lang="en-US" sz="4400" dirty="0"/>
          </a:p>
        </p:txBody>
      </p:sp>
      <p:sp>
        <p:nvSpPr>
          <p:cNvPr id="4" name="Text 2"/>
          <p:cNvSpPr/>
          <p:nvPr/>
        </p:nvSpPr>
        <p:spPr>
          <a:xfrm>
            <a:off x="731520" y="1280160"/>
            <a:ext cx="6806704" cy="1527717"/>
          </a:xfrm>
          <a:prstGeom prst="rect">
            <a:avLst/>
          </a:prstGeom>
          <a:noFill/>
          <a:ln/>
        </p:spPr>
        <p:txBody>
          <a:bodyPr wrap="square" rtlCol="0" anchor="t"/>
          <a:lstStyle/>
          <a:p>
            <a:pPr marL="0" indent="0" algn="l">
              <a:lnSpc>
                <a:spcPct val="120000"/>
              </a:lnSpc>
              <a:buNone/>
            </a:pPr>
            <a:r>
              <a:rPr lang="en-US" sz="3800" b="1" dirty="0">
                <a:solidFill>
                  <a:srgbClr val="FFFFFF"/>
                </a:solidFill>
                <a:latin typeface="Arial" pitchFamily="34" charset="0"/>
                <a:ea typeface="Arial" pitchFamily="34" charset="-122"/>
                <a:cs typeface="Arial" pitchFamily="34" charset="-120"/>
              </a:rPr>
              <a:t>What are the three elements</a:t>
            </a:r>
            <a:endParaRPr lang="en-US" sz="3800" dirty="0"/>
          </a:p>
          <a:p>
            <a:pPr marL="0" indent="0" algn="l">
              <a:lnSpc>
                <a:spcPct val="120000"/>
              </a:lnSpc>
              <a:buNone/>
            </a:pPr>
            <a:r>
              <a:rPr lang="en-US" sz="3800" b="1" dirty="0">
                <a:solidFill>
                  <a:srgbClr val="FFFFFF"/>
                </a:solidFill>
                <a:latin typeface="Arial" pitchFamily="34" charset="0"/>
                <a:ea typeface="Arial" pitchFamily="34" charset="-122"/>
                <a:cs typeface="Arial" pitchFamily="34" charset="-120"/>
              </a:rPr>
              <a:t>of a trade secret?</a:t>
            </a:r>
            <a:endParaRPr lang="en-US" sz="3800" dirty="0"/>
          </a:p>
        </p:txBody>
      </p:sp>
      <p:sp>
        <p:nvSpPr>
          <p:cNvPr id="5" name="Rectangle 4">
            <a:extLst>
              <a:ext uri="{FF2B5EF4-FFF2-40B4-BE49-F238E27FC236}">
                <a16:creationId xmlns:a16="http://schemas.microsoft.com/office/drawing/2014/main" id="{3A768E2D-D042-150B-23AB-81B1899D9316}"/>
              </a:ext>
            </a:extLst>
          </p:cNvPr>
          <p:cNvSpPr/>
          <p:nvPr/>
        </p:nvSpPr>
        <p:spPr>
          <a:xfrm>
            <a:off x="8678848" y="0"/>
            <a:ext cx="465152" cy="5143500"/>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3255"/>
        </a:solidFill>
        <a:effectLst/>
      </p:bgPr>
    </p:bg>
    <p:spTree>
      <p:nvGrpSpPr>
        <p:cNvPr id="1" name=""/>
        <p:cNvGrpSpPr/>
        <p:nvPr/>
      </p:nvGrpSpPr>
      <p:grpSpPr>
        <a:xfrm>
          <a:off x="0" y="0"/>
          <a:ext cx="0" cy="0"/>
          <a:chOff x="0" y="0"/>
          <a:chExt cx="0" cy="0"/>
        </a:xfrm>
      </p:grpSpPr>
      <p:sp>
        <p:nvSpPr>
          <p:cNvPr id="3" name="Text 1"/>
          <p:cNvSpPr/>
          <p:nvPr/>
        </p:nvSpPr>
        <p:spPr>
          <a:xfrm>
            <a:off x="731520" y="1280160"/>
            <a:ext cx="7680960" cy="2926080"/>
          </a:xfrm>
          <a:prstGeom prst="rect">
            <a:avLst/>
          </a:prstGeom>
          <a:noFill/>
          <a:ln/>
        </p:spPr>
        <p:txBody>
          <a:bodyPr wrap="square" rtlCol="0" anchor="t"/>
          <a:lstStyle/>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1. Information</a:t>
            </a:r>
            <a:endParaRPr lang="en-US" sz="3600" dirty="0"/>
          </a:p>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2. Economic Value from Secrecy</a:t>
            </a:r>
            <a:endParaRPr lang="en-US" sz="3600" dirty="0"/>
          </a:p>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3. Reasonable Efforts to Maintain Secrecy</a:t>
            </a:r>
            <a:endParaRPr lang="en-US" sz="3600" dirty="0"/>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a:t>
            </a:r>
            <a:endParaRPr lang="en-US" sz="1000" dirty="0"/>
          </a:p>
        </p:txBody>
      </p:sp>
      <p:sp>
        <p:nvSpPr>
          <p:cNvPr id="3" name="Text 1"/>
          <p:cNvSpPr/>
          <p:nvPr/>
        </p:nvSpPr>
        <p:spPr>
          <a:xfrm>
            <a:off x="731520" y="182880"/>
            <a:ext cx="7680960" cy="960120"/>
          </a:xfrm>
          <a:prstGeom prst="rect">
            <a:avLst/>
          </a:prstGeom>
          <a:noFill/>
          <a:ln/>
        </p:spPr>
        <p:txBody>
          <a:bodyPr wrap="square" rtlCol="0" anchor="t"/>
          <a:lstStyle/>
          <a:p>
            <a:pPr marL="0" indent="0" algn="l">
              <a:lnSpc>
                <a:spcPct val="120000"/>
              </a:lnSpc>
              <a:buNone/>
            </a:pPr>
            <a:r>
              <a:rPr lang="en-US" sz="4400" b="1" dirty="0">
                <a:solidFill>
                  <a:srgbClr val="FFFFFF"/>
                </a:solidFill>
                <a:latin typeface="Arial" pitchFamily="34" charset="0"/>
                <a:ea typeface="Arial" pitchFamily="34" charset="-122"/>
                <a:cs typeface="Arial" pitchFamily="34" charset="-120"/>
              </a:rPr>
              <a:t>Chapter 1 → What Qualifies</a:t>
            </a:r>
            <a:endParaRPr lang="en-US" sz="4400" dirty="0"/>
          </a:p>
        </p:txBody>
      </p:sp>
      <p:sp>
        <p:nvSpPr>
          <p:cNvPr id="4" name="Text 2"/>
          <p:cNvSpPr/>
          <p:nvPr/>
        </p:nvSpPr>
        <p:spPr>
          <a:xfrm>
            <a:off x="731520" y="128016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Chapter 2 → How to Find and Organize It</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a:t>
            </a:r>
            <a:endParaRPr lang="en-US" sz="1000" dirty="0"/>
          </a:p>
        </p:txBody>
      </p:sp>
      <p:sp>
        <p:nvSpPr>
          <p:cNvPr id="3" name="Text 1"/>
          <p:cNvSpPr/>
          <p:nvPr/>
        </p:nvSpPr>
        <p:spPr>
          <a:xfrm>
            <a:off x="1787540" y="182880"/>
            <a:ext cx="5568919"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If You Can't </a:t>
            </a:r>
            <a:r>
              <a:rPr lang="en-US" sz="4400" b="1" dirty="0">
                <a:solidFill>
                  <a:srgbClr val="FFD65C"/>
                </a:solidFill>
                <a:latin typeface="Arial" pitchFamily="34" charset="0"/>
                <a:ea typeface="Arial" pitchFamily="34" charset="-122"/>
                <a:cs typeface="Arial" pitchFamily="34" charset="-120"/>
              </a:rPr>
              <a:t>Name</a:t>
            </a:r>
            <a:r>
              <a:rPr lang="en-US" sz="4400" b="1" dirty="0">
                <a:solidFill>
                  <a:srgbClr val="FFFFFF"/>
                </a:solidFill>
                <a:latin typeface="Arial" pitchFamily="34" charset="0"/>
                <a:ea typeface="Arial" pitchFamily="34" charset="-122"/>
                <a:cs typeface="Arial" pitchFamily="34" charset="-120"/>
              </a:rPr>
              <a:t> It,</a:t>
            </a:r>
            <a:endParaRPr lang="en-US" sz="4400" dirty="0"/>
          </a:p>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You Can't Protect It</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Courts require specific identification</a:t>
            </a:r>
            <a:r>
              <a:rPr lang="en-US" sz="3000" dirty="0"/>
              <a:t> </a:t>
            </a:r>
            <a:r>
              <a:rPr lang="en-US" sz="3000" dirty="0">
                <a:solidFill>
                  <a:srgbClr val="FFFFFF"/>
                </a:solidFill>
                <a:latin typeface="Arial" pitchFamily="34" charset="0"/>
                <a:ea typeface="Arial" pitchFamily="34" charset="-122"/>
                <a:cs typeface="Arial" pitchFamily="34" charset="-120"/>
              </a:rPr>
              <a:t>of alleged trade secrets</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a:t>
            </a:r>
            <a:endParaRPr lang="en-US" sz="1000" dirty="0"/>
          </a:p>
        </p:txBody>
      </p:sp>
      <p:sp>
        <p:nvSpPr>
          <p:cNvPr id="3" name="Shape 1"/>
          <p:cNvSpPr/>
          <p:nvPr/>
        </p:nvSpPr>
        <p:spPr>
          <a:xfrm>
            <a:off x="1371600" y="1839952"/>
            <a:ext cx="6400800" cy="0"/>
          </a:xfrm>
          <a:prstGeom prst="line">
            <a:avLst/>
          </a:prstGeom>
          <a:noFill/>
          <a:ln w="25400">
            <a:solidFill>
              <a:srgbClr val="FFFFFF"/>
            </a:solidFill>
            <a:prstDash val="solid"/>
          </a:ln>
        </p:spPr>
        <p:txBody>
          <a:bodyPr/>
          <a:lstStyle/>
          <a:p>
            <a:endParaRPr lang="en-US"/>
          </a:p>
        </p:txBody>
      </p:sp>
      <p:sp>
        <p:nvSpPr>
          <p:cNvPr id="4" name="Text 2"/>
          <p:cNvSpPr/>
          <p:nvPr/>
        </p:nvSpPr>
        <p:spPr>
          <a:xfrm>
            <a:off x="731520" y="2011680"/>
            <a:ext cx="7680960" cy="109728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THE TRADE SECRET INVENTORY</a:t>
            </a:r>
            <a:endParaRPr lang="en-US" sz="4400" dirty="0"/>
          </a:p>
        </p:txBody>
      </p:sp>
      <p:sp>
        <p:nvSpPr>
          <p:cNvPr id="5" name="Shape 3"/>
          <p:cNvSpPr/>
          <p:nvPr/>
        </p:nvSpPr>
        <p:spPr>
          <a:xfrm>
            <a:off x="1371600" y="3256156"/>
            <a:ext cx="6400800" cy="0"/>
          </a:xfrm>
          <a:prstGeom prst="line">
            <a:avLst/>
          </a:prstGeom>
          <a:noFill/>
          <a:ln w="25400">
            <a:solidFill>
              <a:srgbClr val="FFFFFF"/>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Function 1: Evidence for Litigation</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A pre-dispute inventory proves</a:t>
            </a:r>
            <a:r>
              <a:rPr lang="en-US" sz="3000" dirty="0"/>
              <a:t> </a:t>
            </a:r>
            <a:r>
              <a:rPr lang="en-US" sz="3000" dirty="0">
                <a:solidFill>
                  <a:srgbClr val="FFFFFF"/>
                </a:solidFill>
                <a:latin typeface="Arial" pitchFamily="34" charset="0"/>
                <a:ea typeface="Arial" pitchFamily="34" charset="-122"/>
                <a:cs typeface="Arial" pitchFamily="34" charset="-120"/>
              </a:rPr>
              <a:t>you identified and treated it as secret</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8</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Function 2: Resource Allocation</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Not every secret warrants</a:t>
            </a:r>
            <a:r>
              <a:rPr lang="en-US" sz="3000" dirty="0"/>
              <a:t> </a:t>
            </a:r>
            <a:r>
              <a:rPr lang="en-US" sz="3000" dirty="0">
                <a:solidFill>
                  <a:srgbClr val="FFFFFF"/>
                </a:solidFill>
                <a:latin typeface="Arial" pitchFamily="34" charset="0"/>
                <a:ea typeface="Arial" pitchFamily="34" charset="-122"/>
                <a:cs typeface="Arial" pitchFamily="34" charset="-120"/>
              </a:rPr>
              <a:t>the same level of protection</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9</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Function 3: Institutional Knowledge</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If key people leave,</a:t>
            </a:r>
            <a:r>
              <a:rPr lang="en-US" sz="3000" dirty="0"/>
              <a:t> </a:t>
            </a:r>
            <a:r>
              <a:rPr lang="en-US" sz="3000" dirty="0">
                <a:solidFill>
                  <a:srgbClr val="FFFFFF"/>
                </a:solidFill>
                <a:latin typeface="Arial" pitchFamily="34" charset="0"/>
                <a:ea typeface="Arial" pitchFamily="34" charset="-122"/>
                <a:cs typeface="Arial" pitchFamily="34" charset="-120"/>
              </a:rPr>
              <a:t>the inventory ensures continuity</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3255"/>
        </a:solidFill>
        <a:effectLst/>
      </p:bgPr>
    </p:bg>
    <p:spTree>
      <p:nvGrpSpPr>
        <p:cNvPr id="1" name=""/>
        <p:cNvGrpSpPr/>
        <p:nvPr/>
      </p:nvGrpSpPr>
      <p:grpSpPr>
        <a:xfrm>
          <a:off x="0" y="0"/>
          <a:ext cx="0" cy="0"/>
          <a:chOff x="0" y="0"/>
          <a:chExt cx="0" cy="0"/>
        </a:xfrm>
      </p:grpSpPr>
      <p:sp>
        <p:nvSpPr>
          <p:cNvPr id="5" name="Text 3"/>
          <p:cNvSpPr/>
          <p:nvPr/>
        </p:nvSpPr>
        <p:spPr>
          <a:xfrm>
            <a:off x="3773572" y="182880"/>
            <a:ext cx="1596855" cy="548640"/>
          </a:xfrm>
          <a:prstGeom prst="rect">
            <a:avLst/>
          </a:prstGeom>
          <a:noFill/>
          <a:ln/>
        </p:spPr>
        <p:txBody>
          <a:bodyPr wrap="square" rtlCol="0" anchor="ctr"/>
          <a:lstStyle/>
          <a:p>
            <a:pPr marL="0" indent="0" algn="l">
              <a:buNone/>
            </a:pPr>
            <a:r>
              <a:rPr lang="en-US" sz="2200" b="1" dirty="0">
                <a:solidFill>
                  <a:srgbClr val="E82F35"/>
                </a:solidFill>
                <a:latin typeface="Arial" pitchFamily="34" charset="0"/>
                <a:ea typeface="Arial" pitchFamily="34" charset="-122"/>
                <a:cs typeface="Arial" pitchFamily="34" charset="-120"/>
              </a:rPr>
              <a:t>WARNING</a:t>
            </a:r>
            <a:endParaRPr lang="en-US" sz="2200" dirty="0"/>
          </a:p>
        </p:txBody>
      </p:sp>
      <p:sp>
        <p:nvSpPr>
          <p:cNvPr id="6" name="Text 4"/>
          <p:cNvSpPr/>
          <p:nvPr/>
        </p:nvSpPr>
        <p:spPr>
          <a:xfrm>
            <a:off x="1280160" y="628650"/>
            <a:ext cx="6583680" cy="925830"/>
          </a:xfrm>
          <a:prstGeom prst="rect">
            <a:avLst/>
          </a:prstGeom>
          <a:noFill/>
          <a:ln/>
        </p:spPr>
        <p:txBody>
          <a:bodyPr wrap="square"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Three Common Inventory Pitfalls</a:t>
            </a:r>
            <a:endParaRPr lang="en-US" sz="3400" dirty="0"/>
          </a:p>
        </p:txBody>
      </p:sp>
      <p:sp>
        <p:nvSpPr>
          <p:cNvPr id="7" name="Text 5"/>
          <p:cNvSpPr/>
          <p:nvPr/>
        </p:nvSpPr>
        <p:spPr>
          <a:xfrm>
            <a:off x="733750" y="2011680"/>
            <a:ext cx="6583680" cy="1565911"/>
          </a:xfrm>
          <a:prstGeom prst="rect">
            <a:avLst/>
          </a:prstGeom>
          <a:noFill/>
          <a:ln/>
        </p:spPr>
        <p:txBody>
          <a:bodyPr wrap="square" rtlCol="0" anchor="t"/>
          <a:lstStyle/>
          <a:p>
            <a:pPr marL="457200" indent="-457200" algn="l">
              <a:buSzPct val="75000"/>
              <a:buFont typeface="Wingdings" pitchFamily="2" charset="2"/>
              <a:buChar char="Ø"/>
            </a:pPr>
            <a:r>
              <a:rPr lang="en-US" sz="2600" dirty="0">
                <a:solidFill>
                  <a:srgbClr val="FFFFFF"/>
                </a:solidFill>
                <a:latin typeface="Arial" pitchFamily="34" charset="0"/>
                <a:ea typeface="Arial" pitchFamily="34" charset="-122"/>
                <a:cs typeface="Arial" pitchFamily="34" charset="-120"/>
              </a:rPr>
              <a:t>Too vague: 'our technology'</a:t>
            </a:r>
            <a:endParaRPr lang="en-US" sz="2600" dirty="0"/>
          </a:p>
          <a:p>
            <a:pPr marL="457200" indent="-457200" algn="l">
              <a:buSzPct val="75000"/>
              <a:buFont typeface="Wingdings" pitchFamily="2" charset="2"/>
              <a:buChar char="Ø"/>
            </a:pPr>
            <a:r>
              <a:rPr lang="en-US" sz="2600" dirty="0">
                <a:solidFill>
                  <a:srgbClr val="FFFFFF"/>
                </a:solidFill>
                <a:latin typeface="Arial" pitchFamily="34" charset="0"/>
                <a:ea typeface="Arial" pitchFamily="34" charset="-122"/>
                <a:cs typeface="Arial" pitchFamily="34" charset="-120"/>
              </a:rPr>
              <a:t>Too granular: every line of code</a:t>
            </a:r>
            <a:endParaRPr lang="en-US" sz="2600" dirty="0"/>
          </a:p>
          <a:p>
            <a:pPr marL="457200" indent="-457200" algn="l">
              <a:buSzPct val="75000"/>
              <a:buFont typeface="Wingdings" pitchFamily="2" charset="2"/>
              <a:buChar char="Ø"/>
            </a:pPr>
            <a:r>
              <a:rPr lang="en-US" sz="2600" dirty="0">
                <a:solidFill>
                  <a:srgbClr val="FFFFFF"/>
                </a:solidFill>
                <a:latin typeface="Arial" pitchFamily="34" charset="0"/>
                <a:ea typeface="Arial" pitchFamily="34" charset="-122"/>
                <a:cs typeface="Arial" pitchFamily="34" charset="-120"/>
              </a:rPr>
              <a:t>Never updated: filed and forgotten</a:t>
            </a:r>
            <a:endParaRPr lang="en-US" sz="2600" dirty="0"/>
          </a:p>
        </p:txBody>
      </p:sp>
      <p:sp>
        <p:nvSpPr>
          <p:cNvPr id="8" name="Rectangle 7">
            <a:extLst>
              <a:ext uri="{FF2B5EF4-FFF2-40B4-BE49-F238E27FC236}">
                <a16:creationId xmlns:a16="http://schemas.microsoft.com/office/drawing/2014/main" id="{992E6BA9-9AF1-0D39-334E-FDAA257964CA}"/>
              </a:ext>
            </a:extLst>
          </p:cNvPr>
          <p:cNvSpPr/>
          <p:nvPr/>
        </p:nvSpPr>
        <p:spPr>
          <a:xfrm>
            <a:off x="8678848" y="0"/>
            <a:ext cx="465152" cy="514350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11</a:t>
            </a:r>
            <a:endParaRPr lang="en-US" sz="1000" dirty="0"/>
          </a:p>
        </p:txBody>
      </p:sp>
      <p:sp>
        <p:nvSpPr>
          <p:cNvPr id="3" name="Text 1"/>
          <p:cNvSpPr/>
          <p:nvPr/>
        </p:nvSpPr>
        <p:spPr>
          <a:xfrm>
            <a:off x="1213252" y="182880"/>
            <a:ext cx="6717495" cy="818500"/>
          </a:xfrm>
          <a:prstGeom prst="rect">
            <a:avLst/>
          </a:prstGeom>
          <a:noFill/>
          <a:ln/>
        </p:spPr>
        <p:txBody>
          <a:bodyPr wrap="square" rtlCol="0" anchor="t"/>
          <a:lstStyle/>
          <a:p>
            <a:pPr marL="0" indent="0" algn="l">
              <a:lnSpc>
                <a:spcPct val="120000"/>
              </a:lnSpc>
              <a:buNone/>
            </a:pPr>
            <a:r>
              <a:rPr lang="en-US" sz="4400" b="1" dirty="0">
                <a:solidFill>
                  <a:srgbClr val="FFFFFF"/>
                </a:solidFill>
                <a:latin typeface="Arial" pitchFamily="34" charset="0"/>
                <a:ea typeface="Arial" pitchFamily="34" charset="-122"/>
                <a:cs typeface="Arial" pitchFamily="34" charset="-120"/>
              </a:rPr>
              <a:t>The Goldilocks Problem</a:t>
            </a:r>
            <a:endParaRPr lang="en-US" sz="4400" dirty="0"/>
          </a:p>
        </p:txBody>
      </p:sp>
      <p:sp>
        <p:nvSpPr>
          <p:cNvPr id="4" name="Text 2"/>
          <p:cNvSpPr/>
          <p:nvPr/>
        </p:nvSpPr>
        <p:spPr>
          <a:xfrm>
            <a:off x="731520" y="1280160"/>
            <a:ext cx="7680960" cy="1645920"/>
          </a:xfrm>
          <a:prstGeom prst="rect">
            <a:avLst/>
          </a:prstGeom>
          <a:noFill/>
          <a:ln/>
        </p:spPr>
        <p:txBody>
          <a:bodyPr wrap="square" rtlCol="0" anchor="t"/>
          <a:lstStyle/>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Specific enough for courts</a:t>
            </a:r>
            <a:endParaRPr lang="en-US" sz="3000" dirty="0"/>
          </a:p>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Practical enough for business</a:t>
            </a: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12</a:t>
            </a:r>
            <a:endParaRPr lang="en-US" sz="1000" dirty="0"/>
          </a:p>
        </p:txBody>
      </p:sp>
      <p:sp>
        <p:nvSpPr>
          <p:cNvPr id="3" name="Shape 1"/>
          <p:cNvSpPr/>
          <p:nvPr/>
        </p:nvSpPr>
        <p:spPr>
          <a:xfrm>
            <a:off x="1371600" y="2163336"/>
            <a:ext cx="6400800" cy="0"/>
          </a:xfrm>
          <a:prstGeom prst="line">
            <a:avLst/>
          </a:prstGeom>
          <a:noFill/>
          <a:ln w="25400">
            <a:solidFill>
              <a:srgbClr val="FFFFFF"/>
            </a:solidFill>
            <a:prstDash val="solid"/>
          </a:ln>
        </p:spPr>
        <p:txBody>
          <a:bodyPr/>
          <a:lstStyle/>
          <a:p>
            <a:endParaRPr lang="en-US"/>
          </a:p>
        </p:txBody>
      </p:sp>
      <p:sp>
        <p:nvSpPr>
          <p:cNvPr id="4" name="Text 2"/>
          <p:cNvSpPr/>
          <p:nvPr/>
        </p:nvSpPr>
        <p:spPr>
          <a:xfrm>
            <a:off x="731520" y="2011680"/>
            <a:ext cx="7680960" cy="109728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CLASSIFICATION</a:t>
            </a:r>
            <a:endParaRPr lang="en-US" sz="4400" dirty="0"/>
          </a:p>
        </p:txBody>
      </p:sp>
      <p:sp>
        <p:nvSpPr>
          <p:cNvPr id="5" name="Shape 3"/>
          <p:cNvSpPr/>
          <p:nvPr/>
        </p:nvSpPr>
        <p:spPr>
          <a:xfrm>
            <a:off x="1371600" y="2932771"/>
            <a:ext cx="6400800" cy="0"/>
          </a:xfrm>
          <a:prstGeom prst="line">
            <a:avLst/>
          </a:prstGeom>
          <a:noFill/>
          <a:ln w="25400">
            <a:solidFill>
              <a:srgbClr val="FFFFFF"/>
            </a:solidFill>
            <a:prstDash val="solid"/>
          </a:ln>
        </p:spPr>
        <p:txBody>
          <a:bodyPr/>
          <a:lstStyle/>
          <a:p>
            <a:endParaRPr lang="en-US"/>
          </a:p>
        </p:txBody>
      </p:sp>
      <p:sp>
        <p:nvSpPr>
          <p:cNvPr id="6" name="Text 4"/>
          <p:cNvSpPr/>
          <p:nvPr/>
        </p:nvSpPr>
        <p:spPr>
          <a:xfrm>
            <a:off x="2272618" y="3015288"/>
            <a:ext cx="4598763" cy="318926"/>
          </a:xfrm>
          <a:prstGeom prst="rect">
            <a:avLst/>
          </a:prstGeom>
          <a:noFill/>
          <a:ln/>
        </p:spPr>
        <p:txBody>
          <a:bodyPr wrap="square" rtlCol="0" anchor="ctr"/>
          <a:lstStyle/>
          <a:p>
            <a:pPr marL="0" indent="0" algn="ctr">
              <a:buNone/>
            </a:pPr>
            <a:r>
              <a:rPr lang="en-US" sz="2400" dirty="0">
                <a:solidFill>
                  <a:srgbClr val="FFD65C"/>
                </a:solidFill>
                <a:latin typeface="Arial" pitchFamily="34" charset="0"/>
                <a:ea typeface="Arial" pitchFamily="34" charset="-122"/>
                <a:cs typeface="Arial" pitchFamily="34" charset="-120"/>
              </a:rPr>
              <a:t>Technical, Business, and Hybrid</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13</a:t>
            </a:r>
            <a:endParaRPr lang="en-US" sz="1000" dirty="0"/>
          </a:p>
        </p:txBody>
      </p:sp>
      <p:sp>
        <p:nvSpPr>
          <p:cNvPr id="3" name="Text 1"/>
          <p:cNvSpPr/>
          <p:nvPr/>
        </p:nvSpPr>
        <p:spPr>
          <a:xfrm>
            <a:off x="731520" y="182880"/>
            <a:ext cx="7680960" cy="776125"/>
          </a:xfrm>
          <a:prstGeom prst="rect">
            <a:avLst/>
          </a:prstGeom>
          <a:noFill/>
          <a:ln/>
        </p:spPr>
        <p:txBody>
          <a:bodyPr wrap="square" rtlCol="0" anchor="t"/>
          <a:lstStyle/>
          <a:p>
            <a:pPr marL="0" indent="0" algn="l">
              <a:lnSpc>
                <a:spcPct val="120000"/>
              </a:lnSpc>
              <a:buNone/>
            </a:pPr>
            <a:r>
              <a:rPr lang="en-US" sz="4400" b="1" dirty="0">
                <a:solidFill>
                  <a:srgbClr val="FFFFFF"/>
                </a:solidFill>
                <a:latin typeface="Arial" pitchFamily="34" charset="0"/>
                <a:ea typeface="Arial" pitchFamily="34" charset="-122"/>
                <a:cs typeface="Arial" pitchFamily="34" charset="-120"/>
              </a:rPr>
              <a:t>Why Classification Matters</a:t>
            </a:r>
            <a:endParaRPr lang="en-US" sz="4400" dirty="0"/>
          </a:p>
        </p:txBody>
      </p:sp>
      <p:sp>
        <p:nvSpPr>
          <p:cNvPr id="4" name="Text 2"/>
          <p:cNvSpPr/>
          <p:nvPr/>
        </p:nvSpPr>
        <p:spPr>
          <a:xfrm>
            <a:off x="731520" y="1280160"/>
            <a:ext cx="7680960" cy="776125"/>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Different secrets require</a:t>
            </a:r>
            <a:r>
              <a:rPr lang="en-US" sz="3000" dirty="0"/>
              <a:t> </a:t>
            </a:r>
            <a:r>
              <a:rPr lang="en-US" sz="3000" dirty="0">
                <a:solidFill>
                  <a:srgbClr val="FFFFFF"/>
                </a:solidFill>
                <a:latin typeface="Arial" pitchFamily="34" charset="0"/>
                <a:ea typeface="Arial" pitchFamily="34" charset="-122"/>
                <a:cs typeface="Arial" pitchFamily="34" charset="-120"/>
              </a:rPr>
              <a:t>different protections</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14</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Category 1: </a:t>
            </a:r>
            <a:r>
              <a:rPr lang="en-US" sz="4400" b="1" dirty="0">
                <a:solidFill>
                  <a:srgbClr val="FFD65C"/>
                </a:solidFill>
                <a:latin typeface="Arial" pitchFamily="34" charset="0"/>
                <a:ea typeface="Arial" pitchFamily="34" charset="-122"/>
                <a:cs typeface="Arial" pitchFamily="34" charset="-120"/>
              </a:rPr>
              <a:t>Technical</a:t>
            </a:r>
            <a:r>
              <a:rPr lang="en-US" sz="4400" b="1" dirty="0">
                <a:solidFill>
                  <a:srgbClr val="FFFFFF"/>
                </a:solidFill>
                <a:latin typeface="Arial" pitchFamily="34" charset="0"/>
                <a:ea typeface="Arial" pitchFamily="34" charset="-122"/>
                <a:cs typeface="Arial" pitchFamily="34" charset="-120"/>
              </a:rPr>
              <a:t> Secrets</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Formulas, algorithms, source code,</a:t>
            </a:r>
            <a:r>
              <a:rPr lang="en-US" sz="3000" dirty="0"/>
              <a:t> </a:t>
            </a:r>
            <a:r>
              <a:rPr lang="en-US" sz="3000" dirty="0">
                <a:solidFill>
                  <a:srgbClr val="FFFFFF"/>
                </a:solidFill>
                <a:latin typeface="Arial" pitchFamily="34" charset="0"/>
                <a:ea typeface="Arial" pitchFamily="34" charset="-122"/>
                <a:cs typeface="Arial" pitchFamily="34" charset="-120"/>
              </a:rPr>
              <a:t>processes, prototypes, engineering specs</a:t>
            </a:r>
            <a:endParaRPr lang="en-US" sz="3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15</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Category 2: </a:t>
            </a:r>
            <a:r>
              <a:rPr lang="en-US" sz="4400" b="1" dirty="0">
                <a:solidFill>
                  <a:srgbClr val="FFD65C"/>
                </a:solidFill>
                <a:latin typeface="Arial" pitchFamily="34" charset="0"/>
                <a:ea typeface="Arial" pitchFamily="34" charset="-122"/>
                <a:cs typeface="Arial" pitchFamily="34" charset="-120"/>
              </a:rPr>
              <a:t>Business</a:t>
            </a:r>
            <a:r>
              <a:rPr lang="en-US" sz="4400" b="1" dirty="0">
                <a:solidFill>
                  <a:srgbClr val="FFFFFF"/>
                </a:solidFill>
                <a:latin typeface="Arial" pitchFamily="34" charset="0"/>
                <a:ea typeface="Arial" pitchFamily="34" charset="-122"/>
                <a:cs typeface="Arial" pitchFamily="34" charset="-120"/>
              </a:rPr>
              <a:t> Secrets</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Customer lists, pricing strategies,</a:t>
            </a:r>
            <a:r>
              <a:rPr lang="en-US" sz="3000" dirty="0"/>
              <a:t> </a:t>
            </a:r>
            <a:r>
              <a:rPr lang="en-US" sz="3000" dirty="0">
                <a:solidFill>
                  <a:srgbClr val="FFFFFF"/>
                </a:solidFill>
                <a:latin typeface="Arial" pitchFamily="34" charset="0"/>
                <a:ea typeface="Arial" pitchFamily="34" charset="-122"/>
                <a:cs typeface="Arial" pitchFamily="34" charset="-120"/>
              </a:rPr>
              <a:t>supplier relationships, marketing plans</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16</a:t>
            </a:r>
            <a:endParaRPr lang="en-US" sz="1000" dirty="0"/>
          </a:p>
        </p:txBody>
      </p:sp>
      <p:sp>
        <p:nvSpPr>
          <p:cNvPr id="3" name="Text 1"/>
          <p:cNvSpPr/>
          <p:nvPr/>
        </p:nvSpPr>
        <p:spPr>
          <a:xfrm>
            <a:off x="731520" y="182880"/>
            <a:ext cx="7680960" cy="851953"/>
          </a:xfrm>
          <a:prstGeom prst="rect">
            <a:avLst/>
          </a:prstGeom>
          <a:noFill/>
          <a:ln/>
        </p:spPr>
        <p:txBody>
          <a:bodyPr wrap="square" rtlCol="0" anchor="t"/>
          <a:lstStyle/>
          <a:p>
            <a:pPr marL="0" indent="0" algn="l">
              <a:lnSpc>
                <a:spcPct val="120000"/>
              </a:lnSpc>
              <a:buNone/>
            </a:pPr>
            <a:r>
              <a:rPr lang="en-US" sz="4400" b="1" dirty="0">
                <a:solidFill>
                  <a:srgbClr val="FFFFFF"/>
                </a:solidFill>
                <a:latin typeface="Arial" pitchFamily="34" charset="0"/>
                <a:ea typeface="Arial" pitchFamily="34" charset="-122"/>
                <a:cs typeface="Arial" pitchFamily="34" charset="-120"/>
              </a:rPr>
              <a:t>Category 3: </a:t>
            </a:r>
            <a:r>
              <a:rPr lang="en-US" sz="4400" b="1" dirty="0">
                <a:solidFill>
                  <a:srgbClr val="FFD65C"/>
                </a:solidFill>
                <a:latin typeface="Arial" pitchFamily="34" charset="0"/>
                <a:ea typeface="Arial" pitchFamily="34" charset="-122"/>
                <a:cs typeface="Arial" pitchFamily="34" charset="-120"/>
              </a:rPr>
              <a:t>Hybrid</a:t>
            </a:r>
            <a:r>
              <a:rPr lang="en-US" sz="4400" b="1" dirty="0">
                <a:solidFill>
                  <a:srgbClr val="FFFFFF"/>
                </a:solidFill>
                <a:latin typeface="Arial" pitchFamily="34" charset="0"/>
                <a:ea typeface="Arial" pitchFamily="34" charset="-122"/>
                <a:cs typeface="Arial" pitchFamily="34" charset="-120"/>
              </a:rPr>
              <a:t> Secrets</a:t>
            </a:r>
            <a:endParaRPr lang="en-US" sz="4400" dirty="0"/>
          </a:p>
        </p:txBody>
      </p:sp>
      <p:sp>
        <p:nvSpPr>
          <p:cNvPr id="4" name="Text 2"/>
          <p:cNvSpPr/>
          <p:nvPr/>
        </p:nvSpPr>
        <p:spPr>
          <a:xfrm>
            <a:off x="731520" y="1280160"/>
            <a:ext cx="7498080" cy="744901"/>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Combine technical and business elements</a:t>
            </a:r>
            <a:endParaRPr lang="en-US"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17</a:t>
            </a:r>
            <a:endParaRPr lang="en-US" sz="1000" dirty="0"/>
          </a:p>
        </p:txBody>
      </p:sp>
      <p:sp>
        <p:nvSpPr>
          <p:cNvPr id="3" name="Text 1"/>
          <p:cNvSpPr/>
          <p:nvPr/>
        </p:nvSpPr>
        <p:spPr>
          <a:xfrm>
            <a:off x="731520" y="182880"/>
            <a:ext cx="7680960" cy="640080"/>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Three Categories</a:t>
            </a:r>
            <a:endParaRPr lang="en-US" sz="4400" dirty="0"/>
          </a:p>
        </p:txBody>
      </p:sp>
      <p:sp>
        <p:nvSpPr>
          <p:cNvPr id="4" name="Shape 2"/>
          <p:cNvSpPr/>
          <p:nvPr/>
        </p:nvSpPr>
        <p:spPr>
          <a:xfrm>
            <a:off x="457200" y="1188720"/>
            <a:ext cx="2560320" cy="3291840"/>
          </a:xfrm>
          <a:prstGeom prst="rect">
            <a:avLst/>
          </a:prstGeom>
          <a:solidFill>
            <a:srgbClr val="B21F2C"/>
          </a:solidFill>
          <a:ln/>
        </p:spPr>
        <p:txBody>
          <a:bodyPr/>
          <a:lstStyle/>
          <a:p>
            <a:endParaRPr lang="en-US"/>
          </a:p>
        </p:txBody>
      </p:sp>
      <p:sp>
        <p:nvSpPr>
          <p:cNvPr id="5" name="Text 3"/>
          <p:cNvSpPr/>
          <p:nvPr/>
        </p:nvSpPr>
        <p:spPr>
          <a:xfrm>
            <a:off x="457200" y="1188720"/>
            <a:ext cx="2560320" cy="50292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Technical</a:t>
            </a:r>
            <a:endParaRPr lang="en-US" sz="2200" dirty="0"/>
          </a:p>
        </p:txBody>
      </p:sp>
      <p:sp>
        <p:nvSpPr>
          <p:cNvPr id="6" name="Shape 4"/>
          <p:cNvSpPr/>
          <p:nvPr/>
        </p:nvSpPr>
        <p:spPr>
          <a:xfrm>
            <a:off x="3200400" y="1188720"/>
            <a:ext cx="2560320" cy="3291840"/>
          </a:xfrm>
          <a:prstGeom prst="rect">
            <a:avLst/>
          </a:prstGeom>
          <a:solidFill>
            <a:srgbClr val="2459A9"/>
          </a:solidFill>
          <a:ln/>
        </p:spPr>
        <p:txBody>
          <a:bodyPr/>
          <a:lstStyle/>
          <a:p>
            <a:endParaRPr lang="en-US"/>
          </a:p>
        </p:txBody>
      </p:sp>
      <p:sp>
        <p:nvSpPr>
          <p:cNvPr id="7" name="Text 5"/>
          <p:cNvSpPr/>
          <p:nvPr/>
        </p:nvSpPr>
        <p:spPr>
          <a:xfrm>
            <a:off x="3200400" y="1188720"/>
            <a:ext cx="2560320" cy="50292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Business</a:t>
            </a:r>
            <a:endParaRPr lang="en-US" sz="2200" dirty="0"/>
          </a:p>
        </p:txBody>
      </p:sp>
      <p:sp>
        <p:nvSpPr>
          <p:cNvPr id="8" name="Shape 6"/>
          <p:cNvSpPr/>
          <p:nvPr/>
        </p:nvSpPr>
        <p:spPr>
          <a:xfrm>
            <a:off x="5943600" y="1188720"/>
            <a:ext cx="2560320" cy="3291840"/>
          </a:xfrm>
          <a:prstGeom prst="rect">
            <a:avLst/>
          </a:prstGeom>
          <a:solidFill>
            <a:srgbClr val="E96955"/>
          </a:solidFill>
          <a:ln/>
        </p:spPr>
        <p:txBody>
          <a:bodyPr/>
          <a:lstStyle/>
          <a:p>
            <a:endParaRPr lang="en-US"/>
          </a:p>
        </p:txBody>
      </p:sp>
      <p:sp>
        <p:nvSpPr>
          <p:cNvPr id="9" name="Text 7"/>
          <p:cNvSpPr/>
          <p:nvPr/>
        </p:nvSpPr>
        <p:spPr>
          <a:xfrm>
            <a:off x="5943600" y="1188720"/>
            <a:ext cx="2560320" cy="50292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Hybrid</a:t>
            </a:r>
            <a:endParaRPr lang="en-US" sz="2200" dirty="0"/>
          </a:p>
        </p:txBody>
      </p:sp>
      <p:sp>
        <p:nvSpPr>
          <p:cNvPr id="10" name="Text 8"/>
          <p:cNvSpPr/>
          <p:nvPr/>
        </p:nvSpPr>
        <p:spPr>
          <a:xfrm>
            <a:off x="594360" y="1783080"/>
            <a:ext cx="2286000" cy="2560320"/>
          </a:xfrm>
          <a:prstGeom prst="rect">
            <a:avLst/>
          </a:prstGeom>
          <a:noFill/>
          <a:ln/>
        </p:spPr>
        <p:txBody>
          <a:bodyPr wrap="square" rtlCol="0" anchor="t"/>
          <a:lstStyle/>
          <a:p>
            <a:pPr marL="0" indent="0">
              <a:lnSpc>
                <a:spcPct val="160000"/>
              </a:lnSpc>
              <a:buNone/>
            </a:pPr>
            <a:r>
              <a:rPr lang="en-US" sz="1600" dirty="0">
                <a:solidFill>
                  <a:srgbClr val="FFFFFF"/>
                </a:solidFill>
                <a:latin typeface="Arial" pitchFamily="34" charset="0"/>
                <a:ea typeface="Arial" pitchFamily="34" charset="-122"/>
                <a:cs typeface="Arial" pitchFamily="34" charset="-120"/>
              </a:rPr>
              <a:t>• Formulas</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Algorithms</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Source code</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Processes</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Prototypes</a:t>
            </a:r>
            <a:endParaRPr lang="en-US" sz="1600" dirty="0"/>
          </a:p>
        </p:txBody>
      </p:sp>
      <p:sp>
        <p:nvSpPr>
          <p:cNvPr id="11" name="Text 9"/>
          <p:cNvSpPr/>
          <p:nvPr/>
        </p:nvSpPr>
        <p:spPr>
          <a:xfrm>
            <a:off x="3337560" y="1783080"/>
            <a:ext cx="2286000" cy="2560320"/>
          </a:xfrm>
          <a:prstGeom prst="rect">
            <a:avLst/>
          </a:prstGeom>
          <a:noFill/>
          <a:ln/>
        </p:spPr>
        <p:txBody>
          <a:bodyPr wrap="square" rtlCol="0" anchor="t"/>
          <a:lstStyle/>
          <a:p>
            <a:pPr marL="0" indent="0">
              <a:lnSpc>
                <a:spcPct val="160000"/>
              </a:lnSpc>
              <a:buNone/>
            </a:pPr>
            <a:r>
              <a:rPr lang="en-US" sz="1600" dirty="0">
                <a:solidFill>
                  <a:srgbClr val="FFFFFF"/>
                </a:solidFill>
                <a:latin typeface="Arial" pitchFamily="34" charset="0"/>
                <a:ea typeface="Arial" pitchFamily="34" charset="-122"/>
                <a:cs typeface="Arial" pitchFamily="34" charset="-120"/>
              </a:rPr>
              <a:t>• Customer lists</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Pricing strategy</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Supplier terms</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Marketing plans</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Sales forecasts</a:t>
            </a:r>
            <a:endParaRPr lang="en-US" sz="1600" dirty="0"/>
          </a:p>
        </p:txBody>
      </p:sp>
      <p:sp>
        <p:nvSpPr>
          <p:cNvPr id="12" name="Text 10"/>
          <p:cNvSpPr/>
          <p:nvPr/>
        </p:nvSpPr>
        <p:spPr>
          <a:xfrm>
            <a:off x="6080760" y="1783080"/>
            <a:ext cx="2286000" cy="2560320"/>
          </a:xfrm>
          <a:prstGeom prst="rect">
            <a:avLst/>
          </a:prstGeom>
          <a:noFill/>
          <a:ln/>
        </p:spPr>
        <p:txBody>
          <a:bodyPr wrap="square" rtlCol="0" anchor="t"/>
          <a:lstStyle/>
          <a:p>
            <a:pPr marL="0" indent="0">
              <a:lnSpc>
                <a:spcPct val="160000"/>
              </a:lnSpc>
              <a:buNone/>
            </a:pPr>
            <a:r>
              <a:rPr lang="en-US" sz="1600" dirty="0">
                <a:solidFill>
                  <a:srgbClr val="FFFFFF"/>
                </a:solidFill>
                <a:latin typeface="Arial" pitchFamily="34" charset="0"/>
                <a:ea typeface="Arial" pitchFamily="34" charset="-122"/>
                <a:cs typeface="Arial" pitchFamily="34" charset="-120"/>
              </a:rPr>
              <a:t>• Pricing algorithms</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Custom processes</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R&amp;D + market data</a:t>
            </a:r>
            <a:endParaRPr lang="en-US" sz="1600" dirty="0"/>
          </a:p>
          <a:p>
            <a:pPr marL="0" indent="0">
              <a:lnSpc>
                <a:spcPct val="160000"/>
              </a:lnSpc>
              <a:buNone/>
            </a:pPr>
            <a:r>
              <a:rPr lang="en-US" sz="1600" dirty="0">
                <a:solidFill>
                  <a:srgbClr val="FFFFFF"/>
                </a:solidFill>
                <a:latin typeface="Arial" pitchFamily="34" charset="0"/>
                <a:ea typeface="Arial" pitchFamily="34" charset="-122"/>
                <a:cs typeface="Arial" pitchFamily="34" charset="-120"/>
              </a:rPr>
              <a:t>• Tech + relationship</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18</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Classification → Protection Strategy</a:t>
            </a:r>
            <a:endParaRPr lang="en-US" sz="4400" dirty="0"/>
          </a:p>
        </p:txBody>
      </p:sp>
      <p:sp>
        <p:nvSpPr>
          <p:cNvPr id="4" name="Text 2"/>
          <p:cNvSpPr/>
          <p:nvPr/>
        </p:nvSpPr>
        <p:spPr>
          <a:xfrm>
            <a:off x="731520" y="2011679"/>
            <a:ext cx="7680960" cy="2579985"/>
          </a:xfrm>
          <a:prstGeom prst="rect">
            <a:avLst/>
          </a:prstGeom>
          <a:noFill/>
          <a:ln/>
        </p:spPr>
        <p:txBody>
          <a:bodyPr wrap="square" rtlCol="0" anchor="t"/>
          <a:lstStyle/>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Technical: access controls, compartments</a:t>
            </a:r>
            <a:endParaRPr lang="en-US" sz="3000" dirty="0"/>
          </a:p>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Business: NDAs, data governance</a:t>
            </a:r>
            <a:endParaRPr lang="en-US" sz="3000" dirty="0"/>
          </a:p>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Hybrid: both layers</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3255"/>
        </a:solidFill>
        <a:effectLst/>
      </p:bgPr>
    </p:bg>
    <p:spTree>
      <p:nvGrpSpPr>
        <p:cNvPr id="1" name=""/>
        <p:cNvGrpSpPr/>
        <p:nvPr/>
      </p:nvGrpSpPr>
      <p:grpSpPr>
        <a:xfrm>
          <a:off x="0" y="0"/>
          <a:ext cx="0" cy="0"/>
          <a:chOff x="0" y="0"/>
          <a:chExt cx="0" cy="0"/>
        </a:xfrm>
      </p:grpSpPr>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a:lnSpc>
                <a:spcPct val="130000"/>
              </a:lnSpc>
            </a:pPr>
            <a:r>
              <a:rPr lang="en-US" sz="2800" dirty="0">
                <a:solidFill>
                  <a:srgbClr val="FFFFFF"/>
                </a:solidFill>
                <a:latin typeface="Arial" pitchFamily="34" charset="0"/>
                <a:ea typeface="Arial" pitchFamily="34" charset="-122"/>
                <a:cs typeface="Arial" pitchFamily="34" charset="-120"/>
              </a:rPr>
              <a:t>Dehydrated Hash Browns</a:t>
            </a:r>
            <a:endParaRPr lang="en-US" sz="2800" i="1" dirty="0"/>
          </a:p>
          <a:p>
            <a:pPr marL="0" indent="0" algn="l">
              <a:lnSpc>
                <a:spcPct val="130000"/>
              </a:lnSpc>
              <a:buNone/>
            </a:pPr>
            <a:r>
              <a:rPr lang="en-US" sz="2800" dirty="0">
                <a:solidFill>
                  <a:srgbClr val="FFFFFF"/>
                </a:solidFill>
                <a:latin typeface="Arial" pitchFamily="34" charset="0"/>
                <a:ea typeface="Arial" pitchFamily="34" charset="-122"/>
                <a:cs typeface="Arial" pitchFamily="34" charset="-120"/>
              </a:rPr>
              <a:t>Multiple known steps → secret combination</a:t>
            </a:r>
            <a:endParaRPr lang="en-US" sz="2800" dirty="0"/>
          </a:p>
        </p:txBody>
      </p:sp>
      <p:sp>
        <p:nvSpPr>
          <p:cNvPr id="5" name="TextBox 4">
            <a:extLst>
              <a:ext uri="{FF2B5EF4-FFF2-40B4-BE49-F238E27FC236}">
                <a16:creationId xmlns:a16="http://schemas.microsoft.com/office/drawing/2014/main" id="{C03EB4E0-229C-DF2A-AA8F-22D62E4C600F}"/>
              </a:ext>
            </a:extLst>
          </p:cNvPr>
          <p:cNvSpPr txBox="1"/>
          <p:nvPr/>
        </p:nvSpPr>
        <p:spPr>
          <a:xfrm>
            <a:off x="1005349" y="313789"/>
            <a:ext cx="7133303" cy="1723549"/>
          </a:xfrm>
          <a:prstGeom prst="rect">
            <a:avLst/>
          </a:prstGeom>
          <a:noFill/>
        </p:spPr>
        <p:txBody>
          <a:bodyPr wrap="square" rtlCol="0">
            <a:spAutoFit/>
          </a:bodyPr>
          <a:lstStyle/>
          <a:p>
            <a:pPr algn="ctr"/>
            <a:r>
              <a:rPr lang="en-US" sz="4400" b="1" dirty="0">
                <a:solidFill>
                  <a:srgbClr val="FFD65C"/>
                </a:solidFill>
                <a:latin typeface="Arial" pitchFamily="34" charset="0"/>
                <a:ea typeface="Arial" pitchFamily="34" charset="-122"/>
                <a:cs typeface="Arial" pitchFamily="34" charset="-120"/>
              </a:rPr>
              <a:t>Basic American v. Shatila</a:t>
            </a:r>
          </a:p>
          <a:p>
            <a:pPr algn="ctr"/>
            <a:r>
              <a:rPr lang="en-US" sz="4400" b="1" dirty="0">
                <a:solidFill>
                  <a:srgbClr val="FFD65C"/>
                </a:solidFill>
                <a:latin typeface="Arial" pitchFamily="34" charset="0"/>
                <a:ea typeface="Arial" pitchFamily="34" charset="-122"/>
                <a:cs typeface="Arial" pitchFamily="34" charset="-120"/>
              </a:rPr>
              <a:t>(1999)</a:t>
            </a:r>
          </a:p>
          <a:p>
            <a:pPr algn="ctr"/>
            <a:endParaRPr lang="en-US" dirty="0"/>
          </a:p>
        </p:txBody>
      </p:sp>
      <p:sp>
        <p:nvSpPr>
          <p:cNvPr id="6" name="Rectangle 5">
            <a:extLst>
              <a:ext uri="{FF2B5EF4-FFF2-40B4-BE49-F238E27FC236}">
                <a16:creationId xmlns:a16="http://schemas.microsoft.com/office/drawing/2014/main" id="{390B7618-C4E4-A955-6CB8-EBA4771927E3}"/>
              </a:ext>
            </a:extLst>
          </p:cNvPr>
          <p:cNvSpPr/>
          <p:nvPr/>
        </p:nvSpPr>
        <p:spPr>
          <a:xfrm>
            <a:off x="8678848" y="0"/>
            <a:ext cx="465152" cy="5143500"/>
          </a:xfrm>
          <a:prstGeom prst="rect">
            <a:avLst/>
          </a:prstGeom>
          <a:solidFill>
            <a:srgbClr val="FFD75B"/>
          </a:solidFill>
          <a:ln>
            <a:solidFill>
              <a:srgbClr val="FFD6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3255"/>
        </a:solidFill>
        <a:effectLst/>
      </p:bgPr>
    </p:bg>
    <p:spTree>
      <p:nvGrpSpPr>
        <p:cNvPr id="1" name=""/>
        <p:cNvGrpSpPr/>
        <p:nvPr/>
      </p:nvGrpSpPr>
      <p:grpSpPr>
        <a:xfrm>
          <a:off x="0" y="0"/>
          <a:ext cx="0" cy="0"/>
          <a:chOff x="0" y="0"/>
          <a:chExt cx="0" cy="0"/>
        </a:xfrm>
      </p:grpSpPr>
      <p:sp>
        <p:nvSpPr>
          <p:cNvPr id="3" name="Text 1"/>
          <p:cNvSpPr/>
          <p:nvPr/>
        </p:nvSpPr>
        <p:spPr>
          <a:xfrm>
            <a:off x="731520" y="182880"/>
            <a:ext cx="7680960" cy="640080"/>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Quick Check</a:t>
            </a:r>
            <a:endParaRPr lang="en-US" sz="4400" dirty="0"/>
          </a:p>
        </p:txBody>
      </p:sp>
      <p:sp>
        <p:nvSpPr>
          <p:cNvPr id="4" name="Text 2"/>
          <p:cNvSpPr/>
          <p:nvPr/>
        </p:nvSpPr>
        <p:spPr>
          <a:xfrm>
            <a:off x="731520" y="1280160"/>
            <a:ext cx="7680960" cy="2286000"/>
          </a:xfrm>
          <a:prstGeom prst="rect">
            <a:avLst/>
          </a:prstGeom>
          <a:noFill/>
          <a:ln/>
        </p:spPr>
        <p:txBody>
          <a:bodyPr wrap="square" rtlCol="0" anchor="t"/>
          <a:lstStyle/>
          <a:p>
            <a:pPr marL="0" indent="0" algn="l">
              <a:lnSpc>
                <a:spcPct val="120000"/>
              </a:lnSpc>
              <a:buNone/>
            </a:pPr>
            <a:r>
              <a:rPr lang="en-US" sz="3800" b="1" dirty="0">
                <a:solidFill>
                  <a:srgbClr val="FFFFFF"/>
                </a:solidFill>
                <a:latin typeface="Arial" pitchFamily="34" charset="0"/>
                <a:ea typeface="Arial" pitchFamily="34" charset="-122"/>
                <a:cs typeface="Arial" pitchFamily="34" charset="-120"/>
              </a:rPr>
              <a:t>Name the three categories</a:t>
            </a:r>
            <a:endParaRPr lang="en-US" sz="3800" dirty="0"/>
          </a:p>
          <a:p>
            <a:pPr marL="0" indent="0" algn="l">
              <a:lnSpc>
                <a:spcPct val="120000"/>
              </a:lnSpc>
              <a:buNone/>
            </a:pPr>
            <a:r>
              <a:rPr lang="en-US" sz="3800" b="1" dirty="0">
                <a:solidFill>
                  <a:srgbClr val="FFFFFF"/>
                </a:solidFill>
                <a:latin typeface="Arial" pitchFamily="34" charset="0"/>
                <a:ea typeface="Arial" pitchFamily="34" charset="-122"/>
                <a:cs typeface="Arial" pitchFamily="34" charset="-120"/>
              </a:rPr>
              <a:t>of trade secrets</a:t>
            </a:r>
            <a:endParaRPr lang="en-US" sz="3800" dirty="0"/>
          </a:p>
        </p:txBody>
      </p:sp>
      <p:sp>
        <p:nvSpPr>
          <p:cNvPr id="5" name="Rectangle 4">
            <a:extLst>
              <a:ext uri="{FF2B5EF4-FFF2-40B4-BE49-F238E27FC236}">
                <a16:creationId xmlns:a16="http://schemas.microsoft.com/office/drawing/2014/main" id="{DC13A280-FFB8-7EC4-93D3-65E47EE681B9}"/>
              </a:ext>
            </a:extLst>
          </p:cNvPr>
          <p:cNvSpPr/>
          <p:nvPr/>
        </p:nvSpPr>
        <p:spPr>
          <a:xfrm>
            <a:off x="8678848" y="0"/>
            <a:ext cx="465152" cy="5143500"/>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9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21</a:t>
            </a:r>
            <a:endParaRPr lang="en-US" sz="1000" dirty="0"/>
          </a:p>
        </p:txBody>
      </p:sp>
      <p:sp>
        <p:nvSpPr>
          <p:cNvPr id="3" name="Text 1"/>
          <p:cNvSpPr/>
          <p:nvPr/>
        </p:nvSpPr>
        <p:spPr>
          <a:xfrm>
            <a:off x="731520" y="1280160"/>
            <a:ext cx="7680960" cy="2926080"/>
          </a:xfrm>
          <a:prstGeom prst="rect">
            <a:avLst/>
          </a:prstGeom>
          <a:noFill/>
          <a:ln/>
        </p:spPr>
        <p:txBody>
          <a:bodyPr wrap="square" rtlCol="0" anchor="t"/>
          <a:lstStyle/>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Technical, Business, Hybrid</a:t>
            </a:r>
            <a:endParaRPr lang="en-US" sz="3600" dirty="0"/>
          </a:p>
          <a:p>
            <a:pPr marL="0" indent="0" algn="l">
              <a:lnSpc>
                <a:spcPct val="130000"/>
              </a:lnSpc>
              <a:buNone/>
            </a:pPr>
            <a:endParaRPr lang="en-US" sz="3600" dirty="0"/>
          </a:p>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Examples: formula, customer list,</a:t>
            </a:r>
            <a:endParaRPr lang="en-US" sz="3600" dirty="0"/>
          </a:p>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pricing algorithm</a:t>
            </a:r>
            <a:endParaRPr lang="en-US" sz="3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22</a:t>
            </a:r>
            <a:endParaRPr lang="en-US" sz="1000" dirty="0"/>
          </a:p>
        </p:txBody>
      </p:sp>
      <p:sp>
        <p:nvSpPr>
          <p:cNvPr id="3" name="Shape 1"/>
          <p:cNvSpPr/>
          <p:nvPr/>
        </p:nvSpPr>
        <p:spPr>
          <a:xfrm>
            <a:off x="1371600" y="2118731"/>
            <a:ext cx="6400800" cy="0"/>
          </a:xfrm>
          <a:prstGeom prst="line">
            <a:avLst/>
          </a:prstGeom>
          <a:noFill/>
          <a:ln w="25400">
            <a:solidFill>
              <a:srgbClr val="FFFFFF"/>
            </a:solidFill>
            <a:prstDash val="solid"/>
          </a:ln>
        </p:spPr>
        <p:txBody>
          <a:bodyPr/>
          <a:lstStyle/>
          <a:p>
            <a:endParaRPr lang="en-US"/>
          </a:p>
        </p:txBody>
      </p:sp>
      <p:sp>
        <p:nvSpPr>
          <p:cNvPr id="4" name="Text 2"/>
          <p:cNvSpPr/>
          <p:nvPr/>
        </p:nvSpPr>
        <p:spPr>
          <a:xfrm>
            <a:off x="731520" y="2011680"/>
            <a:ext cx="7680960" cy="109728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APPLIED EXERCISE</a:t>
            </a:r>
            <a:endParaRPr lang="en-US" sz="4400" dirty="0"/>
          </a:p>
        </p:txBody>
      </p:sp>
      <p:sp>
        <p:nvSpPr>
          <p:cNvPr id="5" name="Shape 3"/>
          <p:cNvSpPr/>
          <p:nvPr/>
        </p:nvSpPr>
        <p:spPr>
          <a:xfrm>
            <a:off x="1371600" y="2943922"/>
            <a:ext cx="6400800" cy="0"/>
          </a:xfrm>
          <a:prstGeom prst="line">
            <a:avLst/>
          </a:prstGeom>
          <a:noFill/>
          <a:ln w="25400">
            <a:solidFill>
              <a:srgbClr val="FFFFFF"/>
            </a:solidFill>
            <a:prstDash val="solid"/>
          </a:ln>
        </p:spPr>
        <p:txBody>
          <a:bodyPr/>
          <a:lstStyle/>
          <a:p>
            <a:endParaRPr lang="en-US"/>
          </a:p>
        </p:txBody>
      </p:sp>
      <p:sp>
        <p:nvSpPr>
          <p:cNvPr id="6" name="Text 4"/>
          <p:cNvSpPr/>
          <p:nvPr/>
        </p:nvSpPr>
        <p:spPr>
          <a:xfrm>
            <a:off x="731520" y="3078850"/>
            <a:ext cx="7680960" cy="274321"/>
          </a:xfrm>
          <a:prstGeom prst="rect">
            <a:avLst/>
          </a:prstGeom>
          <a:noFill/>
          <a:ln/>
        </p:spPr>
        <p:txBody>
          <a:bodyPr wrap="square" rtlCol="0" anchor="ctr"/>
          <a:lstStyle/>
          <a:p>
            <a:pPr marL="0" indent="0" algn="ctr">
              <a:buNone/>
            </a:pPr>
            <a:r>
              <a:rPr lang="en-US" sz="2400" dirty="0">
                <a:solidFill>
                  <a:srgbClr val="FFD65C"/>
                </a:solidFill>
                <a:latin typeface="Arial" pitchFamily="34" charset="0"/>
                <a:ea typeface="Arial" pitchFamily="34" charset="-122"/>
                <a:cs typeface="Arial" pitchFamily="34" charset="-120"/>
              </a:rPr>
              <a:t>Pico Salsa Preliminary Inventory</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3255"/>
        </a:solidFill>
        <a:effectLst/>
      </p:bgPr>
    </p:bg>
    <p:spTree>
      <p:nvGrpSpPr>
        <p:cNvPr id="1" name=""/>
        <p:cNvGrpSpPr/>
        <p:nvPr/>
      </p:nvGrpSpPr>
      <p:grpSpPr>
        <a:xfrm>
          <a:off x="0" y="0"/>
          <a:ext cx="0" cy="0"/>
          <a:chOff x="0" y="0"/>
          <a:chExt cx="0" cy="0"/>
        </a:xfrm>
      </p:grpSpPr>
      <p:sp>
        <p:nvSpPr>
          <p:cNvPr id="4" name="Text 2"/>
          <p:cNvSpPr/>
          <p:nvPr/>
        </p:nvSpPr>
        <p:spPr>
          <a:xfrm>
            <a:off x="731520" y="182880"/>
            <a:ext cx="7680960" cy="1120140"/>
          </a:xfrm>
          <a:prstGeom prst="rect">
            <a:avLst/>
          </a:prstGeom>
          <a:noFill/>
          <a:ln/>
        </p:spPr>
        <p:txBody>
          <a:bodyPr wrap="square" rtlCol="0" anchor="ctr"/>
          <a:lstStyle/>
          <a:p>
            <a:pPr marL="0" indent="0" algn="ctr">
              <a:buNone/>
            </a:pPr>
            <a:r>
              <a:rPr lang="en-US" sz="4400" b="1" dirty="0">
                <a:solidFill>
                  <a:schemeClr val="bg1">
                    <a:lumMod val="95000"/>
                  </a:schemeClr>
                </a:solidFill>
                <a:latin typeface="Arial" pitchFamily="34" charset="0"/>
                <a:ea typeface="Arial" pitchFamily="34" charset="-122"/>
                <a:cs typeface="Arial" pitchFamily="34" charset="-120"/>
              </a:rPr>
              <a:t>Pico Salsa: What Do They Have?</a:t>
            </a:r>
            <a:endParaRPr lang="en-US" sz="4400" dirty="0">
              <a:solidFill>
                <a:schemeClr val="bg1">
                  <a:lumMod val="95000"/>
                </a:schemeClr>
              </a:solidFill>
            </a:endParaRPr>
          </a:p>
        </p:txBody>
      </p:sp>
      <p:sp>
        <p:nvSpPr>
          <p:cNvPr id="5" name="Text 3"/>
          <p:cNvSpPr/>
          <p:nvPr/>
        </p:nvSpPr>
        <p:spPr>
          <a:xfrm>
            <a:off x="731520" y="1554480"/>
            <a:ext cx="7680960" cy="3291840"/>
          </a:xfrm>
          <a:prstGeom prst="rect">
            <a:avLst/>
          </a:prstGeom>
          <a:noFill/>
          <a:ln/>
        </p:spPr>
        <p:txBody>
          <a:bodyPr wrap="square" rtlCol="0" anchor="t"/>
          <a:lstStyle/>
          <a:p>
            <a:pPr marL="342900" indent="-342900">
              <a:spcAft>
                <a:spcPts val="400"/>
              </a:spcAft>
              <a:buSzPct val="100000"/>
              <a:buChar char="•"/>
            </a:pPr>
            <a:r>
              <a:rPr lang="en-US" sz="2200" dirty="0">
                <a:solidFill>
                  <a:srgbClr val="FFFFFF"/>
                </a:solidFill>
                <a:latin typeface="Arial" pitchFamily="34" charset="0"/>
                <a:ea typeface="Arial" pitchFamily="34" charset="-122"/>
                <a:cs typeface="Arial" pitchFamily="34" charset="-120"/>
              </a:rPr>
              <a:t>The Ferment-X fermentation process (timing, temperatures, cultures)</a:t>
            </a:r>
            <a:endParaRPr lang="en-US" sz="2200" dirty="0"/>
          </a:p>
          <a:p>
            <a:pPr marL="342900" indent="-342900">
              <a:spcAft>
                <a:spcPts val="400"/>
              </a:spcAft>
              <a:buSzPct val="100000"/>
              <a:buChar char="•"/>
            </a:pPr>
            <a:r>
              <a:rPr lang="en-US" sz="2200" dirty="0">
                <a:solidFill>
                  <a:srgbClr val="FFFFFF"/>
                </a:solidFill>
                <a:latin typeface="Arial" pitchFamily="34" charset="0"/>
                <a:ea typeface="Arial" pitchFamily="34" charset="-122"/>
                <a:cs typeface="Arial" pitchFamily="34" charset="-120"/>
              </a:rPr>
              <a:t>The proprietary starter culture</a:t>
            </a:r>
            <a:endParaRPr lang="en-US" sz="2200" dirty="0"/>
          </a:p>
          <a:p>
            <a:pPr marL="342900" indent="-342900">
              <a:spcAft>
                <a:spcPts val="400"/>
              </a:spcAft>
              <a:buSzPct val="100000"/>
              <a:buChar char="•"/>
            </a:pPr>
            <a:r>
              <a:rPr lang="en-US" sz="2200" dirty="0">
                <a:solidFill>
                  <a:srgbClr val="FFFFFF"/>
                </a:solidFill>
                <a:latin typeface="Arial" pitchFamily="34" charset="0"/>
                <a:ea typeface="Arial" pitchFamily="34" charset="-122"/>
                <a:cs typeface="Arial" pitchFamily="34" charset="-120"/>
              </a:rPr>
              <a:t>Customer list with relationship data and pricing notes</a:t>
            </a:r>
            <a:endParaRPr lang="en-US" sz="2200" dirty="0"/>
          </a:p>
          <a:p>
            <a:pPr marL="342900" indent="-342900">
              <a:spcAft>
                <a:spcPts val="400"/>
              </a:spcAft>
              <a:buSzPct val="100000"/>
              <a:buChar char="•"/>
            </a:pPr>
            <a:r>
              <a:rPr lang="en-US" sz="2200" dirty="0">
                <a:solidFill>
                  <a:srgbClr val="FFFFFF"/>
                </a:solidFill>
                <a:latin typeface="Arial" pitchFamily="34" charset="0"/>
                <a:ea typeface="Arial" pitchFamily="34" charset="-122"/>
                <a:cs typeface="Arial" pitchFamily="34" charset="-120"/>
              </a:rPr>
              <a:t>Supplier relationships and purchasing terms (Red Mesa Farms)</a:t>
            </a:r>
            <a:endParaRPr lang="en-US" sz="2200" dirty="0"/>
          </a:p>
          <a:p>
            <a:pPr marL="342900" indent="-342900">
              <a:spcAft>
                <a:spcPts val="400"/>
              </a:spcAft>
              <a:buSzPct val="100000"/>
              <a:buChar char="•"/>
            </a:pPr>
            <a:r>
              <a:rPr lang="en-US" sz="2200" dirty="0">
                <a:solidFill>
                  <a:srgbClr val="FFFFFF"/>
                </a:solidFill>
                <a:latin typeface="Arial" pitchFamily="34" charset="0"/>
                <a:ea typeface="Arial" pitchFamily="34" charset="-122"/>
                <a:cs typeface="Arial" pitchFamily="34" charset="-120"/>
              </a:rPr>
              <a:t>R&amp;D notes: recipe variations and failed experiments</a:t>
            </a:r>
            <a:endParaRPr lang="en-US" sz="2200" dirty="0"/>
          </a:p>
          <a:p>
            <a:pPr marL="342900" indent="-342900">
              <a:spcAft>
                <a:spcPts val="400"/>
              </a:spcAft>
              <a:buSzPct val="100000"/>
              <a:buChar char="•"/>
            </a:pPr>
            <a:r>
              <a:rPr lang="en-US" sz="2200" dirty="0">
                <a:solidFill>
                  <a:srgbClr val="FFFFFF"/>
                </a:solidFill>
                <a:latin typeface="Arial" pitchFamily="34" charset="0"/>
                <a:ea typeface="Arial" pitchFamily="34" charset="-122"/>
                <a:cs typeface="Arial" pitchFamily="34" charset="-120"/>
              </a:rPr>
              <a:t>Miguel's personal notebooks</a:t>
            </a:r>
            <a:endParaRPr lang="en-US" sz="2200" dirty="0"/>
          </a:p>
        </p:txBody>
      </p:sp>
      <p:sp>
        <p:nvSpPr>
          <p:cNvPr id="6" name="Rectangle 5">
            <a:extLst>
              <a:ext uri="{FF2B5EF4-FFF2-40B4-BE49-F238E27FC236}">
                <a16:creationId xmlns:a16="http://schemas.microsoft.com/office/drawing/2014/main" id="{A12FDAA4-30DB-1691-697E-AC71F6912CAA}"/>
              </a:ext>
            </a:extLst>
          </p:cNvPr>
          <p:cNvSpPr/>
          <p:nvPr/>
        </p:nvSpPr>
        <p:spPr>
          <a:xfrm>
            <a:off x="8674873" y="0"/>
            <a:ext cx="469127" cy="514350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24</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Exercise: Identify and Classify</a:t>
            </a:r>
            <a:endParaRPr lang="en-US" sz="4400" dirty="0"/>
          </a:p>
        </p:txBody>
      </p:sp>
      <p:sp>
        <p:nvSpPr>
          <p:cNvPr id="4" name="Text 2"/>
          <p:cNvSpPr/>
          <p:nvPr/>
        </p:nvSpPr>
        <p:spPr>
          <a:xfrm>
            <a:off x="731520" y="1920240"/>
            <a:ext cx="7680960" cy="258318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For each asset:</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1. Category? (Technical / Business / Hybrid)</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2. Three-element test?</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3. Concerns?</a:t>
            </a:r>
            <a:endParaRPr lang="en-US" sz="3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25</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Finding 1: Ferment-X Process</a:t>
            </a:r>
            <a:endParaRPr lang="en-US" sz="4400" dirty="0"/>
          </a:p>
        </p:txBody>
      </p:sp>
      <p:sp>
        <p:nvSpPr>
          <p:cNvPr id="4" name="Text 2"/>
          <p:cNvSpPr/>
          <p:nvPr/>
        </p:nvSpPr>
        <p:spPr>
          <a:xfrm>
            <a:off x="731520" y="2011680"/>
            <a:ext cx="7680960" cy="1871175"/>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Category: Technical</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Strong candidate — but the public</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presentation is a problem</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26</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Finding 2: Starter Culture</a:t>
            </a:r>
            <a:endParaRPr lang="en-US" sz="4400" dirty="0"/>
          </a:p>
        </p:txBody>
      </p:sp>
      <p:sp>
        <p:nvSpPr>
          <p:cNvPr id="4" name="Text 2"/>
          <p:cNvSpPr/>
          <p:nvPr/>
        </p:nvSpPr>
        <p:spPr>
          <a:xfrm>
            <a:off x="731520" y="128016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Category: Technical</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Separate from Ferment-X —</a:t>
            </a:r>
            <a:r>
              <a:rPr lang="en-US" sz="3000" dirty="0"/>
              <a:t> </a:t>
            </a:r>
            <a:r>
              <a:rPr lang="en-US" sz="3000" dirty="0">
                <a:solidFill>
                  <a:srgbClr val="FFFFFF"/>
                </a:solidFill>
                <a:latin typeface="Arial" pitchFamily="34" charset="0"/>
                <a:ea typeface="Arial" pitchFamily="34" charset="-122"/>
                <a:cs typeface="Arial" pitchFamily="34" charset="-120"/>
              </a:rPr>
              <a:t>different access, different risk</a:t>
            </a:r>
            <a:endParaRPr lang="en-US" sz="3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27</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Finding 3: Customer List</a:t>
            </a:r>
            <a:endParaRPr lang="en-US" sz="4400" dirty="0"/>
          </a:p>
        </p:txBody>
      </p:sp>
      <p:sp>
        <p:nvSpPr>
          <p:cNvPr id="4" name="Text 2"/>
          <p:cNvSpPr/>
          <p:nvPr/>
        </p:nvSpPr>
        <p:spPr>
          <a:xfrm>
            <a:off x="731520" y="1280160"/>
            <a:ext cx="7680960" cy="183103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Category: Business</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Partially qualifies — some accounts</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are publicly identifiable</a:t>
            </a:r>
            <a:endParaRPr lang="en-US" sz="3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28</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Finding 4: Supplier Terms</a:t>
            </a:r>
            <a:endParaRPr lang="en-US" sz="4400" dirty="0"/>
          </a:p>
        </p:txBody>
      </p:sp>
      <p:sp>
        <p:nvSpPr>
          <p:cNvPr id="4" name="Text 2"/>
          <p:cNvSpPr/>
          <p:nvPr/>
        </p:nvSpPr>
        <p:spPr>
          <a:xfrm>
            <a:off x="731520" y="128016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Category: Business</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Red Mesa Farms relationship:</a:t>
            </a:r>
            <a:r>
              <a:rPr lang="en-US" sz="3000" dirty="0"/>
              <a:t> </a:t>
            </a:r>
            <a:r>
              <a:rPr lang="en-US" sz="3000" dirty="0">
                <a:solidFill>
                  <a:srgbClr val="FFFFFF"/>
                </a:solidFill>
                <a:latin typeface="Arial" pitchFamily="34" charset="0"/>
                <a:ea typeface="Arial" pitchFamily="34" charset="-122"/>
                <a:cs typeface="Arial" pitchFamily="34" charset="-120"/>
              </a:rPr>
              <a:t>no NDA, shared Dropbox link</a:t>
            </a:r>
            <a:endParaRPr lang="en-US" sz="3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29</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Finding 5: R&amp;D Notes</a:t>
            </a:r>
            <a:endParaRPr lang="en-US" sz="4400" dirty="0"/>
          </a:p>
        </p:txBody>
      </p:sp>
      <p:sp>
        <p:nvSpPr>
          <p:cNvPr id="4" name="Text 2"/>
          <p:cNvSpPr/>
          <p:nvPr/>
        </p:nvSpPr>
        <p:spPr>
          <a:xfrm>
            <a:off x="731520" y="1280160"/>
            <a:ext cx="6795553" cy="1837721"/>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Category: Hybrid</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Recipe variations + failed experiments</a:t>
            </a:r>
            <a:r>
              <a:rPr lang="en-US" sz="3000" dirty="0"/>
              <a:t> </a:t>
            </a:r>
            <a:r>
              <a:rPr lang="en-US" sz="3000" dirty="0">
                <a:solidFill>
                  <a:srgbClr val="FFFFFF"/>
                </a:solidFill>
                <a:latin typeface="Arial" pitchFamily="34" charset="0"/>
                <a:ea typeface="Arial" pitchFamily="34" charset="-122"/>
                <a:cs typeface="Arial" pitchFamily="34" charset="-120"/>
              </a:rPr>
              <a:t>= negative know-how</a:t>
            </a:r>
            <a:endParaRPr lang="en-US" sz="3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3255"/>
        </a:solidFill>
        <a:effectLst/>
      </p:bgPr>
    </p:bg>
    <p:spTree>
      <p:nvGrpSpPr>
        <p:cNvPr id="1" name=""/>
        <p:cNvGrpSpPr/>
        <p:nvPr/>
      </p:nvGrpSpPr>
      <p:grpSpPr>
        <a:xfrm>
          <a:off x="0" y="0"/>
          <a:ext cx="0" cy="0"/>
          <a:chOff x="0" y="0"/>
          <a:chExt cx="0" cy="0"/>
        </a:xfrm>
      </p:grpSpPr>
      <p:sp>
        <p:nvSpPr>
          <p:cNvPr id="5" name="Text 3"/>
          <p:cNvSpPr/>
          <p:nvPr/>
        </p:nvSpPr>
        <p:spPr>
          <a:xfrm>
            <a:off x="3728968" y="182880"/>
            <a:ext cx="1686064" cy="548640"/>
          </a:xfrm>
          <a:prstGeom prst="rect">
            <a:avLst/>
          </a:prstGeom>
          <a:noFill/>
          <a:ln/>
        </p:spPr>
        <p:txBody>
          <a:bodyPr wrap="square" rtlCol="0" anchor="ctr"/>
          <a:lstStyle/>
          <a:p>
            <a:pPr marL="0" indent="0" algn="l">
              <a:buNone/>
            </a:pPr>
            <a:r>
              <a:rPr lang="en-US" sz="2200" b="1" dirty="0">
                <a:solidFill>
                  <a:srgbClr val="C00000"/>
                </a:solidFill>
                <a:latin typeface="Arial" pitchFamily="34" charset="0"/>
                <a:ea typeface="Arial" pitchFamily="34" charset="-122"/>
                <a:cs typeface="Arial" pitchFamily="34" charset="-120"/>
              </a:rPr>
              <a:t>KEY ISSUE</a:t>
            </a:r>
            <a:endParaRPr lang="en-US" sz="2200" dirty="0">
              <a:solidFill>
                <a:srgbClr val="C00000"/>
              </a:solidFill>
            </a:endParaRPr>
          </a:p>
        </p:txBody>
      </p:sp>
      <p:sp>
        <p:nvSpPr>
          <p:cNvPr id="6" name="Text 4"/>
          <p:cNvSpPr/>
          <p:nvPr/>
        </p:nvSpPr>
        <p:spPr>
          <a:xfrm>
            <a:off x="1280160" y="594360"/>
            <a:ext cx="6583680" cy="640080"/>
          </a:xfrm>
          <a:prstGeom prst="rect">
            <a:avLst/>
          </a:prstGeom>
          <a:noFill/>
          <a:ln/>
        </p:spPr>
        <p:txBody>
          <a:bodyPr wrap="square" rtlCol="0" anchor="ctr"/>
          <a:lstStyle/>
          <a:p>
            <a:pPr marL="0" indent="0" algn="l">
              <a:buNone/>
            </a:pPr>
            <a:r>
              <a:rPr lang="en-US" sz="3400" b="1" dirty="0">
                <a:solidFill>
                  <a:srgbClr val="FFFFFF"/>
                </a:solidFill>
                <a:latin typeface="Arial" pitchFamily="34" charset="0"/>
                <a:ea typeface="Arial" pitchFamily="34" charset="-122"/>
                <a:cs typeface="Arial" pitchFamily="34" charset="-120"/>
              </a:rPr>
              <a:t>Miguel's Personal Notebooks</a:t>
            </a:r>
            <a:endParaRPr lang="en-US" sz="3400" dirty="0"/>
          </a:p>
        </p:txBody>
      </p:sp>
      <p:sp>
        <p:nvSpPr>
          <p:cNvPr id="7" name="Text 5"/>
          <p:cNvSpPr/>
          <p:nvPr/>
        </p:nvSpPr>
        <p:spPr>
          <a:xfrm>
            <a:off x="1280160" y="1645920"/>
            <a:ext cx="6583680" cy="1097280"/>
          </a:xfrm>
          <a:prstGeom prst="rect">
            <a:avLst/>
          </a:prstGeom>
          <a:noFill/>
          <a:ln/>
        </p:spPr>
        <p:txBody>
          <a:bodyPr wrap="square" rtlCol="0" anchor="t"/>
          <a:lstStyle/>
          <a:p>
            <a:pPr marL="0" indent="0" algn="l">
              <a:buNone/>
            </a:pPr>
            <a:r>
              <a:rPr lang="en-US" sz="2600" dirty="0">
                <a:solidFill>
                  <a:srgbClr val="FFFFFF"/>
                </a:solidFill>
                <a:latin typeface="Arial" pitchFamily="34" charset="0"/>
                <a:ea typeface="Arial" pitchFamily="34" charset="-122"/>
                <a:cs typeface="Arial" pitchFamily="34" charset="-120"/>
              </a:rPr>
              <a:t>Personal property? Company property?</a:t>
            </a:r>
            <a:endParaRPr lang="en-US" sz="2600" dirty="0"/>
          </a:p>
          <a:p>
            <a:pPr marL="0" indent="0" algn="l">
              <a:buNone/>
            </a:pPr>
            <a:r>
              <a:rPr lang="en-US" sz="2600" dirty="0">
                <a:solidFill>
                  <a:srgbClr val="FFFFFF"/>
                </a:solidFill>
                <a:latin typeface="Arial" pitchFamily="34" charset="0"/>
                <a:ea typeface="Arial" pitchFamily="34" charset="-122"/>
                <a:cs typeface="Arial" pitchFamily="34" charset="-120"/>
              </a:rPr>
              <a:t>Commingled personal and business data</a:t>
            </a:r>
            <a:endParaRPr lang="en-US" sz="2600" dirty="0"/>
          </a:p>
        </p:txBody>
      </p:sp>
      <p:sp>
        <p:nvSpPr>
          <p:cNvPr id="8" name="Rectangle 7">
            <a:extLst>
              <a:ext uri="{FF2B5EF4-FFF2-40B4-BE49-F238E27FC236}">
                <a16:creationId xmlns:a16="http://schemas.microsoft.com/office/drawing/2014/main" id="{365199F2-6EAB-CCE5-D9FF-11349CDCB4F7}"/>
              </a:ext>
            </a:extLst>
          </p:cNvPr>
          <p:cNvSpPr/>
          <p:nvPr/>
        </p:nvSpPr>
        <p:spPr>
          <a:xfrm>
            <a:off x="8678848" y="0"/>
            <a:ext cx="465152" cy="514350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31</a:t>
            </a:r>
            <a:endParaRPr lang="en-US" sz="1000" dirty="0"/>
          </a:p>
        </p:txBody>
      </p:sp>
      <p:sp>
        <p:nvSpPr>
          <p:cNvPr id="3" name="Shape 1"/>
          <p:cNvSpPr/>
          <p:nvPr/>
        </p:nvSpPr>
        <p:spPr>
          <a:xfrm>
            <a:off x="1371600" y="2141034"/>
            <a:ext cx="6400800" cy="0"/>
          </a:xfrm>
          <a:prstGeom prst="line">
            <a:avLst/>
          </a:prstGeom>
          <a:noFill/>
          <a:ln w="25400">
            <a:solidFill>
              <a:srgbClr val="FFFFFF"/>
            </a:solidFill>
            <a:prstDash val="solid"/>
          </a:ln>
        </p:spPr>
        <p:txBody>
          <a:bodyPr/>
          <a:lstStyle/>
          <a:p>
            <a:endParaRPr lang="en-US"/>
          </a:p>
        </p:txBody>
      </p:sp>
      <p:sp>
        <p:nvSpPr>
          <p:cNvPr id="4" name="Text 2"/>
          <p:cNvSpPr/>
          <p:nvPr/>
        </p:nvSpPr>
        <p:spPr>
          <a:xfrm>
            <a:off x="731520" y="2011680"/>
            <a:ext cx="7680960" cy="1097280"/>
          </a:xfrm>
          <a:prstGeom prst="rect">
            <a:avLst/>
          </a:prstGeom>
          <a:noFill/>
          <a:ln/>
        </p:spPr>
        <p:txBody>
          <a:bodyPr wrap="square"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PRIORITY ASSIGNMENT</a:t>
            </a:r>
            <a:endParaRPr lang="en-US" sz="4000" dirty="0"/>
          </a:p>
        </p:txBody>
      </p:sp>
      <p:sp>
        <p:nvSpPr>
          <p:cNvPr id="5" name="Shape 3"/>
          <p:cNvSpPr/>
          <p:nvPr/>
        </p:nvSpPr>
        <p:spPr>
          <a:xfrm>
            <a:off x="1371600" y="2955074"/>
            <a:ext cx="6400800" cy="0"/>
          </a:xfrm>
          <a:prstGeom prst="line">
            <a:avLst/>
          </a:prstGeom>
          <a:noFill/>
          <a:ln w="25400">
            <a:solidFill>
              <a:srgbClr val="FFFFFF"/>
            </a:solidFill>
            <a:prstDash val="solid"/>
          </a:ln>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32</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Priority: High, Medium, Low</a:t>
            </a:r>
            <a:endParaRPr lang="en-US" sz="4400" dirty="0"/>
          </a:p>
        </p:txBody>
      </p:sp>
      <p:sp>
        <p:nvSpPr>
          <p:cNvPr id="4" name="Text 2"/>
          <p:cNvSpPr/>
          <p:nvPr/>
        </p:nvSpPr>
        <p:spPr>
          <a:xfrm>
            <a:off x="731520" y="128016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Based on economic value,</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vulnerability, and replaceability</a:t>
            </a:r>
            <a:endParaRPr lang="en-US" sz="3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33</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Ferment-X: High Priority</a:t>
            </a:r>
            <a:endParaRPr lang="en-US" sz="4400" dirty="0"/>
          </a:p>
        </p:txBody>
      </p:sp>
      <p:sp>
        <p:nvSpPr>
          <p:cNvPr id="4" name="Text 2"/>
          <p:cNvSpPr/>
          <p:nvPr/>
        </p:nvSpPr>
        <p:spPr>
          <a:xfrm>
            <a:off x="731520" y="1280160"/>
            <a:ext cx="7680960" cy="1645920"/>
          </a:xfrm>
          <a:prstGeom prst="rect">
            <a:avLst/>
          </a:prstGeom>
          <a:noFill/>
          <a:ln/>
        </p:spPr>
        <p:txBody>
          <a:bodyPr wrap="square" rtlCol="0" anchor="t"/>
          <a:lstStyle/>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Core competitive advantage</a:t>
            </a:r>
            <a:endParaRPr lang="en-US" sz="3000" dirty="0"/>
          </a:p>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Years to recreate, supports $850K revenue</a:t>
            </a:r>
            <a:endParaRPr lang="en-US" sz="3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34</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Customer List: Medium Priority</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Accounts partially ascertainable</a:t>
            </a:r>
            <a:r>
              <a:rPr lang="en-US" sz="3000" dirty="0">
                <a:solidFill>
                  <a:schemeClr val="bg1"/>
                </a:solidFill>
                <a:latin typeface="Arial" panose="020B0604020202020204" pitchFamily="34" charset="0"/>
                <a:cs typeface="Arial" panose="020B0604020202020204" pitchFamily="34" charset="0"/>
              </a:rPr>
              <a:t>, b</a:t>
            </a:r>
            <a:r>
              <a:rPr lang="en-US" sz="3000" dirty="0">
                <a:solidFill>
                  <a:srgbClr val="FFFFFF"/>
                </a:solidFill>
                <a:latin typeface="Arial" pitchFamily="34" charset="0"/>
                <a:ea typeface="Arial" pitchFamily="34" charset="-122"/>
                <a:cs typeface="Arial" pitchFamily="34" charset="-120"/>
              </a:rPr>
              <a:t>ut compiled relationship data is not</a:t>
            </a:r>
            <a:endParaRPr lang="en-US" sz="3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36</a:t>
            </a:r>
            <a:endParaRPr lang="en-US" sz="1000" dirty="0"/>
          </a:p>
        </p:txBody>
      </p:sp>
      <p:sp>
        <p:nvSpPr>
          <p:cNvPr id="3" name="Shape 1"/>
          <p:cNvSpPr/>
          <p:nvPr/>
        </p:nvSpPr>
        <p:spPr>
          <a:xfrm>
            <a:off x="1371600" y="2141034"/>
            <a:ext cx="6400800" cy="0"/>
          </a:xfrm>
          <a:prstGeom prst="line">
            <a:avLst/>
          </a:prstGeom>
          <a:noFill/>
          <a:ln w="25400">
            <a:solidFill>
              <a:srgbClr val="FFFFFF"/>
            </a:solidFill>
            <a:prstDash val="solid"/>
          </a:ln>
        </p:spPr>
        <p:txBody>
          <a:bodyPr/>
          <a:lstStyle/>
          <a:p>
            <a:endParaRPr lang="en-US"/>
          </a:p>
        </p:txBody>
      </p:sp>
      <p:sp>
        <p:nvSpPr>
          <p:cNvPr id="4" name="Text 2"/>
          <p:cNvSpPr/>
          <p:nvPr/>
        </p:nvSpPr>
        <p:spPr>
          <a:xfrm>
            <a:off x="731520" y="2011680"/>
            <a:ext cx="7680960" cy="109728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SESSION 4</a:t>
            </a:r>
            <a:endParaRPr lang="en-US" sz="4400" dirty="0"/>
          </a:p>
        </p:txBody>
      </p:sp>
      <p:sp>
        <p:nvSpPr>
          <p:cNvPr id="5" name="Shape 3"/>
          <p:cNvSpPr/>
          <p:nvPr/>
        </p:nvSpPr>
        <p:spPr>
          <a:xfrm>
            <a:off x="1371600" y="2932771"/>
            <a:ext cx="6400800" cy="0"/>
          </a:xfrm>
          <a:prstGeom prst="line">
            <a:avLst/>
          </a:prstGeom>
          <a:noFill/>
          <a:ln w="25400">
            <a:solidFill>
              <a:srgbClr val="FFFFFF"/>
            </a:solidFill>
            <a:prstDash val="solid"/>
          </a:ln>
        </p:spPr>
        <p:txBody>
          <a:bodyPr/>
          <a:lstStyle/>
          <a:p>
            <a:endParaRPr lang="en-US"/>
          </a:p>
        </p:txBody>
      </p:sp>
      <p:sp>
        <p:nvSpPr>
          <p:cNvPr id="6" name="Text 4"/>
          <p:cNvSpPr/>
          <p:nvPr/>
        </p:nvSpPr>
        <p:spPr>
          <a:xfrm>
            <a:off x="731520" y="3108960"/>
            <a:ext cx="7680960" cy="274321"/>
          </a:xfrm>
          <a:prstGeom prst="rect">
            <a:avLst/>
          </a:prstGeom>
          <a:noFill/>
          <a:ln/>
        </p:spPr>
        <p:txBody>
          <a:bodyPr wrap="square" rtlCol="0" anchor="ctr"/>
          <a:lstStyle/>
          <a:p>
            <a:pPr marL="0" indent="0" algn="ctr">
              <a:buNone/>
            </a:pPr>
            <a:r>
              <a:rPr lang="en-US" sz="2400" dirty="0">
                <a:solidFill>
                  <a:srgbClr val="FFD65C"/>
                </a:solidFill>
                <a:latin typeface="Arial" pitchFamily="34" charset="0"/>
                <a:ea typeface="Arial" pitchFamily="34" charset="-122"/>
                <a:cs typeface="Arial" pitchFamily="34" charset="-120"/>
              </a:rPr>
              <a:t>Specificity, Refinement, and the Inventory</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093255"/>
        </a:solidFill>
        <a:effectLst/>
      </p:bgPr>
    </p:bg>
    <p:spTree>
      <p:nvGrpSpPr>
        <p:cNvPr id="1" name=""/>
        <p:cNvGrpSpPr/>
        <p:nvPr/>
      </p:nvGrpSpPr>
      <p:grpSpPr>
        <a:xfrm>
          <a:off x="0" y="0"/>
          <a:ext cx="0" cy="0"/>
          <a:chOff x="0" y="0"/>
          <a:chExt cx="0" cy="0"/>
        </a:xfrm>
      </p:grpSpPr>
      <p:sp>
        <p:nvSpPr>
          <p:cNvPr id="3" name="Text 1"/>
          <p:cNvSpPr/>
          <p:nvPr/>
        </p:nvSpPr>
        <p:spPr>
          <a:xfrm>
            <a:off x="2740970" y="178420"/>
            <a:ext cx="3662060" cy="640080"/>
          </a:xfrm>
          <a:prstGeom prst="rect">
            <a:avLst/>
          </a:prstGeom>
          <a:noFill/>
          <a:ln/>
        </p:spPr>
        <p:txBody>
          <a:bodyPr wrap="square" rtlCol="0" anchor="ctr"/>
          <a:lstStyle/>
          <a:p>
            <a:pPr marL="0" indent="0" algn="l">
              <a:buNone/>
            </a:pPr>
            <a:r>
              <a:rPr lang="en-US" sz="4400" b="1" dirty="0">
                <a:solidFill>
                  <a:srgbClr val="FFD65C"/>
                </a:solidFill>
                <a:latin typeface="Arial" pitchFamily="34" charset="0"/>
                <a:ea typeface="Arial" pitchFamily="34" charset="-122"/>
                <a:cs typeface="Arial" pitchFamily="34" charset="-120"/>
              </a:rPr>
              <a:t>Quick Check</a:t>
            </a:r>
            <a:endParaRPr lang="en-US" sz="4400" dirty="0"/>
          </a:p>
        </p:txBody>
      </p:sp>
      <p:sp>
        <p:nvSpPr>
          <p:cNvPr id="4" name="Text 2"/>
          <p:cNvSpPr/>
          <p:nvPr/>
        </p:nvSpPr>
        <p:spPr>
          <a:xfrm>
            <a:off x="731520" y="1280160"/>
            <a:ext cx="7680960" cy="2286000"/>
          </a:xfrm>
          <a:prstGeom prst="rect">
            <a:avLst/>
          </a:prstGeom>
          <a:noFill/>
          <a:ln/>
        </p:spPr>
        <p:txBody>
          <a:bodyPr wrap="square" rtlCol="0" anchor="t"/>
          <a:lstStyle/>
          <a:p>
            <a:pPr marL="0" indent="0" algn="l">
              <a:lnSpc>
                <a:spcPct val="120000"/>
              </a:lnSpc>
              <a:buNone/>
            </a:pPr>
            <a:r>
              <a:rPr lang="en-US" sz="3800" b="1" dirty="0">
                <a:solidFill>
                  <a:srgbClr val="FFFFFF"/>
                </a:solidFill>
                <a:latin typeface="Arial" pitchFamily="34" charset="0"/>
                <a:ea typeface="Arial" pitchFamily="34" charset="-122"/>
                <a:cs typeface="Arial" pitchFamily="34" charset="-120"/>
              </a:rPr>
              <a:t>What are the three functions</a:t>
            </a:r>
            <a:endParaRPr lang="en-US" sz="3800" dirty="0"/>
          </a:p>
          <a:p>
            <a:pPr marL="0" indent="0" algn="l">
              <a:lnSpc>
                <a:spcPct val="120000"/>
              </a:lnSpc>
              <a:buNone/>
            </a:pPr>
            <a:r>
              <a:rPr lang="en-US" sz="3800" b="1" dirty="0">
                <a:solidFill>
                  <a:srgbClr val="FFFFFF"/>
                </a:solidFill>
                <a:latin typeface="Arial" pitchFamily="34" charset="0"/>
                <a:ea typeface="Arial" pitchFamily="34" charset="-122"/>
                <a:cs typeface="Arial" pitchFamily="34" charset="-120"/>
              </a:rPr>
              <a:t>of a trade secret inventory?</a:t>
            </a:r>
            <a:endParaRPr lang="en-US" sz="3800" dirty="0"/>
          </a:p>
        </p:txBody>
      </p:sp>
      <p:sp>
        <p:nvSpPr>
          <p:cNvPr id="5" name="Rectangle 4">
            <a:extLst>
              <a:ext uri="{FF2B5EF4-FFF2-40B4-BE49-F238E27FC236}">
                <a16:creationId xmlns:a16="http://schemas.microsoft.com/office/drawing/2014/main" id="{7C0CB4BF-DC19-35C6-3D91-6E707D9EDDE3}"/>
              </a:ext>
            </a:extLst>
          </p:cNvPr>
          <p:cNvSpPr/>
          <p:nvPr/>
        </p:nvSpPr>
        <p:spPr>
          <a:xfrm>
            <a:off x="8678848" y="0"/>
            <a:ext cx="465152" cy="5143500"/>
          </a:xfrm>
          <a:prstGeom prst="rect">
            <a:avLst/>
          </a:prstGeom>
          <a:solidFill>
            <a:schemeClr val="accent2">
              <a:lumMod val="60000"/>
              <a:lumOff val="4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37</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09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38</a:t>
            </a:r>
            <a:endParaRPr lang="en-US" sz="1000" dirty="0"/>
          </a:p>
        </p:txBody>
      </p:sp>
      <p:sp>
        <p:nvSpPr>
          <p:cNvPr id="3" name="Text 1"/>
          <p:cNvSpPr/>
          <p:nvPr/>
        </p:nvSpPr>
        <p:spPr>
          <a:xfrm>
            <a:off x="731520" y="914400"/>
            <a:ext cx="7680960" cy="2926080"/>
          </a:xfrm>
          <a:prstGeom prst="rect">
            <a:avLst/>
          </a:prstGeom>
          <a:noFill/>
          <a:ln/>
        </p:spPr>
        <p:txBody>
          <a:bodyPr wrap="square" rtlCol="0" anchor="t"/>
          <a:lstStyle/>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1. Evidence for litigation</a:t>
            </a:r>
            <a:endParaRPr lang="en-US" sz="3600" dirty="0"/>
          </a:p>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2. Resource allocation</a:t>
            </a:r>
            <a:endParaRPr lang="en-US" sz="3600" dirty="0"/>
          </a:p>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3. Institutional knowledge</a:t>
            </a:r>
            <a:endParaRPr lang="en-US" sz="3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39</a:t>
            </a:r>
            <a:endParaRPr lang="en-US" sz="1000" dirty="0"/>
          </a:p>
        </p:txBody>
      </p:sp>
      <p:sp>
        <p:nvSpPr>
          <p:cNvPr id="3" name="Shape 1"/>
          <p:cNvSpPr/>
          <p:nvPr/>
        </p:nvSpPr>
        <p:spPr>
          <a:xfrm>
            <a:off x="1371600" y="1828800"/>
            <a:ext cx="6400800" cy="0"/>
          </a:xfrm>
          <a:prstGeom prst="line">
            <a:avLst/>
          </a:prstGeom>
          <a:noFill/>
          <a:ln w="25400">
            <a:solidFill>
              <a:srgbClr val="FFFFFF"/>
            </a:solidFill>
            <a:prstDash val="solid"/>
          </a:ln>
        </p:spPr>
        <p:txBody>
          <a:bodyPr/>
          <a:lstStyle/>
          <a:p>
            <a:endParaRPr lang="en-US"/>
          </a:p>
        </p:txBody>
      </p:sp>
      <p:sp>
        <p:nvSpPr>
          <p:cNvPr id="4" name="Text 2"/>
          <p:cNvSpPr/>
          <p:nvPr/>
        </p:nvSpPr>
        <p:spPr>
          <a:xfrm>
            <a:off x="731520" y="2011680"/>
            <a:ext cx="7680960" cy="109728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THE SPECIFICITY REQUIREMENT</a:t>
            </a:r>
            <a:endParaRPr lang="en-US" sz="4400" dirty="0"/>
          </a:p>
        </p:txBody>
      </p:sp>
      <p:sp>
        <p:nvSpPr>
          <p:cNvPr id="5" name="Shape 3"/>
          <p:cNvSpPr/>
          <p:nvPr/>
        </p:nvSpPr>
        <p:spPr>
          <a:xfrm>
            <a:off x="1371600" y="3245005"/>
            <a:ext cx="6400800" cy="0"/>
          </a:xfrm>
          <a:prstGeom prst="line">
            <a:avLst/>
          </a:prstGeom>
          <a:noFill/>
          <a:ln w="25400">
            <a:solidFill>
              <a:srgbClr val="FFFFFF"/>
            </a:solidFill>
            <a:prstDash val="solid"/>
          </a:ln>
        </p:spPr>
        <p:txBody>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40</a:t>
            </a:r>
            <a:endParaRPr lang="en-US" sz="1000" dirty="0"/>
          </a:p>
        </p:txBody>
      </p:sp>
      <p:sp>
        <p:nvSpPr>
          <p:cNvPr id="3" name="Text 1"/>
          <p:cNvSpPr/>
          <p:nvPr/>
        </p:nvSpPr>
        <p:spPr>
          <a:xfrm>
            <a:off x="308889" y="182880"/>
            <a:ext cx="8526222" cy="1208792"/>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InteliClear v. ETC Global </a:t>
            </a:r>
          </a:p>
          <a:p>
            <a:pPr marL="0" indent="0" algn="ctr">
              <a:buNone/>
            </a:pPr>
            <a:r>
              <a:rPr lang="en-US" sz="4400" b="1" dirty="0">
                <a:solidFill>
                  <a:srgbClr val="FFD65C"/>
                </a:solidFill>
                <a:latin typeface="Arial" pitchFamily="34" charset="0"/>
                <a:ea typeface="Arial" pitchFamily="34" charset="-122"/>
                <a:cs typeface="Arial" pitchFamily="34" charset="-120"/>
              </a:rPr>
              <a:t>(2020)</a:t>
            </a:r>
            <a:endParaRPr lang="en-US" sz="4400" dirty="0"/>
          </a:p>
        </p:txBody>
      </p:sp>
      <p:sp>
        <p:nvSpPr>
          <p:cNvPr id="4" name="Text 2"/>
          <p:cNvSpPr/>
          <p:nvPr/>
        </p:nvSpPr>
        <p:spPr>
          <a:xfrm>
            <a:off x="731520" y="1828800"/>
            <a:ext cx="7680960" cy="146750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978 F.3d 653 (9th Cir.)</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Securities tracking database system</a:t>
            </a:r>
            <a:endParaRPr lang="en-US" sz="3000" dirty="0"/>
          </a:p>
        </p:txBody>
      </p:sp>
      <p:sp>
        <p:nvSpPr>
          <p:cNvPr id="5" name="Rectangle 4">
            <a:extLst>
              <a:ext uri="{FF2B5EF4-FFF2-40B4-BE49-F238E27FC236}">
                <a16:creationId xmlns:a16="http://schemas.microsoft.com/office/drawing/2014/main" id="{8AA2D2B2-8F83-F46E-0FBF-EC30B4EFCF35}"/>
              </a:ext>
            </a:extLst>
          </p:cNvPr>
          <p:cNvSpPr/>
          <p:nvPr/>
        </p:nvSpPr>
        <p:spPr>
          <a:xfrm>
            <a:off x="8678848" y="0"/>
            <a:ext cx="465152" cy="5143500"/>
          </a:xfrm>
          <a:prstGeom prst="rect">
            <a:avLst/>
          </a:prstGeom>
          <a:solidFill>
            <a:srgbClr val="FFD75B"/>
          </a:solidFill>
          <a:ln>
            <a:solidFill>
              <a:srgbClr val="FFD7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0A3255"/>
        </a:solidFill>
        <a:effectLst/>
      </p:bgPr>
    </p:bg>
    <p:spTree>
      <p:nvGrpSpPr>
        <p:cNvPr id="1" name=""/>
        <p:cNvGrpSpPr/>
        <p:nvPr/>
      </p:nvGrpSpPr>
      <p:grpSpPr>
        <a:xfrm>
          <a:off x="0" y="0"/>
          <a:ext cx="0" cy="0"/>
          <a:chOff x="0" y="0"/>
          <a:chExt cx="0" cy="0"/>
        </a:xfrm>
      </p:grpSpPr>
      <p:sp>
        <p:nvSpPr>
          <p:cNvPr id="3" name="Text 1"/>
          <p:cNvSpPr/>
          <p:nvPr/>
        </p:nvSpPr>
        <p:spPr>
          <a:xfrm>
            <a:off x="731520" y="182880"/>
            <a:ext cx="7680960" cy="1289081"/>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InteliClear v. ETC Global (2020)</a:t>
            </a:r>
            <a:endParaRPr lang="en-US" sz="4400" dirty="0"/>
          </a:p>
        </p:txBody>
      </p:sp>
      <p:sp>
        <p:nvSpPr>
          <p:cNvPr id="4" name="Text 2"/>
          <p:cNvSpPr/>
          <p:nvPr/>
        </p:nvSpPr>
        <p:spPr>
          <a:xfrm>
            <a:off x="731520" y="1828800"/>
            <a:ext cx="7680960" cy="2194560"/>
          </a:xfrm>
          <a:prstGeom prst="rect">
            <a:avLst/>
          </a:prstGeom>
          <a:noFill/>
          <a:ln/>
        </p:spPr>
        <p:txBody>
          <a:bodyPr wrap="square" rtlCol="0" anchor="t"/>
          <a:lstStyle/>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Licensed system to ETC under NDA</a:t>
            </a:r>
            <a:endParaRPr lang="en-US" sz="3000" dirty="0"/>
          </a:p>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ETC terminated, then launched its own</a:t>
            </a:r>
            <a:endParaRPr lang="en-US" sz="3000" dirty="0"/>
          </a:p>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suspiciously similar system</a:t>
            </a:r>
            <a:endParaRPr lang="en-US" sz="3000" dirty="0"/>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41</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42</a:t>
            </a:r>
            <a:endParaRPr lang="en-US" sz="1000" dirty="0"/>
          </a:p>
        </p:txBody>
      </p:sp>
      <p:sp>
        <p:nvSpPr>
          <p:cNvPr id="3" name="Text 1"/>
          <p:cNvSpPr/>
          <p:nvPr/>
        </p:nvSpPr>
        <p:spPr>
          <a:xfrm>
            <a:off x="731520" y="182880"/>
            <a:ext cx="7680960" cy="1338146"/>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InteliClear v. ETC Global (2020)</a:t>
            </a:r>
            <a:endParaRPr lang="en-US" sz="4400" dirty="0"/>
          </a:p>
        </p:txBody>
      </p:sp>
      <p:sp>
        <p:nvSpPr>
          <p:cNvPr id="4" name="Text 2"/>
          <p:cNvSpPr/>
          <p:nvPr/>
        </p:nvSpPr>
        <p:spPr>
          <a:xfrm>
            <a:off x="731520" y="1828800"/>
            <a:ext cx="7680960" cy="219456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Forensic expert: 'abundant evidence'</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of structural copying between systems</a:t>
            </a:r>
            <a:endParaRPr lang="en-US" sz="3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43</a:t>
            </a:r>
            <a:endParaRPr lang="en-US" sz="1000" dirty="0"/>
          </a:p>
        </p:txBody>
      </p:sp>
      <p:sp>
        <p:nvSpPr>
          <p:cNvPr id="3" name="Text 1"/>
          <p:cNvSpPr/>
          <p:nvPr/>
        </p:nvSpPr>
        <p:spPr>
          <a:xfrm>
            <a:off x="3755730" y="182880"/>
            <a:ext cx="1632539" cy="731520"/>
          </a:xfrm>
          <a:prstGeom prst="rect">
            <a:avLst/>
          </a:prstGeom>
          <a:noFill/>
          <a:ln/>
        </p:spPr>
        <p:txBody>
          <a:bodyPr wrap="square" rtlCol="0" anchor="ctr"/>
          <a:lstStyle/>
          <a:p>
            <a:pPr marL="0" indent="0" algn="ctr">
              <a:buNone/>
            </a:pPr>
            <a:r>
              <a:rPr lang="en-US" sz="4000" b="1" dirty="0">
                <a:solidFill>
                  <a:schemeClr val="bg1">
                    <a:lumMod val="95000"/>
                  </a:schemeClr>
                </a:solidFill>
                <a:latin typeface="Arial" pitchFamily="34" charset="0"/>
                <a:ea typeface="Arial" pitchFamily="34" charset="-122"/>
                <a:cs typeface="Arial" pitchFamily="34" charset="-120"/>
              </a:rPr>
              <a:t>Issue</a:t>
            </a:r>
            <a:endParaRPr lang="en-US" sz="4000" dirty="0">
              <a:solidFill>
                <a:schemeClr val="bg1">
                  <a:lumMod val="95000"/>
                </a:schemeClr>
              </a:solidFill>
            </a:endParaRPr>
          </a:p>
        </p:txBody>
      </p:sp>
      <p:sp>
        <p:nvSpPr>
          <p:cNvPr id="4" name="Text 2"/>
          <p:cNvSpPr/>
          <p:nvPr/>
        </p:nvSpPr>
        <p:spPr>
          <a:xfrm>
            <a:off x="731520" y="1280160"/>
            <a:ext cx="7680960" cy="2194560"/>
          </a:xfrm>
          <a:prstGeom prst="rect">
            <a:avLst/>
          </a:prstGeom>
          <a:noFill/>
          <a:ln/>
        </p:spPr>
        <p:txBody>
          <a:bodyPr wrap="square" rtlCol="0" anchor="t"/>
          <a:lstStyle/>
          <a:p>
            <a:pPr marL="0" indent="0" algn="l">
              <a:lnSpc>
                <a:spcPct val="130000"/>
              </a:lnSpc>
              <a:buNone/>
            </a:pPr>
            <a:r>
              <a:rPr lang="en-US" sz="3400" dirty="0">
                <a:solidFill>
                  <a:srgbClr val="FFFFFF"/>
                </a:solidFill>
                <a:latin typeface="Arial" pitchFamily="34" charset="0"/>
                <a:ea typeface="Arial" pitchFamily="34" charset="-122"/>
                <a:cs typeface="Arial" pitchFamily="34" charset="-120"/>
              </a:rPr>
              <a:t>Did InteliClear identify its trade</a:t>
            </a:r>
            <a:endParaRPr lang="en-US" sz="3400" dirty="0"/>
          </a:p>
          <a:p>
            <a:pPr marL="0" indent="0" algn="l">
              <a:lnSpc>
                <a:spcPct val="130000"/>
              </a:lnSpc>
              <a:buNone/>
            </a:pPr>
            <a:r>
              <a:rPr lang="en-US" sz="3400" dirty="0">
                <a:solidFill>
                  <a:srgbClr val="FFFFFF"/>
                </a:solidFill>
                <a:latin typeface="Arial" pitchFamily="34" charset="0"/>
                <a:ea typeface="Arial" pitchFamily="34" charset="-122"/>
                <a:cs typeface="Arial" pitchFamily="34" charset="-120"/>
              </a:rPr>
              <a:t>secrets with sufficient particularity?</a:t>
            </a:r>
            <a:endParaRPr lang="en-US" sz="3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44</a:t>
            </a:r>
            <a:endParaRPr lang="en-US" sz="1000" dirty="0"/>
          </a:p>
        </p:txBody>
      </p:sp>
      <p:sp>
        <p:nvSpPr>
          <p:cNvPr id="3" name="Text 1"/>
          <p:cNvSpPr/>
          <p:nvPr/>
        </p:nvSpPr>
        <p:spPr>
          <a:xfrm>
            <a:off x="731520" y="182880"/>
            <a:ext cx="7680960" cy="731520"/>
          </a:xfrm>
          <a:prstGeom prst="rect">
            <a:avLst/>
          </a:prstGeom>
          <a:noFill/>
          <a:ln/>
        </p:spPr>
        <p:txBody>
          <a:bodyPr wrap="square" rtlCol="0" anchor="ctr"/>
          <a:lstStyle/>
          <a:p>
            <a:pPr marL="0" indent="0" algn="ctr">
              <a:buNone/>
            </a:pPr>
            <a:r>
              <a:rPr lang="en-US" sz="4000" b="1" dirty="0">
                <a:solidFill>
                  <a:schemeClr val="bg1">
                    <a:lumMod val="95000"/>
                  </a:schemeClr>
                </a:solidFill>
                <a:latin typeface="Arial" pitchFamily="34" charset="0"/>
                <a:ea typeface="Arial" pitchFamily="34" charset="-122"/>
                <a:cs typeface="Arial" pitchFamily="34" charset="-120"/>
              </a:rPr>
              <a:t>Holding</a:t>
            </a:r>
            <a:endParaRPr lang="en-US" sz="4000" dirty="0">
              <a:solidFill>
                <a:schemeClr val="bg1">
                  <a:lumMod val="95000"/>
                </a:schemeClr>
              </a:solidFill>
            </a:endParaRPr>
          </a:p>
        </p:txBody>
      </p:sp>
      <p:sp>
        <p:nvSpPr>
          <p:cNvPr id="4" name="Text 2"/>
          <p:cNvSpPr/>
          <p:nvPr/>
        </p:nvSpPr>
        <p:spPr>
          <a:xfrm>
            <a:off x="731520" y="1280160"/>
            <a:ext cx="7680960" cy="2194560"/>
          </a:xfrm>
          <a:prstGeom prst="rect">
            <a:avLst/>
          </a:prstGeom>
          <a:noFill/>
          <a:ln/>
        </p:spPr>
        <p:txBody>
          <a:bodyPr wrap="square" rtlCol="0" anchor="t"/>
          <a:lstStyle/>
          <a:p>
            <a:pPr marL="0" indent="0" algn="l">
              <a:lnSpc>
                <a:spcPct val="130000"/>
              </a:lnSpc>
              <a:buNone/>
            </a:pPr>
            <a:r>
              <a:rPr lang="en-US" sz="3400" dirty="0">
                <a:solidFill>
                  <a:srgbClr val="FFFFFF"/>
                </a:solidFill>
                <a:latin typeface="Arial" pitchFamily="34" charset="0"/>
                <a:ea typeface="Arial" pitchFamily="34" charset="-122"/>
                <a:cs typeface="Arial" pitchFamily="34" charset="-120"/>
              </a:rPr>
              <a:t>Reversed — InteliClear's description</a:t>
            </a:r>
            <a:endParaRPr lang="en-US" sz="3400" dirty="0"/>
          </a:p>
          <a:p>
            <a:pPr marL="0" indent="0" algn="l">
              <a:lnSpc>
                <a:spcPct val="130000"/>
              </a:lnSpc>
              <a:buNone/>
            </a:pPr>
            <a:r>
              <a:rPr lang="en-US" sz="3400" dirty="0">
                <a:solidFill>
                  <a:srgbClr val="FFFFFF"/>
                </a:solidFill>
                <a:latin typeface="Arial" pitchFamily="34" charset="0"/>
                <a:ea typeface="Arial" pitchFamily="34" charset="-122"/>
                <a:cs typeface="Arial" pitchFamily="34" charset="-120"/>
              </a:rPr>
              <a:t>was sufficient at this stage</a:t>
            </a:r>
            <a:endParaRPr lang="en-US" sz="3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45</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InteliClear Lesson</a:t>
            </a:r>
            <a:endParaRPr lang="en-US" sz="4400" dirty="0"/>
          </a:p>
        </p:txBody>
      </p:sp>
      <p:sp>
        <p:nvSpPr>
          <p:cNvPr id="4" name="Text 2"/>
          <p:cNvSpPr/>
          <p:nvPr/>
        </p:nvSpPr>
        <p:spPr>
          <a:xfrm>
            <a:off x="731520" y="1276227"/>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Describe what's secret specifically enough</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without disclosing the secret itself</a:t>
            </a:r>
            <a:endParaRPr lang="en-US" sz="3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46</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Reasonable Particularity</a:t>
            </a:r>
            <a:endParaRPr lang="en-US" sz="4400" dirty="0"/>
          </a:p>
        </p:txBody>
      </p:sp>
      <p:sp>
        <p:nvSpPr>
          <p:cNvPr id="4" name="Text 2"/>
          <p:cNvSpPr/>
          <p:nvPr/>
        </p:nvSpPr>
        <p:spPr>
          <a:xfrm>
            <a:off x="731520" y="128016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The combination and interrelation</a:t>
            </a:r>
            <a:r>
              <a:rPr lang="en-US" sz="3000" dirty="0"/>
              <a:t> </a:t>
            </a:r>
            <a:r>
              <a:rPr lang="en-US" sz="3000" dirty="0">
                <a:solidFill>
                  <a:srgbClr val="FFFFFF"/>
                </a:solidFill>
                <a:latin typeface="Arial" pitchFamily="34" charset="0"/>
                <a:ea typeface="Arial" pitchFamily="34" charset="-122"/>
                <a:cs typeface="Arial" pitchFamily="34" charset="-120"/>
              </a:rPr>
              <a:t>of components was unique</a:t>
            </a:r>
            <a:endParaRPr lang="en-US" sz="3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0A3255"/>
        </a:solidFill>
        <a:effectLst/>
      </p:bgPr>
    </p:bg>
    <p:spTree>
      <p:nvGrpSpPr>
        <p:cNvPr id="1" name=""/>
        <p:cNvGrpSpPr/>
        <p:nvPr/>
      </p:nvGrpSpPr>
      <p:grpSpPr>
        <a:xfrm>
          <a:off x="0" y="0"/>
          <a:ext cx="0" cy="0"/>
          <a:chOff x="0" y="0"/>
          <a:chExt cx="0" cy="0"/>
        </a:xfrm>
      </p:grpSpPr>
      <p:sp>
        <p:nvSpPr>
          <p:cNvPr id="5" name="Text 3"/>
          <p:cNvSpPr/>
          <p:nvPr/>
        </p:nvSpPr>
        <p:spPr>
          <a:xfrm>
            <a:off x="1202101" y="182880"/>
            <a:ext cx="6583680" cy="548640"/>
          </a:xfrm>
          <a:prstGeom prst="rect">
            <a:avLst/>
          </a:prstGeom>
          <a:noFill/>
          <a:ln/>
        </p:spPr>
        <p:txBody>
          <a:bodyPr wrap="square" rtlCol="0" anchor="ctr"/>
          <a:lstStyle/>
          <a:p>
            <a:pPr marL="0" indent="0" algn="ctr">
              <a:buNone/>
            </a:pPr>
            <a:r>
              <a:rPr lang="en-US" sz="2200" b="1" dirty="0">
                <a:solidFill>
                  <a:srgbClr val="FF0000"/>
                </a:solidFill>
                <a:latin typeface="Arial" pitchFamily="34" charset="0"/>
                <a:ea typeface="Arial" pitchFamily="34" charset="-122"/>
                <a:cs typeface="Arial" pitchFamily="34" charset="-120"/>
              </a:rPr>
              <a:t>PRACTICE TIP</a:t>
            </a:r>
            <a:endParaRPr lang="en-US" sz="2200" dirty="0">
              <a:solidFill>
                <a:srgbClr val="FF0000"/>
              </a:solidFill>
            </a:endParaRPr>
          </a:p>
        </p:txBody>
      </p:sp>
      <p:sp>
        <p:nvSpPr>
          <p:cNvPr id="6" name="Text 4"/>
          <p:cNvSpPr/>
          <p:nvPr/>
        </p:nvSpPr>
        <p:spPr>
          <a:xfrm>
            <a:off x="1202101" y="731520"/>
            <a:ext cx="6583680" cy="640080"/>
          </a:xfrm>
          <a:prstGeom prst="rect">
            <a:avLst/>
          </a:prstGeom>
          <a:noFill/>
          <a:ln/>
        </p:spPr>
        <p:txBody>
          <a:bodyPr wrap="square"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Model Inventory Entry</a:t>
            </a:r>
            <a:endParaRPr lang="en-US" sz="3400" dirty="0"/>
          </a:p>
        </p:txBody>
      </p:sp>
      <p:sp>
        <p:nvSpPr>
          <p:cNvPr id="7" name="Text 5"/>
          <p:cNvSpPr/>
          <p:nvPr/>
        </p:nvSpPr>
        <p:spPr>
          <a:xfrm>
            <a:off x="1202101" y="1920240"/>
            <a:ext cx="6583680" cy="1097280"/>
          </a:xfrm>
          <a:prstGeom prst="rect">
            <a:avLst/>
          </a:prstGeom>
          <a:noFill/>
          <a:ln/>
        </p:spPr>
        <p:txBody>
          <a:bodyPr wrap="square" rtlCol="0" anchor="t"/>
          <a:lstStyle/>
          <a:p>
            <a:pPr marL="0" indent="0" algn="l">
              <a:buNone/>
            </a:pPr>
            <a:r>
              <a:rPr lang="en-US" sz="2600" dirty="0">
                <a:solidFill>
                  <a:srgbClr val="FFFFFF"/>
                </a:solidFill>
                <a:latin typeface="Arial" pitchFamily="34" charset="0"/>
                <a:ea typeface="Arial" pitchFamily="34" charset="-122"/>
                <a:cs typeface="Arial" pitchFamily="34" charset="-120"/>
              </a:rPr>
              <a:t>"The Ferment-X fermentation process,</a:t>
            </a:r>
            <a:endParaRPr lang="en-US" sz="2600" dirty="0"/>
          </a:p>
          <a:p>
            <a:pPr marL="0" indent="0" algn="l">
              <a:buNone/>
            </a:pPr>
            <a:r>
              <a:rPr lang="en-US" sz="2600" dirty="0">
                <a:solidFill>
                  <a:srgbClr val="FFFFFF"/>
                </a:solidFill>
                <a:latin typeface="Arial" pitchFamily="34" charset="0"/>
                <a:ea typeface="Arial" pitchFamily="34" charset="-122"/>
                <a:cs typeface="Arial" pitchFamily="34" charset="-120"/>
              </a:rPr>
              <a:t>including temperature protocols, timing</a:t>
            </a:r>
            <a:endParaRPr lang="en-US" sz="2600" dirty="0"/>
          </a:p>
          <a:p>
            <a:pPr marL="0" indent="0" algn="l">
              <a:buNone/>
            </a:pPr>
            <a:r>
              <a:rPr lang="en-US" sz="2600" dirty="0">
                <a:solidFill>
                  <a:srgbClr val="FFFFFF"/>
                </a:solidFill>
                <a:latin typeface="Arial" pitchFamily="34" charset="0"/>
                <a:ea typeface="Arial" pitchFamily="34" charset="-122"/>
                <a:cs typeface="Arial" pitchFamily="34" charset="-120"/>
              </a:rPr>
              <a:t>parameters, and starter culture specs"</a:t>
            </a:r>
            <a:endParaRPr lang="en-US" sz="2600" dirty="0"/>
          </a:p>
        </p:txBody>
      </p:sp>
      <p:sp>
        <p:nvSpPr>
          <p:cNvPr id="8" name="Rectangle 7">
            <a:extLst>
              <a:ext uri="{FF2B5EF4-FFF2-40B4-BE49-F238E27FC236}">
                <a16:creationId xmlns:a16="http://schemas.microsoft.com/office/drawing/2014/main" id="{9F2F7276-2BAA-CCB7-5938-34A3BCC0C3A5}"/>
              </a:ext>
            </a:extLst>
          </p:cNvPr>
          <p:cNvSpPr/>
          <p:nvPr/>
        </p:nvSpPr>
        <p:spPr>
          <a:xfrm>
            <a:off x="8678848" y="0"/>
            <a:ext cx="465152" cy="514350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47</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48</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Contrast: When Specificity Fails</a:t>
            </a:r>
            <a:endParaRPr lang="en-US" sz="4400" dirty="0"/>
          </a:p>
        </p:txBody>
      </p:sp>
      <p:sp>
        <p:nvSpPr>
          <p:cNvPr id="4" name="Text 2"/>
          <p:cNvSpPr/>
          <p:nvPr/>
        </p:nvSpPr>
        <p:spPr>
          <a:xfrm>
            <a:off x="731520" y="2011680"/>
            <a:ext cx="7680960" cy="1862230"/>
          </a:xfrm>
          <a:prstGeom prst="rect">
            <a:avLst/>
          </a:prstGeom>
          <a:noFill/>
          <a:ln/>
        </p:spPr>
        <p:txBody>
          <a:bodyPr wrap="square" rtlCol="0" anchor="t"/>
          <a:lstStyle/>
          <a:p>
            <a:pPr marL="0" indent="0" algn="l">
              <a:lnSpc>
                <a:spcPct val="130000"/>
              </a:lnSpc>
              <a:buNone/>
            </a:pPr>
            <a:r>
              <a:rPr lang="en-US" sz="3000" b="1" dirty="0">
                <a:solidFill>
                  <a:srgbClr val="FFD65C"/>
                </a:solidFill>
                <a:latin typeface="Arial" pitchFamily="34" charset="0"/>
                <a:ea typeface="Arial" pitchFamily="34" charset="-122"/>
                <a:cs typeface="Arial" pitchFamily="34" charset="-120"/>
              </a:rPr>
              <a:t>Convolve v. Compaq</a:t>
            </a:r>
            <a:r>
              <a:rPr lang="en-US" sz="3000" dirty="0">
                <a:solidFill>
                  <a:srgbClr val="FFD65C"/>
                </a:solidFill>
                <a:latin typeface="Arial" pitchFamily="34" charset="0"/>
                <a:ea typeface="Arial" pitchFamily="34" charset="-122"/>
                <a:cs typeface="Arial" pitchFamily="34" charset="-120"/>
              </a:rPr>
              <a:t> (2013)</a:t>
            </a:r>
            <a:endParaRPr lang="en-US" sz="3000" dirty="0">
              <a:solidFill>
                <a:srgbClr val="FFD65C"/>
              </a:solidFill>
            </a:endParaRPr>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Procedural failures in identification</a:t>
            </a:r>
            <a:r>
              <a:rPr lang="en-US" sz="3000" dirty="0"/>
              <a:t> </a:t>
            </a:r>
            <a:r>
              <a:rPr lang="en-US" sz="3000" dirty="0">
                <a:solidFill>
                  <a:srgbClr val="FFFFFF"/>
                </a:solidFill>
                <a:latin typeface="Arial" pitchFamily="34" charset="0"/>
                <a:ea typeface="Arial" pitchFamily="34" charset="-122"/>
                <a:cs typeface="Arial" pitchFamily="34" charset="-120"/>
              </a:rPr>
              <a:t>led to permanent loss of claims</a:t>
            </a:r>
            <a:endParaRPr lang="en-US" sz="3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49</a:t>
            </a:r>
            <a:endParaRPr lang="en-US" sz="1000" dirty="0"/>
          </a:p>
        </p:txBody>
      </p:sp>
      <p:sp>
        <p:nvSpPr>
          <p:cNvPr id="3" name="Text 1"/>
          <p:cNvSpPr/>
          <p:nvPr/>
        </p:nvSpPr>
        <p:spPr>
          <a:xfrm>
            <a:off x="731520" y="3703320"/>
            <a:ext cx="7680960" cy="457200"/>
          </a:xfrm>
          <a:prstGeom prst="rect">
            <a:avLst/>
          </a:prstGeom>
          <a:noFill/>
          <a:ln/>
        </p:spPr>
        <p:txBody>
          <a:bodyPr wrap="square" rtlCol="0" anchor="ctr"/>
          <a:lstStyle/>
          <a:p>
            <a:pPr marL="0" indent="0" algn="ctr">
              <a:buNone/>
            </a:pPr>
            <a:r>
              <a:rPr lang="en-US" sz="1800" b="1" dirty="0">
                <a:solidFill>
                  <a:srgbClr val="B5E1E1"/>
                </a:solidFill>
                <a:latin typeface="Arial" pitchFamily="34" charset="0"/>
                <a:ea typeface="Arial" pitchFamily="34" charset="-122"/>
                <a:cs typeface="Arial" pitchFamily="34" charset="-120"/>
              </a:rPr>
              <a:t>DEEP DIVE</a:t>
            </a:r>
            <a:endParaRPr lang="en-US" sz="1800" dirty="0"/>
          </a:p>
        </p:txBody>
      </p:sp>
      <p:sp>
        <p:nvSpPr>
          <p:cNvPr id="4" name="Shape 2"/>
          <p:cNvSpPr/>
          <p:nvPr/>
        </p:nvSpPr>
        <p:spPr>
          <a:xfrm>
            <a:off x="1371600" y="1645920"/>
            <a:ext cx="6400800" cy="0"/>
          </a:xfrm>
          <a:prstGeom prst="line">
            <a:avLst/>
          </a:prstGeom>
          <a:noFill/>
          <a:ln w="25400">
            <a:solidFill>
              <a:srgbClr val="FFFFFF"/>
            </a:solidFill>
            <a:prstDash val="solid"/>
          </a:ln>
        </p:spPr>
        <p:txBody>
          <a:bodyPr/>
          <a:lstStyle/>
          <a:p>
            <a:endParaRPr lang="en-US"/>
          </a:p>
        </p:txBody>
      </p:sp>
      <p:sp>
        <p:nvSpPr>
          <p:cNvPr id="5" name="Text 3"/>
          <p:cNvSpPr/>
          <p:nvPr/>
        </p:nvSpPr>
        <p:spPr>
          <a:xfrm>
            <a:off x="731520" y="1737360"/>
            <a:ext cx="7680960" cy="1097280"/>
          </a:xfrm>
          <a:prstGeom prst="rect">
            <a:avLst/>
          </a:prstGeom>
          <a:noFill/>
          <a:ln/>
        </p:spPr>
        <p:txBody>
          <a:bodyPr wrap="square" rtlCol="0" anchor="ctr"/>
          <a:lstStyle/>
          <a:p>
            <a:pPr marL="0" indent="0" algn="ctr">
              <a:buNone/>
            </a:pPr>
            <a:r>
              <a:rPr lang="en-US" sz="3600" b="1" dirty="0">
                <a:solidFill>
                  <a:srgbClr val="FFFFFF"/>
                </a:solidFill>
                <a:latin typeface="Arial" pitchFamily="34" charset="0"/>
                <a:ea typeface="Arial" pitchFamily="34" charset="-122"/>
                <a:cs typeface="Arial" pitchFamily="34" charset="-120"/>
              </a:rPr>
              <a:t>Learning Curve Toys v.</a:t>
            </a:r>
            <a:endParaRPr lang="en-US" sz="3600" dirty="0"/>
          </a:p>
          <a:p>
            <a:pPr marL="0" indent="0" algn="ctr">
              <a:buNone/>
            </a:pPr>
            <a:r>
              <a:rPr lang="en-US" sz="3600" b="1" dirty="0">
                <a:solidFill>
                  <a:srgbClr val="FFFFFF"/>
                </a:solidFill>
                <a:latin typeface="Arial" pitchFamily="34" charset="0"/>
                <a:ea typeface="Arial" pitchFamily="34" charset="-122"/>
                <a:cs typeface="Arial" pitchFamily="34" charset="-120"/>
              </a:rPr>
              <a:t>PlayWood Toys</a:t>
            </a:r>
            <a:endParaRPr lang="en-US" sz="3600" dirty="0"/>
          </a:p>
        </p:txBody>
      </p:sp>
      <p:sp>
        <p:nvSpPr>
          <p:cNvPr id="6" name="Text 4"/>
          <p:cNvSpPr/>
          <p:nvPr/>
        </p:nvSpPr>
        <p:spPr>
          <a:xfrm>
            <a:off x="731520" y="2834640"/>
            <a:ext cx="7680960" cy="548640"/>
          </a:xfrm>
          <a:prstGeom prst="rect">
            <a:avLst/>
          </a:prstGeom>
          <a:noFill/>
          <a:ln/>
        </p:spPr>
        <p:txBody>
          <a:bodyPr wrap="square" rtlCol="0" anchor="ctr"/>
          <a:lstStyle/>
          <a:p>
            <a:pPr marL="0" indent="0" algn="ctr">
              <a:buNone/>
            </a:pPr>
            <a:r>
              <a:rPr lang="en-US" sz="2200" dirty="0">
                <a:solidFill>
                  <a:srgbClr val="FFD65C"/>
                </a:solidFill>
                <a:latin typeface="Arial" pitchFamily="34" charset="0"/>
                <a:ea typeface="Arial" pitchFamily="34" charset="-122"/>
                <a:cs typeface="Arial" pitchFamily="34" charset="-120"/>
              </a:rPr>
              <a:t>342 F.3d 714 (7th Cir. 2003)</a:t>
            </a:r>
            <a:endParaRPr lang="en-US" sz="2200" dirty="0"/>
          </a:p>
        </p:txBody>
      </p:sp>
      <p:sp>
        <p:nvSpPr>
          <p:cNvPr id="7" name="Shape 5"/>
          <p:cNvSpPr/>
          <p:nvPr/>
        </p:nvSpPr>
        <p:spPr>
          <a:xfrm>
            <a:off x="1371600" y="3566160"/>
            <a:ext cx="6400800" cy="0"/>
          </a:xfrm>
          <a:prstGeom prst="line">
            <a:avLst/>
          </a:prstGeom>
          <a:noFill/>
          <a:ln w="25400">
            <a:solidFill>
              <a:srgbClr val="FFFFFF"/>
            </a:solidFill>
            <a:prstDash val="solid"/>
          </a:ln>
        </p:spPr>
        <p:txBody>
          <a:bodyPr/>
          <a:lstStyle/>
          <a:p>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50</a:t>
            </a:r>
            <a:endParaRPr lang="en-US" sz="1000" dirty="0"/>
          </a:p>
        </p:txBody>
      </p:sp>
      <p:sp>
        <p:nvSpPr>
          <p:cNvPr id="3" name="Text 1"/>
          <p:cNvSpPr/>
          <p:nvPr/>
        </p:nvSpPr>
        <p:spPr>
          <a:xfrm>
            <a:off x="731520" y="182880"/>
            <a:ext cx="7680960" cy="731520"/>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PlayWood Toys</a:t>
            </a:r>
            <a:endParaRPr lang="en-US" sz="4400" dirty="0"/>
          </a:p>
        </p:txBody>
      </p:sp>
      <p:sp>
        <p:nvSpPr>
          <p:cNvPr id="4" name="Text 2"/>
          <p:cNvSpPr/>
          <p:nvPr/>
        </p:nvSpPr>
        <p:spPr>
          <a:xfrm>
            <a:off x="731520" y="1280160"/>
            <a:ext cx="7680960" cy="219456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Small Canadian toy company — two people</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Robert Clausi (designer) + Scott Moore</a:t>
            </a:r>
            <a:endParaRPr lang="en-US" sz="30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1">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51</a:t>
            </a:r>
            <a:endParaRPr lang="en-US" sz="1000" dirty="0"/>
          </a:p>
        </p:txBody>
      </p:sp>
      <p:sp>
        <p:nvSpPr>
          <p:cNvPr id="3" name="Text 1"/>
          <p:cNvSpPr/>
          <p:nvPr/>
        </p:nvSpPr>
        <p:spPr>
          <a:xfrm>
            <a:off x="731520" y="182880"/>
            <a:ext cx="7680960" cy="1211580"/>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The New York Toy Fair (1993)</a:t>
            </a:r>
            <a:endParaRPr lang="en-US" sz="4400" dirty="0"/>
          </a:p>
        </p:txBody>
      </p:sp>
      <p:sp>
        <p:nvSpPr>
          <p:cNvPr id="4" name="Text 2"/>
          <p:cNvSpPr/>
          <p:nvPr/>
        </p:nvSpPr>
        <p:spPr>
          <a:xfrm>
            <a:off x="731520" y="1828800"/>
            <a:ext cx="7680960" cy="2194560"/>
          </a:xfrm>
          <a:prstGeom prst="rect">
            <a:avLst/>
          </a:prstGeom>
          <a:noFill/>
          <a:ln/>
        </p:spPr>
        <p:txBody>
          <a:bodyPr wrap="square" rtlCol="0" anchor="t"/>
          <a:lstStyle/>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PlayWood displayed prototypes</a:t>
            </a:r>
            <a:endParaRPr lang="en-US" sz="3000" dirty="0"/>
          </a:p>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Learning Curve reps were impressed</a:t>
            </a:r>
            <a:endParaRPr lang="en-US" sz="3000" dirty="0"/>
          </a:p>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Suggested a manufacturing partnership</a:t>
            </a:r>
            <a:endParaRPr lang="en-US" sz="30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2">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52</a:t>
            </a:r>
            <a:endParaRPr lang="en-US" sz="1000" dirty="0"/>
          </a:p>
        </p:txBody>
      </p:sp>
      <p:sp>
        <p:nvSpPr>
          <p:cNvPr id="3" name="Text 1"/>
          <p:cNvSpPr/>
          <p:nvPr/>
        </p:nvSpPr>
        <p:spPr>
          <a:xfrm>
            <a:off x="731520" y="182880"/>
            <a:ext cx="7680960" cy="731520"/>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The February 18 Meeting</a:t>
            </a:r>
            <a:endParaRPr lang="en-US" sz="4400" dirty="0"/>
          </a:p>
        </p:txBody>
      </p:sp>
      <p:sp>
        <p:nvSpPr>
          <p:cNvPr id="4" name="Text 2"/>
          <p:cNvSpPr/>
          <p:nvPr/>
        </p:nvSpPr>
        <p:spPr>
          <a:xfrm>
            <a:off x="731520" y="1280160"/>
            <a:ext cx="7680960" cy="2760898"/>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Both sides agreed:</a:t>
            </a:r>
            <a:endParaRPr lang="en-US" sz="3000" dirty="0"/>
          </a:p>
          <a:p>
            <a:pPr marL="750888" indent="-5080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'We will keep this discussion confidential'</a:t>
            </a:r>
            <a:endParaRPr lang="en-US" sz="3000" dirty="0"/>
          </a:p>
          <a:p>
            <a:pPr marL="750888" indent="-5080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Oral agreement — no written NDA</a:t>
            </a:r>
            <a:endParaRPr lang="en-US" sz="30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3">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53</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Clausi's Flash of Insight</a:t>
            </a:r>
            <a:endParaRPr lang="en-US" sz="4400" dirty="0"/>
          </a:p>
        </p:txBody>
      </p:sp>
      <p:sp>
        <p:nvSpPr>
          <p:cNvPr id="4" name="Text 2"/>
          <p:cNvSpPr/>
          <p:nvPr/>
        </p:nvSpPr>
        <p:spPr>
          <a:xfrm>
            <a:off x="731520" y="1280160"/>
            <a:ext cx="7680960" cy="1826570"/>
          </a:xfrm>
          <a:prstGeom prst="rect">
            <a:avLst/>
          </a:prstGeom>
          <a:noFill/>
          <a:ln/>
        </p:spPr>
        <p:txBody>
          <a:bodyPr wrap="square" rtlCol="0" anchor="t"/>
          <a:lstStyle/>
          <a:p>
            <a:pPr marL="0" indent="0" algn="l">
              <a:lnSpc>
                <a:spcPct val="130000"/>
              </a:lnSpc>
              <a:buNone/>
            </a:pPr>
            <a:r>
              <a:rPr lang="en-US" sz="2800" dirty="0">
                <a:solidFill>
                  <a:srgbClr val="FFFFFF"/>
                </a:solidFill>
                <a:latin typeface="Arial" pitchFamily="34" charset="0"/>
                <a:ea typeface="Arial" pitchFamily="34" charset="-122"/>
                <a:cs typeface="Arial" pitchFamily="34" charset="-120"/>
              </a:rPr>
              <a:t>Cut grooves into wooden track</a:t>
            </a:r>
            <a:r>
              <a:rPr lang="en-US" sz="2800" dirty="0"/>
              <a:t> </a:t>
            </a:r>
            <a:r>
              <a:rPr lang="en-US" sz="2800" dirty="0">
                <a:solidFill>
                  <a:srgbClr val="FFFFFF"/>
                </a:solidFill>
                <a:latin typeface="Arial" pitchFamily="34" charset="0"/>
                <a:ea typeface="Arial" pitchFamily="34" charset="-122"/>
                <a:cs typeface="Arial" pitchFamily="34" charset="-120"/>
              </a:rPr>
              <a:t>to make a 'clickety-clack' sound</a:t>
            </a:r>
            <a:r>
              <a:rPr lang="en-US" sz="2800" dirty="0"/>
              <a:t> </a:t>
            </a:r>
            <a:r>
              <a:rPr lang="en-US" sz="2800" dirty="0">
                <a:solidFill>
                  <a:srgbClr val="FFFFFF"/>
                </a:solidFill>
                <a:latin typeface="Arial" pitchFamily="34" charset="0"/>
                <a:ea typeface="Arial" pitchFamily="34" charset="-122"/>
                <a:cs typeface="Arial" pitchFamily="34" charset="-120"/>
              </a:rPr>
              <a:t>— created prototype in minutes</a:t>
            </a:r>
            <a:endParaRPr lang="en-US" sz="28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4">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54</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l">
              <a:lnSpc>
                <a:spcPct val="120000"/>
              </a:lnSpc>
              <a:buNone/>
            </a:pPr>
            <a:r>
              <a:rPr lang="en-US" sz="4400" b="1" dirty="0">
                <a:solidFill>
                  <a:srgbClr val="FFFFFF"/>
                </a:solidFill>
                <a:latin typeface="Arial" pitchFamily="34" charset="0"/>
                <a:ea typeface="Arial" pitchFamily="34" charset="-122"/>
                <a:cs typeface="Arial" pitchFamily="34" charset="-120"/>
              </a:rPr>
              <a:t>Learning Curve's Response</a:t>
            </a:r>
            <a:endParaRPr lang="en-US" sz="4400" dirty="0"/>
          </a:p>
        </p:txBody>
      </p:sp>
      <p:sp>
        <p:nvSpPr>
          <p:cNvPr id="4" name="Text 2"/>
          <p:cNvSpPr/>
          <p:nvPr/>
        </p:nvSpPr>
        <p:spPr>
          <a:xfrm>
            <a:off x="731520" y="1280160"/>
            <a:ext cx="7680960" cy="1781965"/>
          </a:xfrm>
          <a:prstGeom prst="rect">
            <a:avLst/>
          </a:prstGeom>
          <a:noFill/>
          <a:ln/>
        </p:spPr>
        <p:txBody>
          <a:bodyPr wrap="square" rtlCol="0" anchor="t"/>
          <a:lstStyle/>
          <a:p>
            <a:pPr marL="457200" indent="-457200" algn="l">
              <a:lnSpc>
                <a:spcPct val="130000"/>
              </a:lnSpc>
              <a:buSzPct val="75000"/>
              <a:buFont typeface="Wingdings" pitchFamily="2" charset="2"/>
              <a:buChar char="Ø"/>
            </a:pPr>
            <a:r>
              <a:rPr lang="en-US" sz="2800" dirty="0">
                <a:solidFill>
                  <a:srgbClr val="FFFFFF"/>
                </a:solidFill>
                <a:latin typeface="Arial" pitchFamily="34" charset="0"/>
                <a:ea typeface="Arial" pitchFamily="34" charset="-122"/>
                <a:cs typeface="Arial" pitchFamily="34" charset="-120"/>
              </a:rPr>
              <a:t>Abraham: 'Focus on getting the</a:t>
            </a:r>
            <a:r>
              <a:rPr lang="en-US" sz="2800" dirty="0"/>
              <a:t> </a:t>
            </a:r>
            <a:r>
              <a:rPr lang="en-US" sz="2800" dirty="0">
                <a:solidFill>
                  <a:srgbClr val="FFFFFF"/>
                </a:solidFill>
                <a:latin typeface="Arial" pitchFamily="34" charset="0"/>
                <a:ea typeface="Arial" pitchFamily="34" charset="-122"/>
                <a:cs typeface="Arial" pitchFamily="34" charset="-120"/>
              </a:rPr>
              <a:t>basic contract first'</a:t>
            </a:r>
            <a:endParaRPr lang="en-US" sz="2800" dirty="0"/>
          </a:p>
          <a:p>
            <a:pPr marL="457200" indent="-457200" algn="l">
              <a:lnSpc>
                <a:spcPct val="130000"/>
              </a:lnSpc>
              <a:buSzPct val="75000"/>
              <a:buFont typeface="Wingdings" pitchFamily="2" charset="2"/>
              <a:buChar char="Ø"/>
            </a:pPr>
            <a:r>
              <a:rPr lang="en-US" sz="2800" dirty="0">
                <a:solidFill>
                  <a:srgbClr val="FFFFFF"/>
                </a:solidFill>
                <a:latin typeface="Arial" pitchFamily="34" charset="0"/>
                <a:ea typeface="Arial" pitchFamily="34" charset="-122"/>
                <a:cs typeface="Arial" pitchFamily="34" charset="-120"/>
              </a:rPr>
              <a:t>Wilson took the prototype home</a:t>
            </a:r>
            <a:endParaRPr lang="en-US" sz="28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5">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55</a:t>
            </a:r>
            <a:endParaRPr lang="en-US" sz="1000" dirty="0"/>
          </a:p>
        </p:txBody>
      </p:sp>
      <p:sp>
        <p:nvSpPr>
          <p:cNvPr id="3" name="Text 1"/>
          <p:cNvSpPr/>
          <p:nvPr/>
        </p:nvSpPr>
        <p:spPr>
          <a:xfrm>
            <a:off x="731520" y="182880"/>
            <a:ext cx="7680960" cy="731520"/>
          </a:xfrm>
          <a:prstGeom prst="rect">
            <a:avLst/>
          </a:prstGeom>
          <a:noFill/>
          <a:ln/>
        </p:spPr>
        <p:txBody>
          <a:bodyPr wrap="square" rtlCol="0" anchor="ctr"/>
          <a:lstStyle/>
          <a:p>
            <a:pPr marL="0" indent="0" algn="ctr">
              <a:buNone/>
            </a:pPr>
            <a:r>
              <a:rPr lang="en-US" sz="4400" b="1" dirty="0">
                <a:solidFill>
                  <a:schemeClr val="bg1"/>
                </a:solidFill>
                <a:latin typeface="Arial" pitchFamily="34" charset="0"/>
                <a:ea typeface="Arial" pitchFamily="34" charset="-122"/>
                <a:cs typeface="Arial" pitchFamily="34" charset="-120"/>
              </a:rPr>
              <a:t>Issue</a:t>
            </a:r>
            <a:endParaRPr lang="en-US" sz="4000" dirty="0">
              <a:solidFill>
                <a:schemeClr val="bg1"/>
              </a:solidFill>
            </a:endParaRPr>
          </a:p>
        </p:txBody>
      </p:sp>
      <p:sp>
        <p:nvSpPr>
          <p:cNvPr id="4" name="Text 2"/>
          <p:cNvSpPr/>
          <p:nvPr/>
        </p:nvSpPr>
        <p:spPr>
          <a:xfrm>
            <a:off x="731520" y="1280160"/>
            <a:ext cx="7680960" cy="2194560"/>
          </a:xfrm>
          <a:prstGeom prst="rect">
            <a:avLst/>
          </a:prstGeom>
          <a:noFill/>
          <a:ln/>
        </p:spPr>
        <p:txBody>
          <a:bodyPr wrap="square" rtlCol="0" anchor="t"/>
          <a:lstStyle/>
          <a:p>
            <a:pPr marL="0" indent="0" algn="l">
              <a:lnSpc>
                <a:spcPct val="130000"/>
              </a:lnSpc>
              <a:buNone/>
            </a:pPr>
            <a:r>
              <a:rPr lang="en-US" sz="3400" dirty="0">
                <a:solidFill>
                  <a:srgbClr val="FFFFFF"/>
                </a:solidFill>
                <a:latin typeface="Arial" pitchFamily="34" charset="0"/>
                <a:ea typeface="Arial" pitchFamily="34" charset="-122"/>
                <a:cs typeface="Arial" pitchFamily="34" charset="-120"/>
              </a:rPr>
              <a:t>Was a simple toy design concept</a:t>
            </a:r>
            <a:endParaRPr lang="en-US" sz="3400" dirty="0"/>
          </a:p>
          <a:p>
            <a:pPr marL="0" indent="0" algn="l">
              <a:lnSpc>
                <a:spcPct val="130000"/>
              </a:lnSpc>
              <a:buNone/>
            </a:pPr>
            <a:r>
              <a:rPr lang="en-US" sz="3400" dirty="0">
                <a:solidFill>
                  <a:srgbClr val="FFFFFF"/>
                </a:solidFill>
                <a:latin typeface="Arial" pitchFamily="34" charset="0"/>
                <a:ea typeface="Arial" pitchFamily="34" charset="-122"/>
                <a:cs typeface="Arial" pitchFamily="34" charset="-120"/>
              </a:rPr>
              <a:t>a protectable trade secret?</a:t>
            </a:r>
            <a:endParaRPr lang="en-US" sz="34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6">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56</a:t>
            </a:r>
            <a:endParaRPr lang="en-US" sz="1000" dirty="0"/>
          </a:p>
        </p:txBody>
      </p:sp>
      <p:sp>
        <p:nvSpPr>
          <p:cNvPr id="3" name="Text 1"/>
          <p:cNvSpPr/>
          <p:nvPr/>
        </p:nvSpPr>
        <p:spPr>
          <a:xfrm>
            <a:off x="731520" y="182880"/>
            <a:ext cx="7680960" cy="731520"/>
          </a:xfrm>
          <a:prstGeom prst="rect">
            <a:avLst/>
          </a:prstGeom>
          <a:noFill/>
          <a:ln/>
        </p:spPr>
        <p:txBody>
          <a:bodyPr wrap="square" rtlCol="0" anchor="ctr"/>
          <a:lstStyle/>
          <a:p>
            <a:pPr marL="0" indent="0" algn="ctr">
              <a:buNone/>
            </a:pPr>
            <a:r>
              <a:rPr lang="en-US" sz="4400" b="1" dirty="0">
                <a:solidFill>
                  <a:schemeClr val="bg1"/>
                </a:solidFill>
                <a:latin typeface="Arial" pitchFamily="34" charset="0"/>
                <a:ea typeface="Arial" pitchFamily="34" charset="-122"/>
                <a:cs typeface="Arial" pitchFamily="34" charset="-120"/>
              </a:rPr>
              <a:t>Holding</a:t>
            </a:r>
            <a:endParaRPr lang="en-US" sz="4000" dirty="0">
              <a:solidFill>
                <a:schemeClr val="bg1"/>
              </a:solidFill>
            </a:endParaRPr>
          </a:p>
        </p:txBody>
      </p:sp>
      <p:sp>
        <p:nvSpPr>
          <p:cNvPr id="4" name="Text 2"/>
          <p:cNvSpPr/>
          <p:nvPr/>
        </p:nvSpPr>
        <p:spPr>
          <a:xfrm>
            <a:off x="731520" y="1280160"/>
            <a:ext cx="7680960" cy="2194560"/>
          </a:xfrm>
          <a:prstGeom prst="rect">
            <a:avLst/>
          </a:prstGeom>
          <a:noFill/>
          <a:ln/>
        </p:spPr>
        <p:txBody>
          <a:bodyPr wrap="square" rtlCol="0" anchor="t"/>
          <a:lstStyle/>
          <a:p>
            <a:pPr marL="0" indent="0" algn="l">
              <a:lnSpc>
                <a:spcPct val="130000"/>
              </a:lnSpc>
              <a:buNone/>
            </a:pPr>
            <a:r>
              <a:rPr lang="en-US" sz="3400" dirty="0">
                <a:solidFill>
                  <a:srgbClr val="FFFFFF"/>
                </a:solidFill>
                <a:latin typeface="Arial" pitchFamily="34" charset="0"/>
                <a:ea typeface="Arial" pitchFamily="34" charset="-122"/>
                <a:cs typeface="Arial" pitchFamily="34" charset="-120"/>
              </a:rPr>
              <a:t>Yes — a simple creative concept</a:t>
            </a:r>
            <a:endParaRPr lang="en-US" sz="3400" dirty="0"/>
          </a:p>
          <a:p>
            <a:pPr marL="0" indent="0" algn="l">
              <a:lnSpc>
                <a:spcPct val="130000"/>
              </a:lnSpc>
              <a:buNone/>
            </a:pPr>
            <a:r>
              <a:rPr lang="en-US" sz="3400" dirty="0">
                <a:solidFill>
                  <a:srgbClr val="FFFFFF"/>
                </a:solidFill>
                <a:latin typeface="Arial" pitchFamily="34" charset="0"/>
                <a:ea typeface="Arial" pitchFamily="34" charset="-122"/>
                <a:cs typeface="Arial" pitchFamily="34" charset="-120"/>
              </a:rPr>
              <a:t>can be a trade secret</a:t>
            </a:r>
            <a:endParaRPr lang="en-US" sz="34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7">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57</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Lesson 1: Cost ≠ Value</a:t>
            </a:r>
            <a:endParaRPr lang="en-US" sz="4400" dirty="0"/>
          </a:p>
        </p:txBody>
      </p:sp>
      <p:sp>
        <p:nvSpPr>
          <p:cNvPr id="4" name="Text 2"/>
          <p:cNvSpPr/>
          <p:nvPr/>
        </p:nvSpPr>
        <p:spPr>
          <a:xfrm>
            <a:off x="731520" y="1280160"/>
            <a:ext cx="7680960" cy="1463040"/>
          </a:xfrm>
          <a:prstGeom prst="rect">
            <a:avLst/>
          </a:prstGeom>
          <a:noFill/>
          <a:ln/>
        </p:spPr>
        <p:txBody>
          <a:bodyPr wrap="square" rtlCol="0" anchor="t"/>
          <a:lstStyle/>
          <a:p>
            <a:pPr marL="0" indent="0" algn="l">
              <a:lnSpc>
                <a:spcPct val="130000"/>
              </a:lnSpc>
              <a:buNone/>
            </a:pPr>
            <a:r>
              <a:rPr lang="en-US" sz="2800" dirty="0">
                <a:solidFill>
                  <a:srgbClr val="FFFFFF"/>
                </a:solidFill>
                <a:latin typeface="Arial" pitchFamily="34" charset="0"/>
                <a:ea typeface="Arial" pitchFamily="34" charset="-122"/>
                <a:cs typeface="Arial" pitchFamily="34" charset="-120"/>
              </a:rPr>
              <a:t>Developmental cost is evidence of value</a:t>
            </a:r>
            <a:endParaRPr lang="en-US" sz="2800" dirty="0"/>
          </a:p>
          <a:p>
            <a:pPr marL="0" indent="0" algn="l">
              <a:lnSpc>
                <a:spcPct val="130000"/>
              </a:lnSpc>
              <a:buNone/>
            </a:pPr>
            <a:r>
              <a:rPr lang="en-US" sz="2800" dirty="0">
                <a:solidFill>
                  <a:srgbClr val="FFFFFF"/>
                </a:solidFill>
                <a:latin typeface="Arial" pitchFamily="34" charset="0"/>
                <a:ea typeface="Arial" pitchFamily="34" charset="-122"/>
                <a:cs typeface="Arial" pitchFamily="34" charset="-120"/>
              </a:rPr>
              <a:t>but not required in every case</a:t>
            </a:r>
            <a:endParaRPr lang="en-US" sz="28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8">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58</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Lesson 2: Oral NDAs Can Suffice</a:t>
            </a:r>
            <a:endParaRPr lang="en-US" sz="4400" dirty="0"/>
          </a:p>
        </p:txBody>
      </p:sp>
      <p:sp>
        <p:nvSpPr>
          <p:cNvPr id="4" name="Text 2"/>
          <p:cNvSpPr/>
          <p:nvPr/>
        </p:nvSpPr>
        <p:spPr>
          <a:xfrm>
            <a:off x="731520" y="2011680"/>
            <a:ext cx="7680960" cy="1463040"/>
          </a:xfrm>
          <a:prstGeom prst="rect">
            <a:avLst/>
          </a:prstGeom>
          <a:noFill/>
          <a:ln/>
        </p:spPr>
        <p:txBody>
          <a:bodyPr wrap="square" rtlCol="0" anchor="t"/>
          <a:lstStyle/>
          <a:p>
            <a:pPr marL="0" indent="0" algn="l">
              <a:lnSpc>
                <a:spcPct val="130000"/>
              </a:lnSpc>
              <a:buNone/>
            </a:pPr>
            <a:r>
              <a:rPr lang="en-US" sz="2800" dirty="0">
                <a:solidFill>
                  <a:srgbClr val="FFFFFF"/>
                </a:solidFill>
                <a:latin typeface="Arial" pitchFamily="34" charset="0"/>
                <a:ea typeface="Arial" pitchFamily="34" charset="-122"/>
                <a:cs typeface="Arial" pitchFamily="34" charset="-120"/>
              </a:rPr>
              <a:t>The oral confidentiality agreement</a:t>
            </a:r>
            <a:r>
              <a:rPr lang="en-US" sz="2800" dirty="0"/>
              <a:t> </a:t>
            </a:r>
            <a:r>
              <a:rPr lang="en-US" sz="2800" dirty="0">
                <a:solidFill>
                  <a:srgbClr val="FFFFFF"/>
                </a:solidFill>
                <a:latin typeface="Arial" pitchFamily="34" charset="0"/>
                <a:ea typeface="Arial" pitchFamily="34" charset="-122"/>
                <a:cs typeface="Arial" pitchFamily="34" charset="-120"/>
              </a:rPr>
              <a:t>was reasonable under the circumstances</a:t>
            </a:r>
            <a:endParaRPr lang="en-US" sz="28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9">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59</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Lesson 3: Marketing Concepts Count</a:t>
            </a:r>
            <a:endParaRPr lang="en-US" sz="4400" dirty="0"/>
          </a:p>
        </p:txBody>
      </p:sp>
      <p:sp>
        <p:nvSpPr>
          <p:cNvPr id="4" name="Text 2"/>
          <p:cNvSpPr/>
          <p:nvPr/>
        </p:nvSpPr>
        <p:spPr>
          <a:xfrm>
            <a:off x="731520" y="2011680"/>
            <a:ext cx="7680960" cy="1463040"/>
          </a:xfrm>
          <a:prstGeom prst="rect">
            <a:avLst/>
          </a:prstGeom>
          <a:noFill/>
          <a:ln/>
        </p:spPr>
        <p:txBody>
          <a:bodyPr wrap="square" rtlCol="0" anchor="t"/>
          <a:lstStyle/>
          <a:p>
            <a:pPr marL="0" indent="0" algn="l">
              <a:lnSpc>
                <a:spcPct val="130000"/>
              </a:lnSpc>
              <a:buNone/>
            </a:pPr>
            <a:r>
              <a:rPr lang="en-US" sz="2800" dirty="0">
                <a:solidFill>
                  <a:srgbClr val="FFFFFF"/>
                </a:solidFill>
                <a:latin typeface="Arial" pitchFamily="34" charset="0"/>
                <a:ea typeface="Arial" pitchFamily="34" charset="-122"/>
                <a:cs typeface="Arial" pitchFamily="34" charset="-120"/>
              </a:rPr>
              <a:t>Product design, branding ideas,</a:t>
            </a:r>
            <a:r>
              <a:rPr lang="en-US" sz="2800" dirty="0"/>
              <a:t> </a:t>
            </a:r>
            <a:r>
              <a:rPr lang="en-US" sz="2800" dirty="0">
                <a:solidFill>
                  <a:srgbClr val="FFFFFF"/>
                </a:solidFill>
                <a:latin typeface="Arial" pitchFamily="34" charset="0"/>
                <a:ea typeface="Arial" pitchFamily="34" charset="-122"/>
                <a:cs typeface="Arial" pitchFamily="34" charset="-120"/>
              </a:rPr>
              <a:t>and creative concepts are protectable</a:t>
            </a:r>
            <a:endParaRPr lang="en-US" sz="28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0">
    <p:bg>
      <p:bgPr>
        <a:solidFill>
          <a:srgbClr val="0A3255"/>
        </a:solidFill>
        <a:effectLst/>
      </p:bgPr>
    </p:bg>
    <p:spTree>
      <p:nvGrpSpPr>
        <p:cNvPr id="1" name=""/>
        <p:cNvGrpSpPr/>
        <p:nvPr/>
      </p:nvGrpSpPr>
      <p:grpSpPr>
        <a:xfrm>
          <a:off x="0" y="0"/>
          <a:ext cx="0" cy="0"/>
          <a:chOff x="0" y="0"/>
          <a:chExt cx="0" cy="0"/>
        </a:xfrm>
      </p:grpSpPr>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000" b="1" dirty="0">
                <a:solidFill>
                  <a:srgbClr val="FFFFFF"/>
                </a:solidFill>
                <a:latin typeface="Arial" pitchFamily="34" charset="0"/>
                <a:ea typeface="Arial" pitchFamily="34" charset="-122"/>
                <a:cs typeface="Arial" pitchFamily="34" charset="-120"/>
              </a:rPr>
              <a:t>Connection to Pico Salsa</a:t>
            </a:r>
            <a:endParaRPr lang="en-US" sz="4000" dirty="0"/>
          </a:p>
        </p:txBody>
      </p:sp>
      <p:sp>
        <p:nvSpPr>
          <p:cNvPr id="4" name="Text 2"/>
          <p:cNvSpPr/>
          <p:nvPr/>
        </p:nvSpPr>
        <p:spPr>
          <a:xfrm>
            <a:off x="731520" y="1280160"/>
            <a:ext cx="7680960" cy="1463040"/>
          </a:xfrm>
          <a:prstGeom prst="rect">
            <a:avLst/>
          </a:prstGeom>
          <a:noFill/>
          <a:ln/>
        </p:spPr>
        <p:txBody>
          <a:bodyPr wrap="square" rtlCol="0" anchor="t"/>
          <a:lstStyle/>
          <a:p>
            <a:pPr marL="0" indent="0" algn="l">
              <a:lnSpc>
                <a:spcPct val="130000"/>
              </a:lnSpc>
              <a:buNone/>
            </a:pPr>
            <a:r>
              <a:rPr lang="en-US" sz="2800" dirty="0">
                <a:solidFill>
                  <a:srgbClr val="FFFFFF"/>
                </a:solidFill>
                <a:latin typeface="Arial" pitchFamily="34" charset="0"/>
                <a:ea typeface="Arial" pitchFamily="34" charset="-122"/>
                <a:cs typeface="Arial" pitchFamily="34" charset="-120"/>
              </a:rPr>
              <a:t>Does Pico Salsa have creative concepts</a:t>
            </a:r>
            <a:r>
              <a:rPr lang="en-US" sz="2800" dirty="0"/>
              <a:t> </a:t>
            </a:r>
            <a:r>
              <a:rPr lang="en-US" sz="2800" dirty="0">
                <a:solidFill>
                  <a:srgbClr val="FFFFFF"/>
                </a:solidFill>
                <a:latin typeface="Arial" pitchFamily="34" charset="0"/>
                <a:ea typeface="Arial" pitchFamily="34" charset="-122"/>
                <a:cs typeface="Arial" pitchFamily="34" charset="-120"/>
              </a:rPr>
              <a:t>or marketing strategies worth protecting?</a:t>
            </a:r>
            <a:endParaRPr lang="en-US" sz="2800" dirty="0"/>
          </a:p>
        </p:txBody>
      </p:sp>
      <p:sp>
        <p:nvSpPr>
          <p:cNvPr id="5" name="Text 3"/>
          <p:cNvSpPr/>
          <p:nvPr/>
        </p:nvSpPr>
        <p:spPr>
          <a:xfrm>
            <a:off x="731520" y="4389120"/>
            <a:ext cx="1371600" cy="365760"/>
          </a:xfrm>
          <a:prstGeom prst="rect">
            <a:avLst/>
          </a:prstGeom>
          <a:noFill/>
          <a:ln/>
        </p:spPr>
        <p:txBody>
          <a:bodyPr wrap="square" rtlCol="0" anchor="ctr"/>
          <a:lstStyle/>
          <a:p>
            <a:pPr marL="0" indent="0">
              <a:buNone/>
            </a:pPr>
            <a:r>
              <a:rPr lang="en-US" sz="1200" b="1" dirty="0">
                <a:solidFill>
                  <a:srgbClr val="B5E1E1"/>
                </a:solidFill>
                <a:latin typeface="Arial" pitchFamily="34" charset="0"/>
                <a:ea typeface="Arial" pitchFamily="34" charset="-122"/>
                <a:cs typeface="Arial" pitchFamily="34" charset="-120"/>
              </a:rPr>
              <a:t>DEEP DIVE</a:t>
            </a:r>
            <a:endParaRPr lang="en-US" sz="1200" dirty="0"/>
          </a:p>
        </p:txBody>
      </p:sp>
      <p:sp>
        <p:nvSpPr>
          <p:cNvPr id="7" name="Rectangle 6">
            <a:extLst>
              <a:ext uri="{FF2B5EF4-FFF2-40B4-BE49-F238E27FC236}">
                <a16:creationId xmlns:a16="http://schemas.microsoft.com/office/drawing/2014/main" id="{5659FDAC-8AAC-7BCF-A5BA-6E6F97E207BC}"/>
              </a:ext>
            </a:extLst>
          </p:cNvPr>
          <p:cNvSpPr/>
          <p:nvPr/>
        </p:nvSpPr>
        <p:spPr>
          <a:xfrm>
            <a:off x="8674873" y="0"/>
            <a:ext cx="469127" cy="514350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60</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1">
    <p:bg>
      <p:bgPr>
        <a:solidFill>
          <a:srgbClr val="093255"/>
        </a:solidFill>
        <a:effectLst/>
      </p:bgPr>
    </p:bg>
    <p:spTree>
      <p:nvGrpSpPr>
        <p:cNvPr id="1" name=""/>
        <p:cNvGrpSpPr/>
        <p:nvPr/>
      </p:nvGrpSpPr>
      <p:grpSpPr>
        <a:xfrm>
          <a:off x="0" y="0"/>
          <a:ext cx="0" cy="0"/>
          <a:chOff x="0" y="0"/>
          <a:chExt cx="0" cy="0"/>
        </a:xfrm>
      </p:grpSpPr>
      <p:sp>
        <p:nvSpPr>
          <p:cNvPr id="3" name="Text 1"/>
          <p:cNvSpPr/>
          <p:nvPr/>
        </p:nvSpPr>
        <p:spPr>
          <a:xfrm>
            <a:off x="731520" y="182880"/>
            <a:ext cx="7680960" cy="640080"/>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Quick Check</a:t>
            </a:r>
            <a:endParaRPr lang="en-US" sz="4400" dirty="0"/>
          </a:p>
        </p:txBody>
      </p:sp>
      <p:sp>
        <p:nvSpPr>
          <p:cNvPr id="4" name="Text 2"/>
          <p:cNvSpPr/>
          <p:nvPr/>
        </p:nvSpPr>
        <p:spPr>
          <a:xfrm>
            <a:off x="731520" y="1280160"/>
            <a:ext cx="7680960" cy="2286000"/>
          </a:xfrm>
          <a:prstGeom prst="rect">
            <a:avLst/>
          </a:prstGeom>
          <a:noFill/>
          <a:ln/>
        </p:spPr>
        <p:txBody>
          <a:bodyPr wrap="square" rtlCol="0" anchor="t"/>
          <a:lstStyle/>
          <a:p>
            <a:pPr marL="0" indent="0" algn="l">
              <a:lnSpc>
                <a:spcPct val="120000"/>
              </a:lnSpc>
              <a:buNone/>
            </a:pPr>
            <a:r>
              <a:rPr lang="en-US" sz="3800" b="1" dirty="0">
                <a:solidFill>
                  <a:srgbClr val="FFFFFF"/>
                </a:solidFill>
                <a:latin typeface="Arial" pitchFamily="34" charset="0"/>
                <a:ea typeface="Arial" pitchFamily="34" charset="-122"/>
                <a:cs typeface="Arial" pitchFamily="34" charset="-120"/>
              </a:rPr>
              <a:t>Can a simple, inexpensive creative</a:t>
            </a:r>
            <a:r>
              <a:rPr lang="en-US" sz="3800" dirty="0"/>
              <a:t> </a:t>
            </a:r>
            <a:r>
              <a:rPr lang="en-US" sz="3800" b="1" dirty="0">
                <a:solidFill>
                  <a:srgbClr val="FFFFFF"/>
                </a:solidFill>
                <a:latin typeface="Arial" pitchFamily="34" charset="0"/>
                <a:ea typeface="Arial" pitchFamily="34" charset="-122"/>
                <a:cs typeface="Arial" pitchFamily="34" charset="-120"/>
              </a:rPr>
              <a:t>concept be a trade secret?</a:t>
            </a:r>
            <a:endParaRPr lang="en-US" sz="3800" dirty="0"/>
          </a:p>
        </p:txBody>
      </p:sp>
      <p:sp>
        <p:nvSpPr>
          <p:cNvPr id="5" name="Rectangle 4">
            <a:extLst>
              <a:ext uri="{FF2B5EF4-FFF2-40B4-BE49-F238E27FC236}">
                <a16:creationId xmlns:a16="http://schemas.microsoft.com/office/drawing/2014/main" id="{6C5DF094-0667-F040-F06C-1F453100B901}"/>
              </a:ext>
            </a:extLst>
          </p:cNvPr>
          <p:cNvSpPr/>
          <p:nvPr/>
        </p:nvSpPr>
        <p:spPr>
          <a:xfrm>
            <a:off x="8674873" y="0"/>
            <a:ext cx="469127" cy="5143500"/>
          </a:xfrm>
          <a:prstGeom prst="rect">
            <a:avLst/>
          </a:prstGeom>
          <a:solidFill>
            <a:srgbClr val="FFD75B"/>
          </a:solidFill>
          <a:ln>
            <a:solidFill>
              <a:srgbClr val="FFD7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61</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2">
    <p:bg>
      <p:bgPr>
        <a:solidFill>
          <a:srgbClr val="09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62</a:t>
            </a:r>
            <a:endParaRPr lang="en-US" sz="1000" dirty="0"/>
          </a:p>
        </p:txBody>
      </p:sp>
      <p:sp>
        <p:nvSpPr>
          <p:cNvPr id="3" name="Text 1"/>
          <p:cNvSpPr/>
          <p:nvPr/>
        </p:nvSpPr>
        <p:spPr>
          <a:xfrm>
            <a:off x="731520" y="1097280"/>
            <a:ext cx="7680960" cy="2926080"/>
          </a:xfrm>
          <a:prstGeom prst="rect">
            <a:avLst/>
          </a:prstGeom>
          <a:noFill/>
          <a:ln/>
        </p:spPr>
        <p:txBody>
          <a:bodyPr wrap="square" rtlCol="0" anchor="t"/>
          <a:lstStyle/>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Yes — Learning Curve (2003)</a:t>
            </a:r>
            <a:endParaRPr lang="en-US" sz="3600" dirty="0"/>
          </a:p>
          <a:p>
            <a:pPr marL="0" indent="0" algn="l">
              <a:lnSpc>
                <a:spcPct val="130000"/>
              </a:lnSpc>
              <a:buNone/>
            </a:pPr>
            <a:endParaRPr lang="en-US" sz="3600" dirty="0"/>
          </a:p>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Cost of development is evidence</a:t>
            </a:r>
            <a:endParaRPr lang="en-US" sz="3600" dirty="0"/>
          </a:p>
          <a:p>
            <a:pPr marL="0" indent="0" algn="l">
              <a:lnSpc>
                <a:spcPct val="130000"/>
              </a:lnSpc>
              <a:buNone/>
            </a:pPr>
            <a:r>
              <a:rPr lang="en-US" sz="3600" b="1" dirty="0">
                <a:solidFill>
                  <a:srgbClr val="FFFFFF"/>
                </a:solidFill>
                <a:latin typeface="Arial" pitchFamily="34" charset="0"/>
                <a:ea typeface="Arial" pitchFamily="34" charset="-122"/>
                <a:cs typeface="Arial" pitchFamily="34" charset="-120"/>
              </a:rPr>
              <a:t>but not a requirement</a:t>
            </a:r>
            <a:endParaRPr lang="en-US" sz="3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3">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63</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Burten v. Milton Bradley (1985)</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Disclosure agreement did not clearly</a:t>
            </a:r>
            <a:endParaRPr lang="en-US" sz="3000" dirty="0"/>
          </a:p>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waive confidentiality — jury could decide</a:t>
            </a:r>
            <a:endParaRPr lang="en-US" sz="3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4">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64</a:t>
            </a:r>
            <a:endParaRPr lang="en-US" sz="1000" dirty="0"/>
          </a:p>
        </p:txBody>
      </p:sp>
      <p:sp>
        <p:nvSpPr>
          <p:cNvPr id="3" name="Shape 1"/>
          <p:cNvSpPr/>
          <p:nvPr/>
        </p:nvSpPr>
        <p:spPr>
          <a:xfrm>
            <a:off x="1371600" y="2185639"/>
            <a:ext cx="6400800" cy="0"/>
          </a:xfrm>
          <a:prstGeom prst="line">
            <a:avLst/>
          </a:prstGeom>
          <a:noFill/>
          <a:ln w="25400">
            <a:solidFill>
              <a:srgbClr val="FFFFFF"/>
            </a:solidFill>
            <a:prstDash val="solid"/>
          </a:ln>
        </p:spPr>
        <p:txBody>
          <a:bodyPr/>
          <a:lstStyle/>
          <a:p>
            <a:endParaRPr lang="en-US"/>
          </a:p>
        </p:txBody>
      </p:sp>
      <p:sp>
        <p:nvSpPr>
          <p:cNvPr id="4" name="Text 2"/>
          <p:cNvSpPr/>
          <p:nvPr/>
        </p:nvSpPr>
        <p:spPr>
          <a:xfrm>
            <a:off x="731520" y="2011680"/>
            <a:ext cx="7680960" cy="1097280"/>
          </a:xfrm>
          <a:prstGeom prst="rect">
            <a:avLst/>
          </a:prstGeom>
          <a:noFill/>
          <a:ln/>
        </p:spPr>
        <p:txBody>
          <a:bodyPr wrap="square"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INVENTORY REFINEMENT</a:t>
            </a:r>
            <a:endParaRPr lang="en-US" sz="4000" dirty="0"/>
          </a:p>
        </p:txBody>
      </p:sp>
      <p:sp>
        <p:nvSpPr>
          <p:cNvPr id="5" name="Shape 3"/>
          <p:cNvSpPr/>
          <p:nvPr/>
        </p:nvSpPr>
        <p:spPr>
          <a:xfrm>
            <a:off x="1371600" y="2921620"/>
            <a:ext cx="6400800" cy="0"/>
          </a:xfrm>
          <a:prstGeom prst="line">
            <a:avLst/>
          </a:prstGeom>
          <a:noFill/>
          <a:ln w="25400">
            <a:solidFill>
              <a:srgbClr val="FFFFFF"/>
            </a:solidFill>
            <a:prstDash val="solid"/>
          </a:ln>
        </p:spPr>
        <p:txBody>
          <a:bodyPr/>
          <a:lstStyle/>
          <a:p>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5">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65</a:t>
            </a:r>
            <a:endParaRPr lang="en-US" sz="1000" dirty="0"/>
          </a:p>
        </p:txBody>
      </p:sp>
      <p:sp>
        <p:nvSpPr>
          <p:cNvPr id="3" name="Text 1"/>
          <p:cNvSpPr/>
          <p:nvPr/>
        </p:nvSpPr>
        <p:spPr>
          <a:xfrm>
            <a:off x="731520" y="182880"/>
            <a:ext cx="7680960" cy="640080"/>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Stage 2 Deliverable Format</a:t>
            </a:r>
            <a:endParaRPr lang="en-US" sz="4400" dirty="0"/>
          </a:p>
        </p:txBody>
      </p:sp>
      <p:sp>
        <p:nvSpPr>
          <p:cNvPr id="4" name="Text 2"/>
          <p:cNvSpPr/>
          <p:nvPr/>
        </p:nvSpPr>
        <p:spPr>
          <a:xfrm>
            <a:off x="731520" y="1188720"/>
            <a:ext cx="7680960" cy="3474720"/>
          </a:xfrm>
          <a:prstGeom prst="rect">
            <a:avLst/>
          </a:prstGeom>
          <a:noFill/>
          <a:ln/>
        </p:spPr>
        <p:txBody>
          <a:bodyPr wrap="square" rtlCol="0" anchor="t"/>
          <a:lstStyle/>
          <a:p>
            <a:pPr marL="0" indent="0">
              <a:spcAft>
                <a:spcPts val="600"/>
              </a:spcAft>
              <a:buNone/>
            </a:pPr>
            <a:r>
              <a:rPr lang="en-US" sz="2400" dirty="0">
                <a:solidFill>
                  <a:srgbClr val="FFFFFF"/>
                </a:solidFill>
                <a:latin typeface="Arial" pitchFamily="34" charset="0"/>
                <a:ea typeface="Arial" pitchFamily="34" charset="-122"/>
                <a:cs typeface="Arial" pitchFamily="34" charset="-120"/>
              </a:rPr>
              <a:t>✓  Specific name and description</a:t>
            </a:r>
            <a:endParaRPr lang="en-US" sz="2400" dirty="0"/>
          </a:p>
          <a:p>
            <a:pPr marL="0" indent="0">
              <a:spcAft>
                <a:spcPts val="600"/>
              </a:spcAft>
              <a:buNone/>
            </a:pPr>
            <a:r>
              <a:rPr lang="en-US" sz="2400" dirty="0">
                <a:solidFill>
                  <a:srgbClr val="FFFFFF"/>
                </a:solidFill>
                <a:latin typeface="Arial" pitchFamily="34" charset="0"/>
                <a:ea typeface="Arial" pitchFamily="34" charset="-122"/>
                <a:cs typeface="Arial" pitchFamily="34" charset="-120"/>
              </a:rPr>
              <a:t>✓  Category: Technical, Business, or Hybrid</a:t>
            </a:r>
            <a:endParaRPr lang="en-US" sz="2400" dirty="0"/>
          </a:p>
          <a:p>
            <a:pPr marL="0" indent="0">
              <a:spcAft>
                <a:spcPts val="600"/>
              </a:spcAft>
              <a:buNone/>
            </a:pPr>
            <a:r>
              <a:rPr lang="en-US" sz="2400" dirty="0">
                <a:solidFill>
                  <a:srgbClr val="FFFFFF"/>
                </a:solidFill>
                <a:latin typeface="Arial" pitchFamily="34" charset="0"/>
                <a:ea typeface="Arial" pitchFamily="34" charset="-122"/>
                <a:cs typeface="Arial" pitchFamily="34" charset="-120"/>
              </a:rPr>
              <a:t>✓  Three-element analysis (fact-specific)</a:t>
            </a:r>
            <a:endParaRPr lang="en-US" sz="2400" dirty="0"/>
          </a:p>
          <a:p>
            <a:pPr marL="0" indent="0">
              <a:spcAft>
                <a:spcPts val="600"/>
              </a:spcAft>
              <a:buNone/>
            </a:pPr>
            <a:r>
              <a:rPr lang="en-US" sz="2400" dirty="0">
                <a:solidFill>
                  <a:srgbClr val="FFFFFF"/>
                </a:solidFill>
                <a:latin typeface="Arial" pitchFamily="34" charset="0"/>
                <a:ea typeface="Arial" pitchFamily="34" charset="-122"/>
                <a:cs typeface="Arial" pitchFamily="34" charset="-120"/>
              </a:rPr>
              <a:t>✓  Priority: High, Medium, or Low (with justification)</a:t>
            </a:r>
            <a:endParaRPr lang="en-US" sz="2400" dirty="0"/>
          </a:p>
          <a:p>
            <a:pPr marL="0" indent="0">
              <a:spcAft>
                <a:spcPts val="600"/>
              </a:spcAft>
              <a:buNone/>
            </a:pPr>
            <a:r>
              <a:rPr lang="en-US" sz="2400" dirty="0">
                <a:solidFill>
                  <a:srgbClr val="FFFFFF"/>
                </a:solidFill>
                <a:latin typeface="Arial" pitchFamily="34" charset="0"/>
                <a:ea typeface="Arial" pitchFamily="34" charset="-122"/>
                <a:cs typeface="Arial" pitchFamily="34" charset="-120"/>
              </a:rPr>
              <a:t>✓  Access and exposure notes (who knows, what        </a:t>
            </a:r>
          </a:p>
          <a:p>
            <a:pPr marL="11113" indent="396875">
              <a:spcAft>
                <a:spcPts val="600"/>
              </a:spcAft>
              <a:buNone/>
            </a:pPr>
            <a:r>
              <a:rPr lang="en-US" sz="2400" dirty="0">
                <a:solidFill>
                  <a:srgbClr val="FFFFFF"/>
                </a:solidFill>
                <a:latin typeface="Arial" pitchFamily="34" charset="0"/>
                <a:ea typeface="Arial" pitchFamily="34" charset="-122"/>
                <a:cs typeface="Arial" pitchFamily="34" charset="-120"/>
              </a:rPr>
              <a:t>protections exist)</a:t>
            </a:r>
            <a:endParaRPr 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6">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66</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Model Entry: Ferment-X</a:t>
            </a:r>
            <a:endParaRPr lang="en-US" sz="4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7">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67</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Your Turn: Refine Your Entries</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Add all five components</a:t>
            </a:r>
            <a:endParaRPr lang="en-US" sz="3000" dirty="0"/>
          </a:p>
          <a:p>
            <a:pPr marL="457200" indent="-4572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Flag vulnerabilities honestly</a:t>
            </a:r>
            <a:endParaRPr lang="en-US" sz="3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8">
    <p:bg>
      <p:bgPr>
        <a:solidFill>
          <a:srgbClr val="0A3255"/>
        </a:solidFill>
        <a:effectLst/>
      </p:bgPr>
    </p:bg>
    <p:spTree>
      <p:nvGrpSpPr>
        <p:cNvPr id="1" name=""/>
        <p:cNvGrpSpPr/>
        <p:nvPr/>
      </p:nvGrpSpPr>
      <p:grpSpPr>
        <a:xfrm>
          <a:off x="0" y="0"/>
          <a:ext cx="0" cy="0"/>
          <a:chOff x="0" y="0"/>
          <a:chExt cx="0" cy="0"/>
        </a:xfrm>
      </p:grpSpPr>
      <p:sp>
        <p:nvSpPr>
          <p:cNvPr id="5" name="Text 3"/>
          <p:cNvSpPr/>
          <p:nvPr/>
        </p:nvSpPr>
        <p:spPr>
          <a:xfrm>
            <a:off x="3154680" y="182880"/>
            <a:ext cx="2834640" cy="548640"/>
          </a:xfrm>
          <a:prstGeom prst="rect">
            <a:avLst/>
          </a:prstGeom>
          <a:noFill/>
          <a:ln/>
        </p:spPr>
        <p:txBody>
          <a:bodyPr wrap="square" rtlCol="0" anchor="ctr"/>
          <a:lstStyle/>
          <a:p>
            <a:pPr marL="0" indent="0" algn="l">
              <a:buNone/>
            </a:pPr>
            <a:r>
              <a:rPr lang="en-US" sz="2200" b="1" dirty="0">
                <a:solidFill>
                  <a:srgbClr val="C00000"/>
                </a:solidFill>
                <a:latin typeface="Arial" pitchFamily="34" charset="0"/>
                <a:ea typeface="Arial" pitchFamily="34" charset="-122"/>
                <a:cs typeface="Arial" pitchFamily="34" charset="-120"/>
              </a:rPr>
              <a:t>COMMON MISTAKE</a:t>
            </a:r>
            <a:endParaRPr lang="en-US" sz="2200" dirty="0">
              <a:solidFill>
                <a:srgbClr val="C00000"/>
              </a:solidFill>
            </a:endParaRPr>
          </a:p>
        </p:txBody>
      </p:sp>
      <p:sp>
        <p:nvSpPr>
          <p:cNvPr id="6" name="Text 4"/>
          <p:cNvSpPr/>
          <p:nvPr/>
        </p:nvSpPr>
        <p:spPr>
          <a:xfrm>
            <a:off x="1280160" y="731520"/>
            <a:ext cx="6583680" cy="960120"/>
          </a:xfrm>
          <a:prstGeom prst="rect">
            <a:avLst/>
          </a:prstGeom>
          <a:noFill/>
          <a:ln/>
        </p:spPr>
        <p:txBody>
          <a:bodyPr wrap="square" rtlCol="0" anchor="ctr"/>
          <a:lstStyle/>
          <a:p>
            <a:pPr marL="0" indent="0" algn="ctr">
              <a:buNone/>
            </a:pPr>
            <a:r>
              <a:rPr lang="en-US" sz="3400" b="1" dirty="0">
                <a:solidFill>
                  <a:srgbClr val="FFFFFF"/>
                </a:solidFill>
                <a:latin typeface="Arial" pitchFamily="34" charset="0"/>
                <a:ea typeface="Arial" pitchFamily="34" charset="-122"/>
                <a:cs typeface="Arial" pitchFamily="34" charset="-120"/>
              </a:rPr>
              <a:t>Conflating Identification and Protection</a:t>
            </a:r>
            <a:endParaRPr lang="en-US" sz="3400" dirty="0"/>
          </a:p>
        </p:txBody>
      </p:sp>
      <p:sp>
        <p:nvSpPr>
          <p:cNvPr id="7" name="Text 5"/>
          <p:cNvSpPr/>
          <p:nvPr/>
        </p:nvSpPr>
        <p:spPr>
          <a:xfrm>
            <a:off x="1280160" y="2240280"/>
            <a:ext cx="6583680" cy="1325880"/>
          </a:xfrm>
          <a:prstGeom prst="rect">
            <a:avLst/>
          </a:prstGeom>
          <a:noFill/>
          <a:ln/>
        </p:spPr>
        <p:txBody>
          <a:bodyPr wrap="square" rtlCol="0" anchor="t"/>
          <a:lstStyle/>
          <a:p>
            <a:pPr marL="0" indent="0" algn="l">
              <a:buNone/>
            </a:pPr>
            <a:r>
              <a:rPr lang="en-US" sz="2600" dirty="0">
                <a:solidFill>
                  <a:srgbClr val="FFFFFF"/>
                </a:solidFill>
                <a:latin typeface="Arial" pitchFamily="34" charset="0"/>
                <a:ea typeface="Arial" pitchFamily="34" charset="-122"/>
                <a:cs typeface="Arial" pitchFamily="34" charset="-120"/>
              </a:rPr>
              <a:t>The inventory identifies what exists.</a:t>
            </a:r>
            <a:endParaRPr lang="en-US" sz="2600" dirty="0"/>
          </a:p>
          <a:p>
            <a:pPr marL="0" indent="0" algn="l">
              <a:buNone/>
            </a:pPr>
            <a:r>
              <a:rPr lang="en-US" sz="2600" dirty="0">
                <a:solidFill>
                  <a:srgbClr val="FFFFFF"/>
                </a:solidFill>
                <a:latin typeface="Arial" pitchFamily="34" charset="0"/>
                <a:ea typeface="Arial" pitchFamily="34" charset="-122"/>
                <a:cs typeface="Arial" pitchFamily="34" charset="-120"/>
              </a:rPr>
              <a:t>Protection measures come later</a:t>
            </a:r>
            <a:endParaRPr lang="en-US" sz="2600" dirty="0"/>
          </a:p>
          <a:p>
            <a:pPr marL="0" indent="0" algn="l">
              <a:buNone/>
            </a:pPr>
            <a:r>
              <a:rPr lang="en-US" sz="2600" dirty="0">
                <a:solidFill>
                  <a:srgbClr val="FFFFFF"/>
                </a:solidFill>
                <a:latin typeface="Arial" pitchFamily="34" charset="0"/>
                <a:ea typeface="Arial" pitchFamily="34" charset="-122"/>
                <a:cs typeface="Arial" pitchFamily="34" charset="-120"/>
              </a:rPr>
              <a:t>(Chapters 4 and 5).</a:t>
            </a:r>
            <a:endParaRPr lang="en-US" sz="2600" dirty="0"/>
          </a:p>
        </p:txBody>
      </p:sp>
      <p:sp>
        <p:nvSpPr>
          <p:cNvPr id="8" name="Rectangle 7">
            <a:extLst>
              <a:ext uri="{FF2B5EF4-FFF2-40B4-BE49-F238E27FC236}">
                <a16:creationId xmlns:a16="http://schemas.microsoft.com/office/drawing/2014/main" id="{91BBB792-46BD-4006-7D74-4BB260F64428}"/>
              </a:ext>
            </a:extLst>
          </p:cNvPr>
          <p:cNvSpPr/>
          <p:nvPr/>
        </p:nvSpPr>
        <p:spPr>
          <a:xfrm>
            <a:off x="8678848" y="0"/>
            <a:ext cx="465152" cy="5143500"/>
          </a:xfrm>
          <a:prstGeom prst="rect">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68</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9">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69</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Pitfall: Missing Subtler Secrets</a:t>
            </a:r>
            <a:endParaRPr lang="en-US" sz="4400" dirty="0"/>
          </a:p>
        </p:txBody>
      </p:sp>
      <p:sp>
        <p:nvSpPr>
          <p:cNvPr id="4" name="Text 2"/>
          <p:cNvSpPr/>
          <p:nvPr/>
        </p:nvSpPr>
        <p:spPr>
          <a:xfrm>
            <a:off x="731520" y="2011680"/>
            <a:ext cx="7680960" cy="269748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Look beyond the obvious</a:t>
            </a:r>
            <a:endParaRPr lang="en-US" sz="3000" dirty="0"/>
          </a:p>
          <a:p>
            <a:pPr marL="750888" indent="-458788"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Supplier relationships, R&amp;D notes,</a:t>
            </a:r>
            <a:r>
              <a:rPr lang="en-US" sz="3000" dirty="0"/>
              <a:t> </a:t>
            </a:r>
            <a:r>
              <a:rPr lang="en-US" sz="3000" dirty="0">
                <a:solidFill>
                  <a:srgbClr val="FFFFFF"/>
                </a:solidFill>
                <a:latin typeface="Arial" pitchFamily="34" charset="0"/>
                <a:ea typeface="Arial" pitchFamily="34" charset="-122"/>
                <a:cs typeface="Arial" pitchFamily="34" charset="-120"/>
              </a:rPr>
              <a:t>failed experiments, process improvements</a:t>
            </a:r>
            <a:endParaRPr lang="en-US" sz="3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70">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70</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Stage 2 Deliverable</a:t>
            </a:r>
            <a:endParaRPr lang="en-US" sz="4400" dirty="0"/>
          </a:p>
        </p:txBody>
      </p:sp>
      <p:sp>
        <p:nvSpPr>
          <p:cNvPr id="4" name="Text 2"/>
          <p:cNvSpPr/>
          <p:nvPr/>
        </p:nvSpPr>
        <p:spPr>
          <a:xfrm>
            <a:off x="731520" y="128016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Trade Secret Inventory Table</a:t>
            </a:r>
            <a:endParaRPr lang="en-US" sz="3000" dirty="0"/>
          </a:p>
          <a:p>
            <a:pPr marL="750888" indent="-458788"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5-8 entries, one-page, professional format</a:t>
            </a:r>
            <a:endParaRPr lang="en-US" sz="3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1">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71</a:t>
            </a:r>
            <a:endParaRPr lang="en-US" sz="1000" dirty="0"/>
          </a:p>
        </p:txBody>
      </p:sp>
      <p:sp>
        <p:nvSpPr>
          <p:cNvPr id="3" name="Text 1"/>
          <p:cNvSpPr/>
          <p:nvPr/>
        </p:nvSpPr>
        <p:spPr>
          <a:xfrm>
            <a:off x="731520" y="182880"/>
            <a:ext cx="7680960" cy="640080"/>
          </a:xfrm>
          <a:prstGeom prst="rect">
            <a:avLst/>
          </a:prstGeom>
          <a:noFill/>
          <a:ln/>
        </p:spPr>
        <p:txBody>
          <a:bodyPr wrap="square" rtlCol="0" anchor="ctr"/>
          <a:lstStyle/>
          <a:p>
            <a:pPr marL="0" indent="0" algn="ctr">
              <a:buNone/>
            </a:pPr>
            <a:r>
              <a:rPr lang="en-US" sz="4400" b="1" dirty="0">
                <a:solidFill>
                  <a:srgbClr val="FFD65C"/>
                </a:solidFill>
                <a:latin typeface="Arial" pitchFamily="34" charset="0"/>
                <a:ea typeface="Arial" pitchFamily="34" charset="-122"/>
                <a:cs typeface="Arial" pitchFamily="34" charset="-120"/>
              </a:rPr>
              <a:t>A-Level vs. B-Level Work</a:t>
            </a:r>
            <a:endParaRPr lang="en-US" sz="4400" dirty="0"/>
          </a:p>
        </p:txBody>
      </p:sp>
      <p:sp>
        <p:nvSpPr>
          <p:cNvPr id="4" name="Shape 2"/>
          <p:cNvSpPr/>
          <p:nvPr/>
        </p:nvSpPr>
        <p:spPr>
          <a:xfrm>
            <a:off x="457200" y="1280160"/>
            <a:ext cx="3840480" cy="3200400"/>
          </a:xfrm>
          <a:prstGeom prst="rect">
            <a:avLst/>
          </a:prstGeom>
          <a:solidFill>
            <a:srgbClr val="2459A9"/>
          </a:solidFill>
          <a:ln/>
        </p:spPr>
        <p:txBody>
          <a:bodyPr/>
          <a:lstStyle/>
          <a:p>
            <a:endParaRPr lang="en-US"/>
          </a:p>
        </p:txBody>
      </p:sp>
      <p:sp>
        <p:nvSpPr>
          <p:cNvPr id="5" name="Shape 3"/>
          <p:cNvSpPr/>
          <p:nvPr/>
        </p:nvSpPr>
        <p:spPr>
          <a:xfrm>
            <a:off x="4846320" y="1280160"/>
            <a:ext cx="3840480" cy="3200400"/>
          </a:xfrm>
          <a:prstGeom prst="rect">
            <a:avLst/>
          </a:prstGeom>
          <a:solidFill>
            <a:srgbClr val="B21F2C"/>
          </a:solidFill>
          <a:ln/>
        </p:spPr>
        <p:txBody>
          <a:bodyPr/>
          <a:lstStyle/>
          <a:p>
            <a:endParaRPr lang="en-US"/>
          </a:p>
        </p:txBody>
      </p:sp>
      <p:sp>
        <p:nvSpPr>
          <p:cNvPr id="6" name="Text 4"/>
          <p:cNvSpPr/>
          <p:nvPr/>
        </p:nvSpPr>
        <p:spPr>
          <a:xfrm>
            <a:off x="457200" y="1280160"/>
            <a:ext cx="3840480" cy="54864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A-Level</a:t>
            </a:r>
            <a:endParaRPr lang="en-US" sz="2600" dirty="0"/>
          </a:p>
        </p:txBody>
      </p:sp>
      <p:sp>
        <p:nvSpPr>
          <p:cNvPr id="7" name="Text 5"/>
          <p:cNvSpPr/>
          <p:nvPr/>
        </p:nvSpPr>
        <p:spPr>
          <a:xfrm>
            <a:off x="4846320" y="1280160"/>
            <a:ext cx="3840480" cy="548640"/>
          </a:xfrm>
          <a:prstGeom prst="rect">
            <a:avLst/>
          </a:prstGeom>
          <a:noFill/>
          <a:ln/>
        </p:spPr>
        <p:txBody>
          <a:bodyPr wrap="square"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B-Level</a:t>
            </a:r>
            <a:endParaRPr lang="en-US" sz="2600" dirty="0"/>
          </a:p>
        </p:txBody>
      </p:sp>
      <p:sp>
        <p:nvSpPr>
          <p:cNvPr id="8" name="Text 6"/>
          <p:cNvSpPr/>
          <p:nvPr/>
        </p:nvSpPr>
        <p:spPr>
          <a:xfrm>
            <a:off x="457199" y="1920240"/>
            <a:ext cx="3840479" cy="2377440"/>
          </a:xfrm>
          <a:prstGeom prst="rect">
            <a:avLst/>
          </a:prstGeom>
          <a:noFill/>
          <a:ln/>
        </p:spPr>
        <p:txBody>
          <a:bodyPr wrap="square" rtlCol="0" anchor="t"/>
          <a:lstStyle/>
          <a:p>
            <a:pPr marL="342900" indent="-342900">
              <a:lnSpc>
                <a:spcPct val="150000"/>
              </a:lnSpc>
              <a:spcAft>
                <a:spcPts val="400"/>
              </a:spcAft>
              <a:buFont typeface="Arial" panose="020B0604020202020204" pitchFamily="34" charset="0"/>
              <a:buChar char="•"/>
            </a:pPr>
            <a:r>
              <a:rPr lang="en-US" sz="2000" dirty="0">
                <a:solidFill>
                  <a:srgbClr val="FFFFFF"/>
                </a:solidFill>
                <a:latin typeface="Arial" pitchFamily="34" charset="0"/>
                <a:ea typeface="Arial" pitchFamily="34" charset="-122"/>
                <a:cs typeface="Arial" pitchFamily="34" charset="-120"/>
              </a:rPr>
              <a:t>Fact-specific analysis</a:t>
            </a:r>
            <a:endParaRPr lang="en-US" sz="2000" dirty="0"/>
          </a:p>
          <a:p>
            <a:pPr marL="342900" indent="-342900">
              <a:lnSpc>
                <a:spcPct val="150000"/>
              </a:lnSpc>
              <a:spcAft>
                <a:spcPts val="400"/>
              </a:spcAft>
              <a:buFont typeface="Arial" panose="020B0604020202020204" pitchFamily="34" charset="0"/>
              <a:buChar char="•"/>
            </a:pPr>
            <a:r>
              <a:rPr lang="en-US" sz="2000" dirty="0">
                <a:solidFill>
                  <a:srgbClr val="FFFFFF"/>
                </a:solidFill>
                <a:latin typeface="Arial" pitchFamily="34" charset="0"/>
                <a:ea typeface="Arial" pitchFamily="34" charset="-122"/>
                <a:cs typeface="Arial" pitchFamily="34" charset="-120"/>
              </a:rPr>
              <a:t>Identifies non-obvious secrets</a:t>
            </a:r>
            <a:endParaRPr lang="en-US" sz="2000" dirty="0"/>
          </a:p>
          <a:p>
            <a:pPr marL="342900" indent="-342900">
              <a:lnSpc>
                <a:spcPct val="150000"/>
              </a:lnSpc>
              <a:spcAft>
                <a:spcPts val="400"/>
              </a:spcAft>
              <a:buFont typeface="Arial" panose="020B0604020202020204" pitchFamily="34" charset="0"/>
              <a:buChar char="•"/>
            </a:pPr>
            <a:r>
              <a:rPr lang="en-US" sz="2000" dirty="0">
                <a:solidFill>
                  <a:srgbClr val="FFFFFF"/>
                </a:solidFill>
                <a:latin typeface="Arial" pitchFamily="34" charset="0"/>
                <a:ea typeface="Arial" pitchFamily="34" charset="-122"/>
                <a:cs typeface="Arial" pitchFamily="34" charset="-120"/>
              </a:rPr>
              <a:t>Honest about vulnerabilities</a:t>
            </a:r>
            <a:endParaRPr lang="en-US" sz="2000" dirty="0"/>
          </a:p>
          <a:p>
            <a:pPr marL="342900" indent="-342900">
              <a:lnSpc>
                <a:spcPct val="150000"/>
              </a:lnSpc>
              <a:spcAft>
                <a:spcPts val="400"/>
              </a:spcAft>
              <a:buFont typeface="Arial" panose="020B0604020202020204" pitchFamily="34" charset="0"/>
              <a:buChar char="•"/>
            </a:pPr>
            <a:r>
              <a:rPr lang="en-US" sz="2000" dirty="0">
                <a:solidFill>
                  <a:srgbClr val="FFFFFF"/>
                </a:solidFill>
                <a:latin typeface="Arial" pitchFamily="34" charset="0"/>
                <a:ea typeface="Arial" pitchFamily="34" charset="-122"/>
                <a:cs typeface="Arial" pitchFamily="34" charset="-120"/>
              </a:rPr>
              <a:t>Correct classification</a:t>
            </a:r>
            <a:endParaRPr lang="en-US" sz="2000" dirty="0"/>
          </a:p>
        </p:txBody>
      </p:sp>
      <p:sp>
        <p:nvSpPr>
          <p:cNvPr id="9" name="Text 7"/>
          <p:cNvSpPr/>
          <p:nvPr/>
        </p:nvSpPr>
        <p:spPr>
          <a:xfrm>
            <a:off x="4846318" y="1920240"/>
            <a:ext cx="3840480" cy="2377440"/>
          </a:xfrm>
          <a:prstGeom prst="rect">
            <a:avLst/>
          </a:prstGeom>
          <a:noFill/>
          <a:ln/>
        </p:spPr>
        <p:txBody>
          <a:bodyPr wrap="square" rtlCol="0" anchor="t"/>
          <a:lstStyle/>
          <a:p>
            <a:pPr marL="342900" indent="-342900">
              <a:lnSpc>
                <a:spcPct val="150000"/>
              </a:lnSpc>
              <a:spcAft>
                <a:spcPts val="400"/>
              </a:spcAft>
              <a:buFont typeface="Arial" panose="020B0604020202020204" pitchFamily="34" charset="0"/>
              <a:buChar char="•"/>
            </a:pPr>
            <a:r>
              <a:rPr lang="en-US" sz="2000" dirty="0">
                <a:solidFill>
                  <a:srgbClr val="FFFFFF"/>
                </a:solidFill>
                <a:latin typeface="Arial" pitchFamily="34" charset="0"/>
                <a:ea typeface="Arial" pitchFamily="34" charset="-122"/>
                <a:cs typeface="Arial" pitchFamily="34" charset="-120"/>
              </a:rPr>
              <a:t>Generic/boilerplate analysis</a:t>
            </a:r>
            <a:endParaRPr lang="en-US" sz="2000" dirty="0"/>
          </a:p>
          <a:p>
            <a:pPr marL="342900" indent="-342900">
              <a:lnSpc>
                <a:spcPct val="150000"/>
              </a:lnSpc>
              <a:spcAft>
                <a:spcPts val="400"/>
              </a:spcAft>
              <a:buFont typeface="Arial" panose="020B0604020202020204" pitchFamily="34" charset="0"/>
              <a:buChar char="•"/>
            </a:pPr>
            <a:r>
              <a:rPr lang="en-US" sz="2000" dirty="0">
                <a:solidFill>
                  <a:srgbClr val="FFFFFF"/>
                </a:solidFill>
                <a:latin typeface="Arial" pitchFamily="34" charset="0"/>
                <a:ea typeface="Arial" pitchFamily="34" charset="-122"/>
                <a:cs typeface="Arial" pitchFamily="34" charset="-120"/>
              </a:rPr>
              <a:t>Only obvious secrets</a:t>
            </a:r>
            <a:endParaRPr lang="en-US" sz="2000" dirty="0"/>
          </a:p>
          <a:p>
            <a:pPr marL="342900" indent="-342900">
              <a:lnSpc>
                <a:spcPct val="150000"/>
              </a:lnSpc>
              <a:spcAft>
                <a:spcPts val="400"/>
              </a:spcAft>
              <a:buFont typeface="Arial" panose="020B0604020202020204" pitchFamily="34" charset="0"/>
              <a:buChar char="•"/>
            </a:pPr>
            <a:r>
              <a:rPr lang="en-US" sz="2000" dirty="0">
                <a:solidFill>
                  <a:srgbClr val="FFFFFF"/>
                </a:solidFill>
                <a:latin typeface="Arial" pitchFamily="34" charset="0"/>
                <a:ea typeface="Arial" pitchFamily="34" charset="-122"/>
                <a:cs typeface="Arial" pitchFamily="34" charset="-120"/>
              </a:rPr>
              <a:t>Ignores weaknesses</a:t>
            </a:r>
            <a:endParaRPr lang="en-US" sz="2000" dirty="0"/>
          </a:p>
          <a:p>
            <a:pPr marL="342900" indent="-342900">
              <a:lnSpc>
                <a:spcPct val="150000"/>
              </a:lnSpc>
              <a:spcAft>
                <a:spcPts val="400"/>
              </a:spcAft>
              <a:buFont typeface="Arial" panose="020B0604020202020204" pitchFamily="34" charset="0"/>
              <a:buChar char="•"/>
            </a:pPr>
            <a:r>
              <a:rPr lang="en-US" sz="2000" dirty="0">
                <a:solidFill>
                  <a:srgbClr val="FFFFFF"/>
                </a:solidFill>
                <a:latin typeface="Arial" pitchFamily="34" charset="0"/>
                <a:ea typeface="Arial" pitchFamily="34" charset="-122"/>
                <a:cs typeface="Arial" pitchFamily="34" charset="-120"/>
              </a:rPr>
              <a:t>Classification unclear</a:t>
            </a:r>
            <a:endParaRPr lang="en-US"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2">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72</a:t>
            </a:r>
            <a:endParaRPr lang="en-US" sz="1000" dirty="0"/>
          </a:p>
        </p:txBody>
      </p:sp>
      <p:sp>
        <p:nvSpPr>
          <p:cNvPr id="3" name="Text 1"/>
          <p:cNvSpPr/>
          <p:nvPr/>
        </p:nvSpPr>
        <p:spPr>
          <a:xfrm>
            <a:off x="731520" y="182880"/>
            <a:ext cx="768096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You Know What Pico Salsa Has</a:t>
            </a:r>
            <a:endParaRPr lang="en-US" sz="4400" dirty="0"/>
          </a:p>
        </p:txBody>
      </p:sp>
      <p:sp>
        <p:nvSpPr>
          <p:cNvPr id="4" name="Text 2"/>
          <p:cNvSpPr/>
          <p:nvPr/>
        </p:nvSpPr>
        <p:spPr>
          <a:xfrm>
            <a:off x="731520" y="2011680"/>
            <a:ext cx="7680960" cy="1645920"/>
          </a:xfrm>
          <a:prstGeom prst="rect">
            <a:avLst/>
          </a:prstGeom>
          <a:noFill/>
          <a:ln/>
        </p:spPr>
        <p:txBody>
          <a:bodyPr wrap="square" rtlCol="0" anchor="t"/>
          <a:lstStyle/>
          <a:p>
            <a:pPr marL="0" indent="0" algn="l">
              <a:lnSpc>
                <a:spcPct val="130000"/>
              </a:lnSpc>
              <a:buNone/>
            </a:pPr>
            <a:r>
              <a:rPr lang="en-US" sz="3000" dirty="0">
                <a:solidFill>
                  <a:srgbClr val="FFFFFF"/>
                </a:solidFill>
                <a:latin typeface="Arial" pitchFamily="34" charset="0"/>
                <a:ea typeface="Arial" pitchFamily="34" charset="-122"/>
                <a:cs typeface="Arial" pitchFamily="34" charset="-120"/>
              </a:rPr>
              <a:t>Next question:</a:t>
            </a:r>
            <a:endParaRPr lang="en-US" sz="3000" dirty="0"/>
          </a:p>
          <a:p>
            <a:pPr marL="750888" indent="-508000" algn="l">
              <a:lnSpc>
                <a:spcPct val="130000"/>
              </a:lnSpc>
              <a:buSzPct val="75000"/>
              <a:buFont typeface="Wingdings" pitchFamily="2" charset="2"/>
              <a:buChar char="Ø"/>
            </a:pPr>
            <a:r>
              <a:rPr lang="en-US" sz="3000" dirty="0">
                <a:solidFill>
                  <a:srgbClr val="FFFFFF"/>
                </a:solidFill>
                <a:latin typeface="Arial" pitchFamily="34" charset="0"/>
                <a:ea typeface="Arial" pitchFamily="34" charset="-122"/>
                <a:cs typeface="Arial" pitchFamily="34" charset="-120"/>
              </a:rPr>
              <a:t>How could they lose it?</a:t>
            </a:r>
            <a:endParaRPr lang="en-US" sz="3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3">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73</a:t>
            </a:r>
            <a:endParaRPr lang="en-US" sz="1000" dirty="0"/>
          </a:p>
        </p:txBody>
      </p:sp>
      <p:sp>
        <p:nvSpPr>
          <p:cNvPr id="3" name="Text 1"/>
          <p:cNvSpPr/>
          <p:nvPr/>
        </p:nvSpPr>
        <p:spPr>
          <a:xfrm>
            <a:off x="1371600" y="182880"/>
            <a:ext cx="6400800" cy="548640"/>
          </a:xfrm>
          <a:prstGeom prst="rect">
            <a:avLst/>
          </a:prstGeom>
          <a:noFill/>
          <a:ln/>
        </p:spPr>
        <p:txBody>
          <a:bodyPr wrap="square" rtlCol="0" anchor="ctr"/>
          <a:lstStyle/>
          <a:p>
            <a:pPr marL="0" indent="0" algn="ctr">
              <a:buNone/>
            </a:pPr>
            <a:r>
              <a:rPr lang="en-US" sz="3000" b="1" dirty="0">
                <a:solidFill>
                  <a:schemeClr val="bg1"/>
                </a:solidFill>
                <a:latin typeface="Arial" pitchFamily="34" charset="0"/>
                <a:ea typeface="Arial" pitchFamily="34" charset="-122"/>
                <a:cs typeface="Arial" pitchFamily="34" charset="-120"/>
              </a:rPr>
              <a:t>Next:</a:t>
            </a:r>
            <a:endParaRPr lang="en-US" sz="3000" dirty="0">
              <a:solidFill>
                <a:schemeClr val="bg1"/>
              </a:solidFill>
            </a:endParaRPr>
          </a:p>
        </p:txBody>
      </p:sp>
      <p:sp>
        <p:nvSpPr>
          <p:cNvPr id="4" name="Text 2"/>
          <p:cNvSpPr/>
          <p:nvPr/>
        </p:nvSpPr>
        <p:spPr>
          <a:xfrm>
            <a:off x="1371600" y="811530"/>
            <a:ext cx="6400800" cy="914400"/>
          </a:xfrm>
          <a:prstGeom prst="rect">
            <a:avLst/>
          </a:prstGeom>
          <a:noFill/>
          <a:ln/>
        </p:spPr>
        <p:txBody>
          <a:bodyPr wrap="square"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Chapter 3</a:t>
            </a:r>
            <a:endParaRPr lang="en-US" sz="4000" dirty="0"/>
          </a:p>
        </p:txBody>
      </p:sp>
      <p:sp>
        <p:nvSpPr>
          <p:cNvPr id="5" name="Text 3"/>
          <p:cNvSpPr/>
          <p:nvPr/>
        </p:nvSpPr>
        <p:spPr>
          <a:xfrm>
            <a:off x="1371600" y="2171700"/>
            <a:ext cx="6400800" cy="548640"/>
          </a:xfrm>
          <a:prstGeom prst="rect">
            <a:avLst/>
          </a:prstGeom>
          <a:noFill/>
          <a:ln/>
        </p:spPr>
        <p:txBody>
          <a:bodyPr wrap="square" rtlCol="0" anchor="ctr"/>
          <a:lstStyle/>
          <a:p>
            <a:pPr marL="0" indent="0" algn="r">
              <a:buNone/>
            </a:pPr>
            <a:r>
              <a:rPr lang="en-US" sz="2400" dirty="0">
                <a:solidFill>
                  <a:srgbClr val="FFD65C"/>
                </a:solidFill>
                <a:latin typeface="Arial" pitchFamily="34" charset="0"/>
                <a:ea typeface="Arial" pitchFamily="34" charset="-122"/>
                <a:cs typeface="Arial" pitchFamily="34" charset="-120"/>
              </a:rPr>
              <a:t>Risk Assessment, Uncertainty, and Valuation</a:t>
            </a:r>
            <a:endParaRPr lang="en-US" sz="2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4">
    <p:bg>
      <p:bgPr>
        <a:solidFill>
          <a:srgbClr val="0A3255"/>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74</a:t>
            </a:r>
            <a:endParaRPr lang="en-US" sz="1000" dirty="0"/>
          </a:p>
        </p:txBody>
      </p:sp>
      <p:sp>
        <p:nvSpPr>
          <p:cNvPr id="3" name="Text 1"/>
          <p:cNvSpPr/>
          <p:nvPr/>
        </p:nvSpPr>
        <p:spPr>
          <a:xfrm>
            <a:off x="731520" y="182880"/>
            <a:ext cx="7680960" cy="640080"/>
          </a:xfrm>
          <a:prstGeom prst="rect">
            <a:avLst/>
          </a:prstGeom>
          <a:noFill/>
          <a:ln/>
        </p:spPr>
        <p:txBody>
          <a:bodyPr wrap="square" rtlCol="0" anchor="ctr"/>
          <a:lstStyle/>
          <a:p>
            <a:pPr marL="0" indent="0" algn="l">
              <a:buNone/>
            </a:pPr>
            <a:r>
              <a:rPr lang="en-US" sz="4400" b="1" dirty="0">
                <a:solidFill>
                  <a:srgbClr val="FFD65C"/>
                </a:solidFill>
                <a:latin typeface="Arial" pitchFamily="34" charset="0"/>
                <a:ea typeface="Arial" pitchFamily="34" charset="-122"/>
                <a:cs typeface="Arial" pitchFamily="34" charset="-120"/>
              </a:rPr>
              <a:t>Chapter 2 Mastery Checklist</a:t>
            </a:r>
            <a:endParaRPr lang="en-US" sz="4400" dirty="0"/>
          </a:p>
        </p:txBody>
      </p:sp>
      <p:sp>
        <p:nvSpPr>
          <p:cNvPr id="4" name="Text 2"/>
          <p:cNvSpPr/>
          <p:nvPr/>
        </p:nvSpPr>
        <p:spPr>
          <a:xfrm>
            <a:off x="731520" y="1280160"/>
            <a:ext cx="7680960" cy="3474720"/>
          </a:xfrm>
          <a:prstGeom prst="rect">
            <a:avLst/>
          </a:prstGeom>
          <a:noFill/>
          <a:ln/>
        </p:spPr>
        <p:txBody>
          <a:bodyPr wrap="square" rtlCol="0" anchor="t"/>
          <a:lstStyle/>
          <a:p>
            <a:pPr marL="0" indent="0">
              <a:spcAft>
                <a:spcPts val="600"/>
              </a:spcAft>
              <a:buNone/>
            </a:pPr>
            <a:r>
              <a:rPr lang="en-US" sz="2400" dirty="0">
                <a:solidFill>
                  <a:srgbClr val="FFFFFF"/>
                </a:solidFill>
                <a:latin typeface="Arial" pitchFamily="34" charset="0"/>
                <a:ea typeface="Arial" pitchFamily="34" charset="-122"/>
                <a:cs typeface="Arial" pitchFamily="34" charset="-120"/>
              </a:rPr>
              <a:t>✓  Explain why a systematic inventory is essential</a:t>
            </a:r>
            <a:endParaRPr lang="en-US" sz="2400" dirty="0"/>
          </a:p>
          <a:p>
            <a:pPr marL="0" indent="0">
              <a:spcAft>
                <a:spcPts val="600"/>
              </a:spcAft>
              <a:buNone/>
            </a:pPr>
            <a:r>
              <a:rPr lang="en-US" sz="2400" dirty="0">
                <a:solidFill>
                  <a:srgbClr val="FFFFFF"/>
                </a:solidFill>
                <a:latin typeface="Arial" pitchFamily="34" charset="0"/>
                <a:ea typeface="Arial" pitchFamily="34" charset="-122"/>
                <a:cs typeface="Arial" pitchFamily="34" charset="-120"/>
              </a:rPr>
              <a:t>✓  Classify secrets: Technical, Business, Hybrid</a:t>
            </a:r>
            <a:endParaRPr lang="en-US" sz="2400" dirty="0"/>
          </a:p>
          <a:p>
            <a:pPr marL="0" indent="0">
              <a:spcAft>
                <a:spcPts val="600"/>
              </a:spcAft>
              <a:buNone/>
            </a:pPr>
            <a:r>
              <a:rPr lang="en-US" sz="2400" dirty="0">
                <a:solidFill>
                  <a:srgbClr val="FFFFFF"/>
                </a:solidFill>
                <a:latin typeface="Arial" pitchFamily="34" charset="0"/>
                <a:ea typeface="Arial" pitchFamily="34" charset="-122"/>
                <a:cs typeface="Arial" pitchFamily="34" charset="-120"/>
              </a:rPr>
              <a:t>✓  Assign priority based on value and vulnerability</a:t>
            </a:r>
            <a:endParaRPr lang="en-US" sz="2400" dirty="0"/>
          </a:p>
          <a:p>
            <a:pPr marL="0" indent="0">
              <a:spcAft>
                <a:spcPts val="600"/>
              </a:spcAft>
              <a:buNone/>
            </a:pPr>
            <a:r>
              <a:rPr lang="en-US" sz="2400" dirty="0">
                <a:solidFill>
                  <a:srgbClr val="FFFFFF"/>
                </a:solidFill>
                <a:latin typeface="Arial" pitchFamily="34" charset="0"/>
                <a:ea typeface="Arial" pitchFamily="34" charset="-122"/>
                <a:cs typeface="Arial" pitchFamily="34" charset="-120"/>
              </a:rPr>
              <a:t>✓  Apply the three-element test to specific assets</a:t>
            </a:r>
            <a:endParaRPr lang="en-US" sz="2400" dirty="0"/>
          </a:p>
          <a:p>
            <a:pPr marL="0" indent="0">
              <a:spcAft>
                <a:spcPts val="600"/>
              </a:spcAft>
              <a:buNone/>
            </a:pPr>
            <a:r>
              <a:rPr lang="en-US" sz="2400" dirty="0">
                <a:solidFill>
                  <a:srgbClr val="FFFFFF"/>
                </a:solidFill>
                <a:latin typeface="Arial" pitchFamily="34" charset="0"/>
                <a:ea typeface="Arial" pitchFamily="34" charset="-122"/>
                <a:cs typeface="Arial" pitchFamily="34" charset="-120"/>
              </a:rPr>
              <a:t>✓  Describe trade secrets with reasonable particularity</a:t>
            </a:r>
            <a:endParaRPr lang="en-US" sz="2400" dirty="0"/>
          </a:p>
          <a:p>
            <a:pPr marL="0" indent="0">
              <a:spcAft>
                <a:spcPts val="600"/>
              </a:spcAft>
              <a:buNone/>
            </a:pPr>
            <a:r>
              <a:rPr lang="en-US" sz="2400" dirty="0">
                <a:solidFill>
                  <a:srgbClr val="FFFFFF"/>
                </a:solidFill>
                <a:latin typeface="Arial" pitchFamily="34" charset="0"/>
                <a:ea typeface="Arial" pitchFamily="34" charset="-122"/>
                <a:cs typeface="Arial" pitchFamily="34" charset="-120"/>
              </a:rPr>
              <a:t>✓  Produce a court-ready inventory table</a:t>
            </a:r>
            <a:endParaRPr lang="en-US" sz="2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5">
    <p:bg>
      <p:bgPr>
        <a:solidFill>
          <a:srgbClr val="B21F2C"/>
        </a:solidFill>
        <a:effectLst/>
      </p:bgPr>
    </p:bg>
    <p:spTree>
      <p:nvGrpSpPr>
        <p:cNvPr id="1" name=""/>
        <p:cNvGrpSpPr/>
        <p:nvPr/>
      </p:nvGrpSpPr>
      <p:grpSpPr>
        <a:xfrm>
          <a:off x="0" y="0"/>
          <a:ext cx="0" cy="0"/>
          <a:chOff x="0" y="0"/>
          <a:chExt cx="0" cy="0"/>
        </a:xfrm>
      </p:grpSpPr>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75</a:t>
            </a:r>
            <a:endParaRPr lang="en-US" sz="1000" dirty="0"/>
          </a:p>
        </p:txBody>
      </p:sp>
      <p:sp>
        <p:nvSpPr>
          <p:cNvPr id="3" name="Shape 1"/>
          <p:cNvSpPr/>
          <p:nvPr/>
        </p:nvSpPr>
        <p:spPr>
          <a:xfrm>
            <a:off x="1371600" y="2068830"/>
            <a:ext cx="6400800" cy="0"/>
          </a:xfrm>
          <a:prstGeom prst="line">
            <a:avLst/>
          </a:prstGeom>
          <a:noFill/>
          <a:ln w="25400">
            <a:solidFill>
              <a:srgbClr val="FFFFFF"/>
            </a:solidFill>
            <a:prstDash val="solid"/>
          </a:ln>
        </p:spPr>
        <p:txBody>
          <a:bodyPr/>
          <a:lstStyle/>
          <a:p>
            <a:endParaRPr lang="en-US"/>
          </a:p>
        </p:txBody>
      </p:sp>
      <p:sp>
        <p:nvSpPr>
          <p:cNvPr id="4" name="Text 2"/>
          <p:cNvSpPr/>
          <p:nvPr/>
        </p:nvSpPr>
        <p:spPr>
          <a:xfrm>
            <a:off x="731520" y="2011680"/>
            <a:ext cx="7680960" cy="91440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TSPP STAGE 2</a:t>
            </a:r>
            <a:endParaRPr lang="en-US" sz="4400" dirty="0"/>
          </a:p>
        </p:txBody>
      </p:sp>
      <p:sp>
        <p:nvSpPr>
          <p:cNvPr id="5" name="Text 3"/>
          <p:cNvSpPr/>
          <p:nvPr/>
        </p:nvSpPr>
        <p:spPr>
          <a:xfrm>
            <a:off x="731520" y="2983230"/>
            <a:ext cx="7680960" cy="445769"/>
          </a:xfrm>
          <a:prstGeom prst="rect">
            <a:avLst/>
          </a:prstGeom>
          <a:noFill/>
          <a:ln/>
        </p:spPr>
        <p:txBody>
          <a:bodyPr wrap="square" rtlCol="0" anchor="ctr"/>
          <a:lstStyle/>
          <a:p>
            <a:pPr marL="0" indent="0" algn="ctr">
              <a:buNone/>
            </a:pPr>
            <a:r>
              <a:rPr lang="en-US" sz="2800" dirty="0">
                <a:solidFill>
                  <a:srgbClr val="FFD65C"/>
                </a:solidFill>
                <a:latin typeface="Arial" pitchFamily="34" charset="0"/>
                <a:ea typeface="Arial" pitchFamily="34" charset="-122"/>
                <a:cs typeface="Arial" pitchFamily="34" charset="-120"/>
              </a:rPr>
              <a:t>Identification and Inventory</a:t>
            </a:r>
            <a:endParaRPr lang="en-US" sz="2800" dirty="0"/>
          </a:p>
        </p:txBody>
      </p:sp>
      <p:sp>
        <p:nvSpPr>
          <p:cNvPr id="6" name="Shape 4"/>
          <p:cNvSpPr/>
          <p:nvPr/>
        </p:nvSpPr>
        <p:spPr>
          <a:xfrm>
            <a:off x="1371600" y="2926080"/>
            <a:ext cx="6400800" cy="0"/>
          </a:xfrm>
          <a:prstGeom prst="line">
            <a:avLst/>
          </a:prstGeom>
          <a:noFill/>
          <a:ln w="25400">
            <a:solidFill>
              <a:srgbClr val="FFFFFF"/>
            </a:solidFill>
            <a:prstDash val="solid"/>
          </a:ln>
        </p:spPr>
        <p:txBody>
          <a:bodyPr/>
          <a:lstStyle/>
          <a:p>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6">
    <p:bg>
      <p:bgPr>
        <a:solidFill>
          <a:srgbClr val="093255"/>
        </a:solidFill>
        <a:effectLst/>
      </p:bgPr>
    </p:bg>
    <p:spTree>
      <p:nvGrpSpPr>
        <p:cNvPr id="1" name=""/>
        <p:cNvGrpSpPr/>
        <p:nvPr/>
      </p:nvGrpSpPr>
      <p:grpSpPr>
        <a:xfrm>
          <a:off x="0" y="0"/>
          <a:ext cx="0" cy="0"/>
          <a:chOff x="0" y="0"/>
          <a:chExt cx="0" cy="0"/>
        </a:xfrm>
      </p:grpSpPr>
      <p:sp>
        <p:nvSpPr>
          <p:cNvPr id="3" name="Shape 1"/>
          <p:cNvSpPr/>
          <p:nvPr/>
        </p:nvSpPr>
        <p:spPr>
          <a:xfrm>
            <a:off x="457200" y="182880"/>
            <a:ext cx="1097280" cy="411480"/>
          </a:xfrm>
          <a:prstGeom prst="rect">
            <a:avLst/>
          </a:prstGeom>
          <a:solidFill>
            <a:srgbClr val="FFD65C"/>
          </a:solidFill>
          <a:ln/>
        </p:spPr>
        <p:txBody>
          <a:bodyPr/>
          <a:lstStyle/>
          <a:p>
            <a:endParaRPr lang="en-US"/>
          </a:p>
        </p:txBody>
      </p:sp>
      <p:sp>
        <p:nvSpPr>
          <p:cNvPr id="4" name="Text 2"/>
          <p:cNvSpPr/>
          <p:nvPr/>
        </p:nvSpPr>
        <p:spPr>
          <a:xfrm>
            <a:off x="457200" y="182880"/>
            <a:ext cx="1097280" cy="411480"/>
          </a:xfrm>
          <a:prstGeom prst="rect">
            <a:avLst/>
          </a:prstGeom>
          <a:noFill/>
          <a:ln/>
        </p:spPr>
        <p:txBody>
          <a:bodyPr wrap="square" rtlCol="0" anchor="ctr"/>
          <a:lstStyle/>
          <a:p>
            <a:pPr marL="0" indent="0" algn="ctr">
              <a:buNone/>
            </a:pPr>
            <a:r>
              <a:rPr lang="en-US" sz="1800" b="1" dirty="0">
                <a:solidFill>
                  <a:srgbClr val="0A3255"/>
                </a:solidFill>
                <a:latin typeface="Arial" pitchFamily="34" charset="0"/>
                <a:ea typeface="Arial" pitchFamily="34" charset="-122"/>
                <a:cs typeface="Arial" pitchFamily="34" charset="-120"/>
              </a:rPr>
              <a:t>TSPP</a:t>
            </a:r>
            <a:endParaRPr lang="en-US" sz="1800" dirty="0"/>
          </a:p>
        </p:txBody>
      </p:sp>
      <p:sp>
        <p:nvSpPr>
          <p:cNvPr id="5" name="Text 3"/>
          <p:cNvSpPr/>
          <p:nvPr/>
        </p:nvSpPr>
        <p:spPr>
          <a:xfrm>
            <a:off x="1022985" y="182880"/>
            <a:ext cx="7098030" cy="158431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Deliverable: </a:t>
            </a:r>
          </a:p>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Inventory Table</a:t>
            </a:r>
            <a:endParaRPr lang="en-US" sz="4400" dirty="0"/>
          </a:p>
        </p:txBody>
      </p:sp>
      <p:sp>
        <p:nvSpPr>
          <p:cNvPr id="6" name="Text 4"/>
          <p:cNvSpPr/>
          <p:nvPr/>
        </p:nvSpPr>
        <p:spPr>
          <a:xfrm>
            <a:off x="731520" y="2016140"/>
            <a:ext cx="7680960" cy="1463040"/>
          </a:xfrm>
          <a:prstGeom prst="rect">
            <a:avLst/>
          </a:prstGeom>
          <a:noFill/>
          <a:ln/>
        </p:spPr>
        <p:txBody>
          <a:bodyPr wrap="square" rtlCol="0" anchor="t"/>
          <a:lstStyle/>
          <a:p>
            <a:pPr marL="457200" indent="-457200" algn="l">
              <a:lnSpc>
                <a:spcPct val="130000"/>
              </a:lnSpc>
              <a:buSzPct val="75000"/>
              <a:buFont typeface="Wingdings" pitchFamily="2" charset="2"/>
              <a:buChar char="Ø"/>
            </a:pPr>
            <a:r>
              <a:rPr lang="en-US" sz="2800" dirty="0">
                <a:solidFill>
                  <a:srgbClr val="FFFFFF"/>
                </a:solidFill>
                <a:latin typeface="Arial" pitchFamily="34" charset="0"/>
                <a:ea typeface="Arial" pitchFamily="34" charset="-122"/>
                <a:cs typeface="Arial" pitchFamily="34" charset="-120"/>
              </a:rPr>
              <a:t>5-8 entries — one page</a:t>
            </a:r>
            <a:endParaRPr lang="en-US" sz="2800" dirty="0"/>
          </a:p>
          <a:p>
            <a:pPr marL="457200" indent="-457200" algn="l">
              <a:lnSpc>
                <a:spcPct val="130000"/>
              </a:lnSpc>
              <a:buSzPct val="75000"/>
              <a:buFont typeface="Wingdings" pitchFamily="2" charset="2"/>
              <a:buChar char="Ø"/>
            </a:pPr>
            <a:r>
              <a:rPr lang="en-US" sz="2800" dirty="0">
                <a:solidFill>
                  <a:srgbClr val="FFFFFF"/>
                </a:solidFill>
                <a:latin typeface="Arial" pitchFamily="34" charset="0"/>
                <a:ea typeface="Arial" pitchFamily="34" charset="-122"/>
                <a:cs typeface="Arial" pitchFamily="34" charset="-120"/>
              </a:rPr>
              <a:t>Attachment A of the final TSPP</a:t>
            </a:r>
            <a:endParaRPr lang="en-US" sz="2800" dirty="0"/>
          </a:p>
        </p:txBody>
      </p:sp>
      <p:sp>
        <p:nvSpPr>
          <p:cNvPr id="7" name="Rectangle 6">
            <a:extLst>
              <a:ext uri="{FF2B5EF4-FFF2-40B4-BE49-F238E27FC236}">
                <a16:creationId xmlns:a16="http://schemas.microsoft.com/office/drawing/2014/main" id="{4FA8BCD8-7F8C-807C-EB3C-31E00A26A8FC}"/>
              </a:ext>
            </a:extLst>
          </p:cNvPr>
          <p:cNvSpPr/>
          <p:nvPr/>
        </p:nvSpPr>
        <p:spPr>
          <a:xfrm>
            <a:off x="8674873" y="0"/>
            <a:ext cx="469127" cy="514350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76</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7">
    <p:bg>
      <p:bgPr>
        <a:solidFill>
          <a:srgbClr val="093255"/>
        </a:solidFill>
        <a:effectLst/>
      </p:bgPr>
    </p:bg>
    <p:spTree>
      <p:nvGrpSpPr>
        <p:cNvPr id="1" name=""/>
        <p:cNvGrpSpPr/>
        <p:nvPr/>
      </p:nvGrpSpPr>
      <p:grpSpPr>
        <a:xfrm>
          <a:off x="0" y="0"/>
          <a:ext cx="0" cy="0"/>
          <a:chOff x="0" y="0"/>
          <a:chExt cx="0" cy="0"/>
        </a:xfrm>
      </p:grpSpPr>
      <p:sp>
        <p:nvSpPr>
          <p:cNvPr id="3" name="Shape 1"/>
          <p:cNvSpPr/>
          <p:nvPr/>
        </p:nvSpPr>
        <p:spPr>
          <a:xfrm>
            <a:off x="457200" y="388620"/>
            <a:ext cx="1097280" cy="411480"/>
          </a:xfrm>
          <a:prstGeom prst="rect">
            <a:avLst/>
          </a:prstGeom>
          <a:solidFill>
            <a:srgbClr val="FFD65C"/>
          </a:solidFill>
          <a:ln/>
        </p:spPr>
        <p:txBody>
          <a:bodyPr/>
          <a:lstStyle/>
          <a:p>
            <a:endParaRPr lang="en-US"/>
          </a:p>
        </p:txBody>
      </p:sp>
      <p:sp>
        <p:nvSpPr>
          <p:cNvPr id="4" name="Text 2"/>
          <p:cNvSpPr/>
          <p:nvPr/>
        </p:nvSpPr>
        <p:spPr>
          <a:xfrm>
            <a:off x="457200" y="388620"/>
            <a:ext cx="1097280" cy="411480"/>
          </a:xfrm>
          <a:prstGeom prst="rect">
            <a:avLst/>
          </a:prstGeom>
          <a:noFill/>
          <a:ln/>
        </p:spPr>
        <p:txBody>
          <a:bodyPr wrap="square" rtlCol="0" anchor="ctr"/>
          <a:lstStyle/>
          <a:p>
            <a:pPr marL="0" indent="0" algn="ctr">
              <a:buNone/>
            </a:pPr>
            <a:r>
              <a:rPr lang="en-US" sz="1800" b="1" dirty="0">
                <a:solidFill>
                  <a:srgbClr val="0A3255"/>
                </a:solidFill>
                <a:latin typeface="Arial" pitchFamily="34" charset="0"/>
                <a:ea typeface="Arial" pitchFamily="34" charset="-122"/>
                <a:cs typeface="Arial" pitchFamily="34" charset="-120"/>
              </a:rPr>
              <a:t>TSPP</a:t>
            </a:r>
            <a:endParaRPr lang="en-US" sz="1800" dirty="0"/>
          </a:p>
        </p:txBody>
      </p:sp>
      <p:sp>
        <p:nvSpPr>
          <p:cNvPr id="5" name="Text 3"/>
          <p:cNvSpPr/>
          <p:nvPr/>
        </p:nvSpPr>
        <p:spPr>
          <a:xfrm>
            <a:off x="1143000" y="182322"/>
            <a:ext cx="6858000"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Use the Three-</a:t>
            </a:r>
          </a:p>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Element Test</a:t>
            </a:r>
            <a:endParaRPr lang="en-US" sz="4400" dirty="0"/>
          </a:p>
        </p:txBody>
      </p:sp>
      <p:sp>
        <p:nvSpPr>
          <p:cNvPr id="6" name="Text 4"/>
          <p:cNvSpPr/>
          <p:nvPr/>
        </p:nvSpPr>
        <p:spPr>
          <a:xfrm>
            <a:off x="731520" y="2011680"/>
            <a:ext cx="7680960" cy="1463040"/>
          </a:xfrm>
          <a:prstGeom prst="rect">
            <a:avLst/>
          </a:prstGeom>
          <a:noFill/>
          <a:ln/>
        </p:spPr>
        <p:txBody>
          <a:bodyPr wrap="square" rtlCol="0" anchor="t"/>
          <a:lstStyle/>
          <a:p>
            <a:pPr marL="0" indent="0" algn="l">
              <a:lnSpc>
                <a:spcPct val="130000"/>
              </a:lnSpc>
              <a:buNone/>
            </a:pPr>
            <a:r>
              <a:rPr lang="en-US" sz="2800" dirty="0">
                <a:solidFill>
                  <a:srgbClr val="FFFFFF"/>
                </a:solidFill>
                <a:latin typeface="Arial" pitchFamily="34" charset="0"/>
                <a:ea typeface="Arial" pitchFamily="34" charset="-122"/>
                <a:cs typeface="Arial" pitchFamily="34" charset="-120"/>
              </a:rPr>
              <a:t>Every entry must address:</a:t>
            </a:r>
            <a:endParaRPr lang="en-US" sz="2800" dirty="0"/>
          </a:p>
          <a:p>
            <a:pPr marL="750888" indent="-468313" algn="l">
              <a:lnSpc>
                <a:spcPct val="130000"/>
              </a:lnSpc>
              <a:buSzPct val="75000"/>
              <a:buFont typeface="Wingdings" pitchFamily="2" charset="2"/>
              <a:buChar char="Ø"/>
            </a:pPr>
            <a:r>
              <a:rPr lang="en-US" sz="2800" dirty="0">
                <a:solidFill>
                  <a:srgbClr val="FFFFFF"/>
                </a:solidFill>
                <a:latin typeface="Arial" pitchFamily="34" charset="0"/>
                <a:ea typeface="Arial" pitchFamily="34" charset="-122"/>
                <a:cs typeface="Arial" pitchFamily="34" charset="-120"/>
              </a:rPr>
              <a:t>Information + Value + Efforts</a:t>
            </a:r>
            <a:endParaRPr lang="en-US" sz="2800" dirty="0"/>
          </a:p>
        </p:txBody>
      </p:sp>
      <p:sp>
        <p:nvSpPr>
          <p:cNvPr id="7" name="Rectangle 6">
            <a:extLst>
              <a:ext uri="{FF2B5EF4-FFF2-40B4-BE49-F238E27FC236}">
                <a16:creationId xmlns:a16="http://schemas.microsoft.com/office/drawing/2014/main" id="{C326F457-B6A3-945A-6EBE-6B1232D09EC4}"/>
              </a:ext>
            </a:extLst>
          </p:cNvPr>
          <p:cNvSpPr/>
          <p:nvPr/>
        </p:nvSpPr>
        <p:spPr>
          <a:xfrm>
            <a:off x="8674873" y="0"/>
            <a:ext cx="469127" cy="514350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77</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8">
    <p:bg>
      <p:bgPr>
        <a:solidFill>
          <a:srgbClr val="093255"/>
        </a:solidFill>
        <a:effectLst/>
      </p:bgPr>
    </p:bg>
    <p:spTree>
      <p:nvGrpSpPr>
        <p:cNvPr id="1" name=""/>
        <p:cNvGrpSpPr/>
        <p:nvPr/>
      </p:nvGrpSpPr>
      <p:grpSpPr>
        <a:xfrm>
          <a:off x="0" y="0"/>
          <a:ext cx="0" cy="0"/>
          <a:chOff x="0" y="0"/>
          <a:chExt cx="0" cy="0"/>
        </a:xfrm>
      </p:grpSpPr>
      <p:sp>
        <p:nvSpPr>
          <p:cNvPr id="3" name="Shape 1"/>
          <p:cNvSpPr/>
          <p:nvPr/>
        </p:nvSpPr>
        <p:spPr>
          <a:xfrm>
            <a:off x="457200" y="182880"/>
            <a:ext cx="1097280" cy="411480"/>
          </a:xfrm>
          <a:prstGeom prst="rect">
            <a:avLst/>
          </a:prstGeom>
          <a:solidFill>
            <a:srgbClr val="FFD65C"/>
          </a:solidFill>
          <a:ln/>
        </p:spPr>
        <p:txBody>
          <a:bodyPr/>
          <a:lstStyle/>
          <a:p>
            <a:endParaRPr lang="en-US"/>
          </a:p>
        </p:txBody>
      </p:sp>
      <p:sp>
        <p:nvSpPr>
          <p:cNvPr id="4" name="Text 2"/>
          <p:cNvSpPr/>
          <p:nvPr/>
        </p:nvSpPr>
        <p:spPr>
          <a:xfrm>
            <a:off x="457200" y="182880"/>
            <a:ext cx="1097280" cy="411480"/>
          </a:xfrm>
          <a:prstGeom prst="rect">
            <a:avLst/>
          </a:prstGeom>
          <a:noFill/>
          <a:ln/>
        </p:spPr>
        <p:txBody>
          <a:bodyPr wrap="square" rtlCol="0" anchor="ctr"/>
          <a:lstStyle/>
          <a:p>
            <a:pPr marL="0" indent="0" algn="ctr">
              <a:buNone/>
            </a:pPr>
            <a:r>
              <a:rPr lang="en-US" sz="1800" b="1" dirty="0">
                <a:solidFill>
                  <a:srgbClr val="0A3255"/>
                </a:solidFill>
                <a:latin typeface="Arial" pitchFamily="34" charset="0"/>
                <a:ea typeface="Arial" pitchFamily="34" charset="-122"/>
                <a:cs typeface="Arial" pitchFamily="34" charset="-120"/>
              </a:rPr>
              <a:t>TSPP</a:t>
            </a:r>
            <a:endParaRPr lang="en-US" sz="1800" dirty="0"/>
          </a:p>
        </p:txBody>
      </p:sp>
      <p:sp>
        <p:nvSpPr>
          <p:cNvPr id="5" name="Text 3"/>
          <p:cNvSpPr/>
          <p:nvPr/>
        </p:nvSpPr>
        <p:spPr>
          <a:xfrm>
            <a:off x="1411605" y="182880"/>
            <a:ext cx="6320790" cy="1623617"/>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Be Specific, </a:t>
            </a:r>
          </a:p>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Not Vague</a:t>
            </a:r>
            <a:endParaRPr lang="en-US" sz="4400" dirty="0"/>
          </a:p>
        </p:txBody>
      </p:sp>
      <p:sp>
        <p:nvSpPr>
          <p:cNvPr id="6" name="Text 4"/>
          <p:cNvSpPr/>
          <p:nvPr/>
        </p:nvSpPr>
        <p:spPr>
          <a:xfrm>
            <a:off x="731520" y="2016141"/>
            <a:ext cx="7680960" cy="1794510"/>
          </a:xfrm>
          <a:prstGeom prst="rect">
            <a:avLst/>
          </a:prstGeom>
          <a:noFill/>
          <a:ln/>
        </p:spPr>
        <p:txBody>
          <a:bodyPr wrap="square" rtlCol="0" anchor="t"/>
          <a:lstStyle/>
          <a:p>
            <a:pPr marL="457200" indent="-457200" algn="l">
              <a:lnSpc>
                <a:spcPct val="130000"/>
              </a:lnSpc>
              <a:buSzPct val="75000"/>
              <a:buFont typeface="Wingdings" pitchFamily="2" charset="2"/>
              <a:buChar char="Ø"/>
            </a:pPr>
            <a:r>
              <a:rPr lang="en-US" sz="2800" dirty="0">
                <a:solidFill>
                  <a:srgbClr val="FFFFFF"/>
                </a:solidFill>
                <a:latin typeface="Arial" pitchFamily="34" charset="0"/>
                <a:ea typeface="Arial" pitchFamily="34" charset="-122"/>
                <a:cs typeface="Arial" pitchFamily="34" charset="-120"/>
              </a:rPr>
              <a:t>'Our fermentation process' → too vague</a:t>
            </a:r>
            <a:endParaRPr lang="en-US" sz="2800" dirty="0"/>
          </a:p>
          <a:p>
            <a:pPr marL="457200" indent="-457200" algn="l">
              <a:lnSpc>
                <a:spcPct val="130000"/>
              </a:lnSpc>
              <a:buSzPct val="75000"/>
              <a:buFont typeface="Wingdings" pitchFamily="2" charset="2"/>
              <a:buChar char="Ø"/>
            </a:pPr>
            <a:r>
              <a:rPr lang="en-US" sz="2800" dirty="0">
                <a:solidFill>
                  <a:srgbClr val="FFFFFF"/>
                </a:solidFill>
                <a:latin typeface="Arial" pitchFamily="34" charset="0"/>
                <a:ea typeface="Arial" pitchFamily="34" charset="-122"/>
                <a:cs typeface="Arial" pitchFamily="34" charset="-120"/>
              </a:rPr>
              <a:t>'Ferment-X protocol including temperature</a:t>
            </a:r>
            <a:r>
              <a:rPr lang="en-US" sz="2800" dirty="0"/>
              <a:t> </a:t>
            </a:r>
            <a:r>
              <a:rPr lang="en-US" sz="2800" dirty="0">
                <a:solidFill>
                  <a:srgbClr val="FFFFFF"/>
                </a:solidFill>
                <a:latin typeface="Arial" pitchFamily="34" charset="0"/>
                <a:ea typeface="Arial" pitchFamily="34" charset="-122"/>
                <a:cs typeface="Arial" pitchFamily="34" charset="-120"/>
              </a:rPr>
              <a:t>curves and timing parameters' → sufficient</a:t>
            </a:r>
            <a:endParaRPr lang="en-US" sz="2800" dirty="0"/>
          </a:p>
        </p:txBody>
      </p:sp>
      <p:sp>
        <p:nvSpPr>
          <p:cNvPr id="7" name="Rectangle 6">
            <a:extLst>
              <a:ext uri="{FF2B5EF4-FFF2-40B4-BE49-F238E27FC236}">
                <a16:creationId xmlns:a16="http://schemas.microsoft.com/office/drawing/2014/main" id="{A55B4B32-E6E2-E26D-1CA5-4D9B67C7DF90}"/>
              </a:ext>
            </a:extLst>
          </p:cNvPr>
          <p:cNvSpPr/>
          <p:nvPr/>
        </p:nvSpPr>
        <p:spPr>
          <a:xfrm>
            <a:off x="8674873" y="0"/>
            <a:ext cx="469127" cy="514350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78</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9">
    <p:bg>
      <p:bgPr>
        <a:solidFill>
          <a:srgbClr val="093255"/>
        </a:solidFill>
        <a:effectLst/>
      </p:bgPr>
    </p:bg>
    <p:spTree>
      <p:nvGrpSpPr>
        <p:cNvPr id="1" name=""/>
        <p:cNvGrpSpPr/>
        <p:nvPr/>
      </p:nvGrpSpPr>
      <p:grpSpPr>
        <a:xfrm>
          <a:off x="0" y="0"/>
          <a:ext cx="0" cy="0"/>
          <a:chOff x="0" y="0"/>
          <a:chExt cx="0" cy="0"/>
        </a:xfrm>
      </p:grpSpPr>
      <p:sp>
        <p:nvSpPr>
          <p:cNvPr id="3" name="Shape 1"/>
          <p:cNvSpPr/>
          <p:nvPr/>
        </p:nvSpPr>
        <p:spPr>
          <a:xfrm>
            <a:off x="457200" y="182880"/>
            <a:ext cx="1097280" cy="411480"/>
          </a:xfrm>
          <a:prstGeom prst="rect">
            <a:avLst/>
          </a:prstGeom>
          <a:solidFill>
            <a:srgbClr val="FFD65C"/>
          </a:solidFill>
          <a:ln/>
        </p:spPr>
        <p:txBody>
          <a:bodyPr/>
          <a:lstStyle/>
          <a:p>
            <a:endParaRPr lang="en-US"/>
          </a:p>
        </p:txBody>
      </p:sp>
      <p:sp>
        <p:nvSpPr>
          <p:cNvPr id="4" name="Text 2"/>
          <p:cNvSpPr/>
          <p:nvPr/>
        </p:nvSpPr>
        <p:spPr>
          <a:xfrm>
            <a:off x="457200" y="182880"/>
            <a:ext cx="1097280" cy="411480"/>
          </a:xfrm>
          <a:prstGeom prst="rect">
            <a:avLst/>
          </a:prstGeom>
          <a:noFill/>
          <a:ln/>
        </p:spPr>
        <p:txBody>
          <a:bodyPr wrap="square" rtlCol="0" anchor="ctr"/>
          <a:lstStyle/>
          <a:p>
            <a:pPr marL="0" indent="0" algn="ctr">
              <a:buNone/>
            </a:pPr>
            <a:r>
              <a:rPr lang="en-US" sz="1800" b="1" dirty="0">
                <a:solidFill>
                  <a:srgbClr val="0A3255"/>
                </a:solidFill>
                <a:latin typeface="Arial" pitchFamily="34" charset="0"/>
                <a:ea typeface="Arial" pitchFamily="34" charset="-122"/>
                <a:cs typeface="Arial" pitchFamily="34" charset="-120"/>
              </a:rPr>
              <a:t>TSPP</a:t>
            </a:r>
            <a:endParaRPr lang="en-US" sz="1800" dirty="0"/>
          </a:p>
        </p:txBody>
      </p:sp>
      <p:sp>
        <p:nvSpPr>
          <p:cNvPr id="5" name="Text 3"/>
          <p:cNvSpPr/>
          <p:nvPr/>
        </p:nvSpPr>
        <p:spPr>
          <a:xfrm>
            <a:off x="1911319" y="182880"/>
            <a:ext cx="5321362" cy="1463040"/>
          </a:xfrm>
          <a:prstGeom prst="rect">
            <a:avLst/>
          </a:prstGeom>
          <a:noFill/>
          <a:ln/>
        </p:spPr>
        <p:txBody>
          <a:bodyPr wrap="square" rtlCol="0" anchor="t"/>
          <a:lstStyle/>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Flag Vulnerabilities </a:t>
            </a:r>
          </a:p>
          <a:p>
            <a:pPr marL="0" indent="0" algn="ctr">
              <a:lnSpc>
                <a:spcPct val="120000"/>
              </a:lnSpc>
              <a:buNone/>
            </a:pPr>
            <a:r>
              <a:rPr lang="en-US" sz="4400" b="1" dirty="0">
                <a:solidFill>
                  <a:srgbClr val="FFFFFF"/>
                </a:solidFill>
                <a:latin typeface="Arial" pitchFamily="34" charset="0"/>
                <a:ea typeface="Arial" pitchFamily="34" charset="-122"/>
                <a:cs typeface="Arial" pitchFamily="34" charset="-120"/>
              </a:rPr>
              <a:t>Honestly</a:t>
            </a:r>
            <a:endParaRPr lang="en-US" sz="4400" dirty="0"/>
          </a:p>
        </p:txBody>
      </p:sp>
      <p:sp>
        <p:nvSpPr>
          <p:cNvPr id="6" name="Text 4"/>
          <p:cNvSpPr/>
          <p:nvPr/>
        </p:nvSpPr>
        <p:spPr>
          <a:xfrm>
            <a:off x="731520" y="2016140"/>
            <a:ext cx="7680960" cy="1463040"/>
          </a:xfrm>
          <a:prstGeom prst="rect">
            <a:avLst/>
          </a:prstGeom>
          <a:noFill/>
          <a:ln/>
        </p:spPr>
        <p:txBody>
          <a:bodyPr wrap="square" rtlCol="0" anchor="t"/>
          <a:lstStyle/>
          <a:p>
            <a:pPr marL="0" indent="0" algn="l">
              <a:lnSpc>
                <a:spcPct val="130000"/>
              </a:lnSpc>
              <a:buNone/>
            </a:pPr>
            <a:r>
              <a:rPr lang="en-US" sz="2800" dirty="0">
                <a:solidFill>
                  <a:srgbClr val="FFFFFF"/>
                </a:solidFill>
                <a:latin typeface="Arial" pitchFamily="34" charset="0"/>
                <a:ea typeface="Arial" pitchFamily="34" charset="-122"/>
                <a:cs typeface="Arial" pitchFamily="34" charset="-120"/>
              </a:rPr>
              <a:t>The inventory documents what IS —</a:t>
            </a:r>
            <a:r>
              <a:rPr lang="en-US" sz="2800" dirty="0"/>
              <a:t> </a:t>
            </a:r>
            <a:r>
              <a:rPr lang="en-US" sz="2800" dirty="0">
                <a:solidFill>
                  <a:srgbClr val="FFFFFF"/>
                </a:solidFill>
                <a:latin typeface="Arial" pitchFamily="34" charset="0"/>
                <a:ea typeface="Arial" pitchFamily="34" charset="-122"/>
                <a:cs typeface="Arial" pitchFamily="34" charset="-120"/>
              </a:rPr>
              <a:t>not what you wish it were</a:t>
            </a:r>
            <a:endParaRPr lang="en-US" sz="2800" dirty="0"/>
          </a:p>
        </p:txBody>
      </p:sp>
      <p:sp>
        <p:nvSpPr>
          <p:cNvPr id="7" name="Rectangle 6">
            <a:extLst>
              <a:ext uri="{FF2B5EF4-FFF2-40B4-BE49-F238E27FC236}">
                <a16:creationId xmlns:a16="http://schemas.microsoft.com/office/drawing/2014/main" id="{3DE35007-BE11-1D88-1A11-F18239021EBD}"/>
              </a:ext>
            </a:extLst>
          </p:cNvPr>
          <p:cNvSpPr/>
          <p:nvPr/>
        </p:nvSpPr>
        <p:spPr>
          <a:xfrm>
            <a:off x="8674873" y="0"/>
            <a:ext cx="469127" cy="514350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8321040" y="4709160"/>
            <a:ext cx="640080" cy="274320"/>
          </a:xfrm>
          <a:prstGeom prst="rect">
            <a:avLst/>
          </a:prstGeom>
          <a:noFill/>
          <a:ln/>
        </p:spPr>
        <p:txBody>
          <a:bodyPr wrap="square" rtlCol="0" anchor="b"/>
          <a:lstStyle/>
          <a:p>
            <a:pPr marL="0" indent="0" algn="r">
              <a:buNone/>
            </a:pPr>
            <a:r>
              <a:rPr lang="en-US" sz="1000" dirty="0">
                <a:solidFill>
                  <a:srgbClr val="6DACDE"/>
                </a:solidFill>
                <a:latin typeface="Arial" pitchFamily="34" charset="0"/>
                <a:ea typeface="Arial" pitchFamily="34" charset="-122"/>
                <a:cs typeface="Arial" pitchFamily="34" charset="-120"/>
              </a:rPr>
              <a:t>79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TotalTime>
  <Words>8703</Words>
  <Application>Microsoft Macintosh PowerPoint</Application>
  <PresentationFormat>On-screen Show (16:9)</PresentationFormat>
  <Paragraphs>513</Paragraphs>
  <Slides>78</Slides>
  <Notes>78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78</vt:i4>
      </vt:variant>
    </vt:vector>
  </HeadingPairs>
  <TitlesOfParts>
    <vt:vector size="82" baseType="lpstr">
      <vt:lpstr>Aptos</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Identifying and Classifying Trade Secrets</dc:title>
  <dc:subject>PptxGenJS Presentation</dc:subject>
  <dc:creator>Seth C. Oranburg</dc:creator>
  <cp:lastModifiedBy>Katie Darling</cp:lastModifiedBy>
  <cp:revision>9</cp:revision>
  <cp:lastPrinted>2026-02-24T00:35:28Z</cp:lastPrinted>
  <dcterms:created xsi:type="dcterms:W3CDTF">2026-02-21T04:08:00Z</dcterms:created>
  <dcterms:modified xsi:type="dcterms:W3CDTF">2026-02-24T21:20:40Z</dcterms:modified>
</cp:coreProperties>
</file>