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7772400" cy="4527550"/>
  <p:notesSz cx="7772400" cy="45275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772400" cy="4526280"/>
          </a:xfrm>
          <a:custGeom>
            <a:avLst/>
            <a:gdLst/>
            <a:ahLst/>
            <a:cxnLst/>
            <a:rect l="l" t="t" r="r" b="b"/>
            <a:pathLst>
              <a:path w="7772400" h="4526280">
                <a:moveTo>
                  <a:pt x="7772400" y="4526279"/>
                </a:moveTo>
                <a:lnTo>
                  <a:pt x="0" y="4526279"/>
                </a:lnTo>
                <a:lnTo>
                  <a:pt x="0" y="0"/>
                </a:lnTo>
                <a:lnTo>
                  <a:pt x="7772400" y="0"/>
                </a:lnTo>
                <a:lnTo>
                  <a:pt x="7772400" y="4526279"/>
                </a:lnTo>
                <a:close/>
              </a:path>
            </a:pathLst>
          </a:custGeom>
          <a:solidFill>
            <a:srgbClr val="1A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746500" y="13017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635000" y="31750"/>
                </a:moveTo>
                <a:lnTo>
                  <a:pt x="0" y="31750"/>
                </a:lnTo>
                <a:lnTo>
                  <a:pt x="0" y="0"/>
                </a:lnTo>
                <a:lnTo>
                  <a:pt x="635000" y="0"/>
                </a:lnTo>
                <a:lnTo>
                  <a:pt x="635000" y="31750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28204" y="1372869"/>
            <a:ext cx="4471670" cy="1104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61517" y="2571750"/>
            <a:ext cx="4805045" cy="698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4A8FE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4A8FE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1041336"/>
            <a:ext cx="3380994" cy="29881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1041336"/>
            <a:ext cx="3380994" cy="29881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772400" cy="4526280"/>
          </a:xfrm>
          <a:custGeom>
            <a:avLst/>
            <a:gdLst/>
            <a:ahLst/>
            <a:cxnLst/>
            <a:rect l="l" t="t" r="r" b="b"/>
            <a:pathLst>
              <a:path w="7772400" h="4526280">
                <a:moveTo>
                  <a:pt x="7772400" y="4526279"/>
                </a:moveTo>
                <a:lnTo>
                  <a:pt x="0" y="4526279"/>
                </a:lnTo>
                <a:lnTo>
                  <a:pt x="0" y="0"/>
                </a:lnTo>
                <a:lnTo>
                  <a:pt x="7772400" y="0"/>
                </a:lnTo>
                <a:lnTo>
                  <a:pt x="7772400" y="4526279"/>
                </a:lnTo>
                <a:close/>
              </a:path>
            </a:pathLst>
          </a:custGeom>
          <a:solidFill>
            <a:srgbClr val="1A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300" y="488950"/>
            <a:ext cx="263842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1168400"/>
            <a:ext cx="423037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4A8FE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4210621"/>
            <a:ext cx="2487168" cy="226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4210621"/>
            <a:ext cx="1787652" cy="226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4210621"/>
            <a:ext cx="1787652" cy="226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6065">
              <a:lnSpc>
                <a:spcPct val="126499"/>
              </a:lnSpc>
              <a:spcBef>
                <a:spcPts val="100"/>
              </a:spcBef>
            </a:pPr>
            <a:r>
              <a:rPr dirty="0" sz="2800"/>
              <a:t>Patent</a:t>
            </a:r>
            <a:r>
              <a:rPr dirty="0" sz="2800" spc="-100"/>
              <a:t> </a:t>
            </a:r>
            <a:r>
              <a:rPr dirty="0" sz="2800"/>
              <a:t>vs.</a:t>
            </a:r>
            <a:r>
              <a:rPr dirty="0" sz="2800" spc="-100"/>
              <a:t> </a:t>
            </a:r>
            <a:r>
              <a:rPr dirty="0" sz="2800" spc="-10"/>
              <a:t>Trade</a:t>
            </a:r>
            <a:r>
              <a:rPr dirty="0" sz="2800" spc="-100"/>
              <a:t> </a:t>
            </a:r>
            <a:r>
              <a:rPr dirty="0" sz="2800" spc="-10"/>
              <a:t>Secret </a:t>
            </a:r>
            <a:r>
              <a:rPr dirty="0" sz="2800"/>
              <a:t>Strategic</a:t>
            </a:r>
            <a:r>
              <a:rPr dirty="0" sz="2800" spc="-70"/>
              <a:t> </a:t>
            </a:r>
            <a:r>
              <a:rPr dirty="0" sz="2800" spc="-20"/>
              <a:t>Decision-</a:t>
            </a:r>
            <a:r>
              <a:rPr dirty="0" sz="2800" spc="-10"/>
              <a:t>Making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b="0">
                <a:solidFill>
                  <a:srgbClr val="B0C3DE"/>
                </a:solidFill>
                <a:latin typeface="Arial"/>
                <a:cs typeface="Arial"/>
              </a:rPr>
              <a:t>Real-World</a:t>
            </a:r>
            <a:r>
              <a:rPr dirty="0" spc="-10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B0C3DE"/>
                </a:solidFill>
                <a:latin typeface="Arial"/>
                <a:cs typeface="Arial"/>
              </a:rPr>
              <a:t>Hypotheticals</a:t>
            </a:r>
            <a:r>
              <a:rPr dirty="0" spc="-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B0C3DE"/>
                </a:solidFill>
                <a:latin typeface="Arial"/>
                <a:cs typeface="Arial"/>
              </a:rPr>
              <a:t>from</a:t>
            </a:r>
            <a:r>
              <a:rPr dirty="0" spc="-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B0C3DE"/>
                </a:solidFill>
                <a:latin typeface="Arial"/>
                <a:cs typeface="Arial"/>
              </a:rPr>
              <a:t>Peer-Reviewed</a:t>
            </a:r>
            <a:r>
              <a:rPr dirty="0" spc="-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B0C3DE"/>
                </a:solidFill>
                <a:latin typeface="Arial"/>
                <a:cs typeface="Arial"/>
              </a:rPr>
              <a:t>Case</a:t>
            </a:r>
            <a:r>
              <a:rPr dirty="0" spc="-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pc="-10" b="0">
                <a:solidFill>
                  <a:srgbClr val="B0C3DE"/>
                </a:solidFill>
                <a:latin typeface="Arial"/>
                <a:cs typeface="Arial"/>
              </a:rPr>
              <a:t>Studies</a:t>
            </a:r>
          </a:p>
          <a:p>
            <a:pPr>
              <a:lnSpc>
                <a:spcPct val="100000"/>
              </a:lnSpc>
              <a:spcBef>
                <a:spcPts val="810"/>
              </a:spcBef>
            </a:pPr>
          </a:p>
          <a:p>
            <a:pPr algn="ctr">
              <a:lnSpc>
                <a:spcPct val="100000"/>
              </a:lnSpc>
            </a:pPr>
            <a:r>
              <a:rPr dirty="0" sz="1000" b="0">
                <a:solidFill>
                  <a:srgbClr val="8A9AB0"/>
                </a:solidFill>
                <a:latin typeface="Arial"/>
                <a:cs typeface="Arial"/>
              </a:rPr>
              <a:t>Chapter</a:t>
            </a:r>
            <a:r>
              <a:rPr dirty="0" sz="1000" spc="-5" b="0">
                <a:solidFill>
                  <a:srgbClr val="8A9AB0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8A9AB0"/>
                </a:solidFill>
                <a:latin typeface="Arial"/>
                <a:cs typeface="Arial"/>
              </a:rPr>
              <a:t>2:</a:t>
            </a:r>
            <a:r>
              <a:rPr dirty="0" sz="1000" spc="-5" b="0">
                <a:solidFill>
                  <a:srgbClr val="8A9AB0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8A9AB0"/>
                </a:solidFill>
                <a:latin typeface="Arial"/>
                <a:cs typeface="Arial"/>
              </a:rPr>
              <a:t>Identifying</a:t>
            </a:r>
            <a:r>
              <a:rPr dirty="0" sz="1000" spc="-5" b="0">
                <a:solidFill>
                  <a:srgbClr val="8A9AB0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8A9AB0"/>
                </a:solidFill>
                <a:latin typeface="Arial"/>
                <a:cs typeface="Arial"/>
              </a:rPr>
              <a:t>and Classifying</a:t>
            </a:r>
            <a:r>
              <a:rPr dirty="0" sz="1000" spc="-25" b="0">
                <a:solidFill>
                  <a:srgbClr val="8A9AB0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8A9AB0"/>
                </a:solidFill>
                <a:latin typeface="Arial"/>
                <a:cs typeface="Arial"/>
              </a:rPr>
              <a:t>Trade</a:t>
            </a:r>
            <a:r>
              <a:rPr dirty="0" sz="1000" spc="-5" b="0">
                <a:solidFill>
                  <a:srgbClr val="8A9AB0"/>
                </a:solidFill>
                <a:latin typeface="Arial"/>
                <a:cs typeface="Arial"/>
              </a:rPr>
              <a:t> </a:t>
            </a:r>
            <a:r>
              <a:rPr dirty="0" sz="1000" spc="-10" b="0">
                <a:solidFill>
                  <a:srgbClr val="8A9AB0"/>
                </a:solidFill>
                <a:latin typeface="Arial"/>
                <a:cs typeface="Arial"/>
              </a:rPr>
              <a:t>Secrets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000" y="381000"/>
            <a:ext cx="381000" cy="25400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25400"/>
                </a:moveTo>
                <a:lnTo>
                  <a:pt x="0" y="25400"/>
                </a:lnTo>
                <a:lnTo>
                  <a:pt x="0" y="0"/>
                </a:lnTo>
                <a:lnTo>
                  <a:pt x="381000" y="0"/>
                </a:lnTo>
                <a:lnTo>
                  <a:pt x="381000" y="25400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Today's</a:t>
            </a:r>
            <a:r>
              <a:rPr dirty="0" spc="-125"/>
              <a:t> </a:t>
            </a:r>
            <a:r>
              <a:rPr dirty="0" spc="-10"/>
              <a:t>Approach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8000" y="1200150"/>
            <a:ext cx="7112000" cy="641350"/>
            <a:chOff x="508000" y="1200150"/>
            <a:chExt cx="7112000" cy="641350"/>
          </a:xfrm>
        </p:grpSpPr>
        <p:sp>
          <p:nvSpPr>
            <p:cNvPr id="5" name="object 5"/>
            <p:cNvSpPr/>
            <p:nvPr/>
          </p:nvSpPr>
          <p:spPr>
            <a:xfrm>
              <a:off x="520699" y="1200150"/>
              <a:ext cx="7099300" cy="641350"/>
            </a:xfrm>
            <a:custGeom>
              <a:avLst/>
              <a:gdLst/>
              <a:ahLst/>
              <a:cxnLst/>
              <a:rect l="l" t="t" r="r" b="b"/>
              <a:pathLst>
                <a:path w="7099300" h="641350">
                  <a:moveTo>
                    <a:pt x="7077268" y="641349"/>
                  </a:moveTo>
                  <a:lnTo>
                    <a:pt x="11015" y="641349"/>
                  </a:lnTo>
                  <a:lnTo>
                    <a:pt x="9395" y="640705"/>
                  </a:lnTo>
                  <a:lnTo>
                    <a:pt x="0" y="619318"/>
                  </a:lnTo>
                  <a:lnTo>
                    <a:pt x="0" y="6159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619318"/>
                  </a:lnTo>
                  <a:lnTo>
                    <a:pt x="7080507" y="640705"/>
                  </a:lnTo>
                  <a:lnTo>
                    <a:pt x="7077268" y="641349"/>
                  </a:lnTo>
                  <a:close/>
                </a:path>
              </a:pathLst>
            </a:custGeom>
            <a:solidFill>
              <a:srgbClr val="4A8FE2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8000" y="1200150"/>
              <a:ext cx="25400" cy="641350"/>
            </a:xfrm>
            <a:custGeom>
              <a:avLst/>
              <a:gdLst/>
              <a:ahLst/>
              <a:cxnLst/>
              <a:rect l="l" t="t" r="r" b="b"/>
              <a:pathLst>
                <a:path w="25400" h="641350">
                  <a:moveTo>
                    <a:pt x="25399" y="641349"/>
                  </a:moveTo>
                  <a:lnTo>
                    <a:pt x="18385" y="641349"/>
                  </a:lnTo>
                  <a:lnTo>
                    <a:pt x="12399" y="638870"/>
                  </a:lnTo>
                  <a:lnTo>
                    <a:pt x="2479" y="628950"/>
                  </a:lnTo>
                  <a:lnTo>
                    <a:pt x="0" y="622963"/>
                  </a:lnTo>
                  <a:lnTo>
                    <a:pt x="0" y="18386"/>
                  </a:lnTo>
                  <a:lnTo>
                    <a:pt x="2479" y="12399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64134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08000" y="1968500"/>
            <a:ext cx="7112000" cy="641350"/>
            <a:chOff x="508000" y="1968500"/>
            <a:chExt cx="7112000" cy="641350"/>
          </a:xfrm>
        </p:grpSpPr>
        <p:sp>
          <p:nvSpPr>
            <p:cNvPr id="8" name="object 8"/>
            <p:cNvSpPr/>
            <p:nvPr/>
          </p:nvSpPr>
          <p:spPr>
            <a:xfrm>
              <a:off x="520699" y="1968500"/>
              <a:ext cx="7099300" cy="641350"/>
            </a:xfrm>
            <a:custGeom>
              <a:avLst/>
              <a:gdLst/>
              <a:ahLst/>
              <a:cxnLst/>
              <a:rect l="l" t="t" r="r" b="b"/>
              <a:pathLst>
                <a:path w="7099300" h="641350">
                  <a:moveTo>
                    <a:pt x="7077268" y="641349"/>
                  </a:moveTo>
                  <a:lnTo>
                    <a:pt x="11015" y="641349"/>
                  </a:lnTo>
                  <a:lnTo>
                    <a:pt x="9395" y="640705"/>
                  </a:lnTo>
                  <a:lnTo>
                    <a:pt x="0" y="619318"/>
                  </a:lnTo>
                  <a:lnTo>
                    <a:pt x="0" y="6159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619318"/>
                  </a:lnTo>
                  <a:lnTo>
                    <a:pt x="7080507" y="640705"/>
                  </a:lnTo>
                  <a:lnTo>
                    <a:pt x="7077268" y="641349"/>
                  </a:lnTo>
                  <a:close/>
                </a:path>
              </a:pathLst>
            </a:custGeom>
            <a:solidFill>
              <a:srgbClr val="4A8FE2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08000" y="1968500"/>
              <a:ext cx="25400" cy="641350"/>
            </a:xfrm>
            <a:custGeom>
              <a:avLst/>
              <a:gdLst/>
              <a:ahLst/>
              <a:cxnLst/>
              <a:rect l="l" t="t" r="r" b="b"/>
              <a:pathLst>
                <a:path w="25400" h="641350">
                  <a:moveTo>
                    <a:pt x="25399" y="641350"/>
                  </a:moveTo>
                  <a:lnTo>
                    <a:pt x="18385" y="641350"/>
                  </a:lnTo>
                  <a:lnTo>
                    <a:pt x="12399" y="638869"/>
                  </a:lnTo>
                  <a:lnTo>
                    <a:pt x="2479" y="628950"/>
                  </a:lnTo>
                  <a:lnTo>
                    <a:pt x="0" y="622964"/>
                  </a:lnTo>
                  <a:lnTo>
                    <a:pt x="0" y="18385"/>
                  </a:lnTo>
                  <a:lnTo>
                    <a:pt x="2479" y="12399"/>
                  </a:lnTo>
                  <a:lnTo>
                    <a:pt x="12398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641350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508000" y="2736850"/>
            <a:ext cx="7112000" cy="647700"/>
            <a:chOff x="508000" y="2736850"/>
            <a:chExt cx="7112000" cy="647700"/>
          </a:xfrm>
        </p:grpSpPr>
        <p:sp>
          <p:nvSpPr>
            <p:cNvPr id="11" name="object 11"/>
            <p:cNvSpPr/>
            <p:nvPr/>
          </p:nvSpPr>
          <p:spPr>
            <a:xfrm>
              <a:off x="520699" y="2736850"/>
              <a:ext cx="7099300" cy="647700"/>
            </a:xfrm>
            <a:custGeom>
              <a:avLst/>
              <a:gdLst/>
              <a:ahLst/>
              <a:cxnLst/>
              <a:rect l="l" t="t" r="r" b="b"/>
              <a:pathLst>
                <a:path w="7099300" h="647700">
                  <a:moveTo>
                    <a:pt x="7077268" y="647699"/>
                  </a:moveTo>
                  <a:lnTo>
                    <a:pt x="11015" y="647699"/>
                  </a:lnTo>
                  <a:lnTo>
                    <a:pt x="9395" y="647055"/>
                  </a:lnTo>
                  <a:lnTo>
                    <a:pt x="0" y="625668"/>
                  </a:lnTo>
                  <a:lnTo>
                    <a:pt x="0" y="62230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625668"/>
                  </a:lnTo>
                  <a:lnTo>
                    <a:pt x="7080507" y="647055"/>
                  </a:lnTo>
                  <a:lnTo>
                    <a:pt x="7077268" y="647699"/>
                  </a:lnTo>
                  <a:close/>
                </a:path>
              </a:pathLst>
            </a:custGeom>
            <a:solidFill>
              <a:srgbClr val="4A8FE2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8000" y="2736850"/>
              <a:ext cx="25400" cy="647700"/>
            </a:xfrm>
            <a:custGeom>
              <a:avLst/>
              <a:gdLst/>
              <a:ahLst/>
              <a:cxnLst/>
              <a:rect l="l" t="t" r="r" b="b"/>
              <a:pathLst>
                <a:path w="25400" h="647700">
                  <a:moveTo>
                    <a:pt x="25399" y="647699"/>
                  </a:moveTo>
                  <a:lnTo>
                    <a:pt x="18385" y="647699"/>
                  </a:lnTo>
                  <a:lnTo>
                    <a:pt x="12399" y="645220"/>
                  </a:lnTo>
                  <a:lnTo>
                    <a:pt x="2479" y="635300"/>
                  </a:lnTo>
                  <a:lnTo>
                    <a:pt x="0" y="62931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6476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508000" y="3511550"/>
            <a:ext cx="7112000" cy="641350"/>
            <a:chOff x="508000" y="3511550"/>
            <a:chExt cx="7112000" cy="641350"/>
          </a:xfrm>
        </p:grpSpPr>
        <p:sp>
          <p:nvSpPr>
            <p:cNvPr id="14" name="object 14"/>
            <p:cNvSpPr/>
            <p:nvPr/>
          </p:nvSpPr>
          <p:spPr>
            <a:xfrm>
              <a:off x="520699" y="3511550"/>
              <a:ext cx="7099300" cy="641350"/>
            </a:xfrm>
            <a:custGeom>
              <a:avLst/>
              <a:gdLst/>
              <a:ahLst/>
              <a:cxnLst/>
              <a:rect l="l" t="t" r="r" b="b"/>
              <a:pathLst>
                <a:path w="7099300" h="641350">
                  <a:moveTo>
                    <a:pt x="7077268" y="641349"/>
                  </a:moveTo>
                  <a:lnTo>
                    <a:pt x="11015" y="641349"/>
                  </a:lnTo>
                  <a:lnTo>
                    <a:pt x="9395" y="640705"/>
                  </a:lnTo>
                  <a:lnTo>
                    <a:pt x="0" y="619317"/>
                  </a:lnTo>
                  <a:lnTo>
                    <a:pt x="0" y="6159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619317"/>
                  </a:lnTo>
                  <a:lnTo>
                    <a:pt x="7080507" y="640705"/>
                  </a:lnTo>
                  <a:lnTo>
                    <a:pt x="7077268" y="641349"/>
                  </a:lnTo>
                  <a:close/>
                </a:path>
              </a:pathLst>
            </a:custGeom>
            <a:solidFill>
              <a:srgbClr val="4A8FE2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08000" y="3511550"/>
              <a:ext cx="25400" cy="641350"/>
            </a:xfrm>
            <a:custGeom>
              <a:avLst/>
              <a:gdLst/>
              <a:ahLst/>
              <a:cxnLst/>
              <a:rect l="l" t="t" r="r" b="b"/>
              <a:pathLst>
                <a:path w="25400" h="641350">
                  <a:moveTo>
                    <a:pt x="25399" y="641350"/>
                  </a:moveTo>
                  <a:lnTo>
                    <a:pt x="18385" y="641350"/>
                  </a:lnTo>
                  <a:lnTo>
                    <a:pt x="12399" y="638870"/>
                  </a:lnTo>
                  <a:lnTo>
                    <a:pt x="2479" y="628951"/>
                  </a:lnTo>
                  <a:lnTo>
                    <a:pt x="0" y="622964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641350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47700" y="1209039"/>
            <a:ext cx="4047490" cy="280797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Level 1: Clear Non-Protectable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Cases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Understanding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fundamental limitations - what cannot be patented or kept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secret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Level 2: Clear Strategic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Choices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Applying reverse engineering and independent discovery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analysis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Level</a:t>
            </a:r>
            <a:r>
              <a:rPr dirty="0" sz="1200" spc="-1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3: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Difficult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Strategic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 Decisions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Market position, industry dynamics, and competitive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landscape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Level</a:t>
            </a:r>
            <a:r>
              <a:rPr dirty="0" sz="1200" spc="-1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4:</a:t>
            </a:r>
            <a:r>
              <a:rPr dirty="0" sz="1200" spc="-1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Technology</a:t>
            </a:r>
            <a:r>
              <a:rPr dirty="0" sz="1200" spc="-1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Stack</a:t>
            </a:r>
            <a:r>
              <a:rPr dirty="0" sz="1200" spc="-1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Cases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Mixed IP</a:t>
            </a:r>
            <a:r>
              <a:rPr dirty="0" sz="9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strategies for complex multi-component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products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2ECC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1A1F36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1A1F36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1A1F36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4699635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 1A: BioPharma FDA</a:t>
            </a:r>
            <a:r>
              <a:rPr dirty="0" sz="2100" spc="-80"/>
              <a:t> </a:t>
            </a:r>
            <a:r>
              <a:rPr dirty="0" sz="2100" spc="-10"/>
              <a:t>Disclosure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MedTech</a:t>
            </a:r>
            <a:r>
              <a:rPr dirty="0" sz="1000" spc="-50" b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Innovations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213100"/>
            <a:ext cx="7112000" cy="374650"/>
            <a:chOff x="508000" y="3213100"/>
            <a:chExt cx="7112000" cy="374650"/>
          </a:xfrm>
        </p:grpSpPr>
        <p:sp>
          <p:nvSpPr>
            <p:cNvPr id="6" name="object 6"/>
            <p:cNvSpPr/>
            <p:nvPr/>
          </p:nvSpPr>
          <p:spPr>
            <a:xfrm>
              <a:off x="520699" y="3213100"/>
              <a:ext cx="7099300" cy="374650"/>
            </a:xfrm>
            <a:custGeom>
              <a:avLst/>
              <a:gdLst/>
              <a:ahLst/>
              <a:cxnLst/>
              <a:rect l="l" t="t" r="r" b="b"/>
              <a:pathLst>
                <a:path w="7099300" h="374650">
                  <a:moveTo>
                    <a:pt x="7077268" y="374649"/>
                  </a:moveTo>
                  <a:lnTo>
                    <a:pt x="11015" y="374649"/>
                  </a:lnTo>
                  <a:lnTo>
                    <a:pt x="9395" y="374005"/>
                  </a:lnTo>
                  <a:lnTo>
                    <a:pt x="0" y="352618"/>
                  </a:lnTo>
                  <a:lnTo>
                    <a:pt x="0" y="3492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52618"/>
                  </a:lnTo>
                  <a:lnTo>
                    <a:pt x="7080507" y="374005"/>
                  </a:lnTo>
                  <a:lnTo>
                    <a:pt x="7077268" y="37464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213100"/>
              <a:ext cx="25400" cy="374650"/>
            </a:xfrm>
            <a:custGeom>
              <a:avLst/>
              <a:gdLst/>
              <a:ahLst/>
              <a:cxnLst/>
              <a:rect l="l" t="t" r="r" b="b"/>
              <a:pathLst>
                <a:path w="25400" h="374650">
                  <a:moveTo>
                    <a:pt x="25399" y="374649"/>
                  </a:moveTo>
                  <a:lnTo>
                    <a:pt x="18385" y="374649"/>
                  </a:lnTo>
                  <a:lnTo>
                    <a:pt x="12399" y="372169"/>
                  </a:lnTo>
                  <a:lnTo>
                    <a:pt x="2479" y="362250"/>
                  </a:lnTo>
                  <a:lnTo>
                    <a:pt x="0" y="35626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7464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8179" y="1593850"/>
            <a:ext cx="6146165" cy="187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Novel monoclonal antibody treatment for rheumatoid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arthritis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Proprietary cell culture manufacturing process provides cost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advantages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FDA</a:t>
            </a:r>
            <a:r>
              <a:rPr dirty="0" sz="900" spc="-5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requires detailed manufacturing disclosure in BLA</a:t>
            </a:r>
            <a:r>
              <a:rPr dirty="0" sz="900" spc="-5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application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91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Process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details will be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publicly available via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FOIA</a:t>
            </a:r>
            <a:r>
              <a:rPr dirty="0" sz="900" spc="-5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requests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Patent prosecution would take 2-3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years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Should the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company keep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the manufacturing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process as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a trade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secret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or seek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process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patents?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2ECC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1A1F36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1A1F36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1A1F36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4427220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</a:t>
            </a:r>
            <a:r>
              <a:rPr dirty="0" sz="2100" spc="-10"/>
              <a:t> </a:t>
            </a:r>
            <a:r>
              <a:rPr dirty="0" sz="2100"/>
              <a:t>1B:</a:t>
            </a:r>
            <a:r>
              <a:rPr dirty="0" sz="2100" spc="-10"/>
              <a:t> </a:t>
            </a:r>
            <a:r>
              <a:rPr dirty="0" sz="2100"/>
              <a:t>Customer</a:t>
            </a:r>
            <a:r>
              <a:rPr dirty="0" sz="2100" spc="-10"/>
              <a:t> </a:t>
            </a:r>
            <a:r>
              <a:rPr dirty="0" sz="2100"/>
              <a:t>List</a:t>
            </a:r>
            <a:r>
              <a:rPr dirty="0" sz="2100" spc="-10"/>
              <a:t> Protection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b="0">
                <a:solidFill>
                  <a:srgbClr val="4A8FE2"/>
                </a:solidFill>
                <a:latin typeface="Arial"/>
                <a:cs typeface="Arial"/>
              </a:rPr>
              <a:t>PharmaSales </a:t>
            </a:r>
            <a:r>
              <a:rPr dirty="0" sz="1000" spc="-20" b="0">
                <a:solidFill>
                  <a:srgbClr val="4A8FE2"/>
                </a:solidFill>
                <a:latin typeface="Arial"/>
                <a:cs typeface="Arial"/>
              </a:rPr>
              <a:t>Corp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213100"/>
            <a:ext cx="7112000" cy="374650"/>
            <a:chOff x="508000" y="3213100"/>
            <a:chExt cx="7112000" cy="374650"/>
          </a:xfrm>
        </p:grpSpPr>
        <p:sp>
          <p:nvSpPr>
            <p:cNvPr id="6" name="object 6"/>
            <p:cNvSpPr/>
            <p:nvPr/>
          </p:nvSpPr>
          <p:spPr>
            <a:xfrm>
              <a:off x="520699" y="3213100"/>
              <a:ext cx="7099300" cy="374650"/>
            </a:xfrm>
            <a:custGeom>
              <a:avLst/>
              <a:gdLst/>
              <a:ahLst/>
              <a:cxnLst/>
              <a:rect l="l" t="t" r="r" b="b"/>
              <a:pathLst>
                <a:path w="7099300" h="374650">
                  <a:moveTo>
                    <a:pt x="7077268" y="374649"/>
                  </a:moveTo>
                  <a:lnTo>
                    <a:pt x="11015" y="374649"/>
                  </a:lnTo>
                  <a:lnTo>
                    <a:pt x="9395" y="374005"/>
                  </a:lnTo>
                  <a:lnTo>
                    <a:pt x="0" y="352618"/>
                  </a:lnTo>
                  <a:lnTo>
                    <a:pt x="0" y="3492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52618"/>
                  </a:lnTo>
                  <a:lnTo>
                    <a:pt x="7080507" y="374005"/>
                  </a:lnTo>
                  <a:lnTo>
                    <a:pt x="7077268" y="37464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213100"/>
              <a:ext cx="25400" cy="374650"/>
            </a:xfrm>
            <a:custGeom>
              <a:avLst/>
              <a:gdLst/>
              <a:ahLst/>
              <a:cxnLst/>
              <a:rect l="l" t="t" r="r" b="b"/>
              <a:pathLst>
                <a:path w="25400" h="374650">
                  <a:moveTo>
                    <a:pt x="25399" y="374649"/>
                  </a:moveTo>
                  <a:lnTo>
                    <a:pt x="18385" y="374649"/>
                  </a:lnTo>
                  <a:lnTo>
                    <a:pt x="12399" y="372169"/>
                  </a:lnTo>
                  <a:lnTo>
                    <a:pt x="2479" y="362250"/>
                  </a:lnTo>
                  <a:lnTo>
                    <a:pt x="0" y="35626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7464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8179" y="1593850"/>
            <a:ext cx="6470650" cy="187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Database of 500 hospital purchasing managers built over 3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years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Includes names, contact info, purchasing preferences, budget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cycles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Sales representative left to join competitor and took customer </a:t>
            </a:r>
            <a:r>
              <a:rPr dirty="0" sz="900" spc="-20">
                <a:solidFill>
                  <a:srgbClr val="B0C3DE"/>
                </a:solidFill>
                <a:latin typeface="Arial"/>
                <a:cs typeface="Arial"/>
              </a:rPr>
              <a:t>list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91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Some information publicly available in RFP</a:t>
            </a:r>
            <a:r>
              <a:rPr dirty="0" sz="9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processes and annual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reports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Company had confidentiality agreements with sales </a:t>
            </a:r>
            <a:r>
              <a:rPr dirty="0" sz="900" spc="-20">
                <a:solidFill>
                  <a:srgbClr val="B0C3DE"/>
                </a:solidFill>
                <a:latin typeface="Arial"/>
                <a:cs typeface="Arial"/>
              </a:rPr>
              <a:t>reps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Could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company have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patented this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list? Can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they sue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trade secret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misappropriation?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2ECC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1A1F36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1A1F36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1A1F36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4837430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</a:t>
            </a:r>
            <a:r>
              <a:rPr dirty="0" sz="2100" spc="-10"/>
              <a:t> </a:t>
            </a:r>
            <a:r>
              <a:rPr dirty="0" sz="2100"/>
              <a:t>1C:</a:t>
            </a:r>
            <a:r>
              <a:rPr dirty="0" sz="2100" spc="-80"/>
              <a:t> </a:t>
            </a:r>
            <a:r>
              <a:rPr dirty="0" sz="2100"/>
              <a:t>Abstract Software</a:t>
            </a:r>
            <a:r>
              <a:rPr dirty="0" sz="2100" spc="-80"/>
              <a:t> </a:t>
            </a:r>
            <a:r>
              <a:rPr dirty="0" sz="2100" spc="-10"/>
              <a:t>Algorithm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FinTech</a:t>
            </a:r>
            <a:r>
              <a:rPr dirty="0" sz="1000" spc="-20" b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4A8FE2"/>
                </a:solidFill>
                <a:latin typeface="Arial"/>
                <a:cs typeface="Arial"/>
              </a:rPr>
              <a:t>Solutions</a:t>
            </a:r>
            <a:r>
              <a:rPr dirty="0" sz="1000" spc="-15" b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4A8FE2"/>
                </a:solidFill>
                <a:latin typeface="Arial"/>
                <a:cs typeface="Arial"/>
              </a:rPr>
              <a:t>(Post-Alice</a:t>
            </a:r>
            <a:r>
              <a:rPr dirty="0" sz="1000" spc="-15" b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000" spc="-20" b="0">
                <a:solidFill>
                  <a:srgbClr val="4A8FE2"/>
                </a:solidFill>
                <a:latin typeface="Arial"/>
                <a:cs typeface="Arial"/>
              </a:rPr>
              <a:t>Era)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213100"/>
            <a:ext cx="7112000" cy="374650"/>
            <a:chOff x="508000" y="3213100"/>
            <a:chExt cx="7112000" cy="374650"/>
          </a:xfrm>
        </p:grpSpPr>
        <p:sp>
          <p:nvSpPr>
            <p:cNvPr id="6" name="object 6"/>
            <p:cNvSpPr/>
            <p:nvPr/>
          </p:nvSpPr>
          <p:spPr>
            <a:xfrm>
              <a:off x="520699" y="3213100"/>
              <a:ext cx="7099300" cy="374650"/>
            </a:xfrm>
            <a:custGeom>
              <a:avLst/>
              <a:gdLst/>
              <a:ahLst/>
              <a:cxnLst/>
              <a:rect l="l" t="t" r="r" b="b"/>
              <a:pathLst>
                <a:path w="7099300" h="374650">
                  <a:moveTo>
                    <a:pt x="7077268" y="374649"/>
                  </a:moveTo>
                  <a:lnTo>
                    <a:pt x="11015" y="374649"/>
                  </a:lnTo>
                  <a:lnTo>
                    <a:pt x="9395" y="374005"/>
                  </a:lnTo>
                  <a:lnTo>
                    <a:pt x="0" y="352618"/>
                  </a:lnTo>
                  <a:lnTo>
                    <a:pt x="0" y="3492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52618"/>
                  </a:lnTo>
                  <a:lnTo>
                    <a:pt x="7080507" y="374005"/>
                  </a:lnTo>
                  <a:lnTo>
                    <a:pt x="7077268" y="37464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213100"/>
              <a:ext cx="25400" cy="374650"/>
            </a:xfrm>
            <a:custGeom>
              <a:avLst/>
              <a:gdLst/>
              <a:ahLst/>
              <a:cxnLst/>
              <a:rect l="l" t="t" r="r" b="b"/>
              <a:pathLst>
                <a:path w="25400" h="374650">
                  <a:moveTo>
                    <a:pt x="25399" y="374649"/>
                  </a:moveTo>
                  <a:lnTo>
                    <a:pt x="18385" y="374649"/>
                  </a:lnTo>
                  <a:lnTo>
                    <a:pt x="12399" y="372169"/>
                  </a:lnTo>
                  <a:lnTo>
                    <a:pt x="2479" y="362250"/>
                  </a:lnTo>
                  <a:lnTo>
                    <a:pt x="0" y="35626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7464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8179" y="1593850"/>
            <a:ext cx="5949950" cy="187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Computer-implemented method for optimizing stock portfolio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allocation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Algorithm: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(1) receive risk tolerance, (2)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calculate optimal allocation using mathematical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formula, (3) display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results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Runs on generic computer hardware with no specialized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91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Patent application filed in 2015 rejected as abstract idea under</a:t>
            </a:r>
            <a:r>
              <a:rPr dirty="0" sz="900" spc="-5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Alice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Corp.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Source code is kept confidential but must be deployed to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clients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Is this patentable?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Can it be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protected as a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trade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secret?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F29C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1A1F36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1A1F36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1A1F36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3835400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 2A: Chemical </a:t>
            </a:r>
            <a:r>
              <a:rPr dirty="0" sz="2100" spc="-10"/>
              <a:t>Sweetener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FlavorTech</a:t>
            </a:r>
            <a:r>
              <a:rPr dirty="0" sz="1000" spc="-20" b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Industries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460750"/>
            <a:ext cx="7112000" cy="374650"/>
            <a:chOff x="508000" y="3460750"/>
            <a:chExt cx="7112000" cy="374650"/>
          </a:xfrm>
        </p:grpSpPr>
        <p:sp>
          <p:nvSpPr>
            <p:cNvPr id="6" name="object 6"/>
            <p:cNvSpPr/>
            <p:nvPr/>
          </p:nvSpPr>
          <p:spPr>
            <a:xfrm>
              <a:off x="520699" y="3460750"/>
              <a:ext cx="7099300" cy="374650"/>
            </a:xfrm>
            <a:custGeom>
              <a:avLst/>
              <a:gdLst/>
              <a:ahLst/>
              <a:cxnLst/>
              <a:rect l="l" t="t" r="r" b="b"/>
              <a:pathLst>
                <a:path w="7099300" h="374650">
                  <a:moveTo>
                    <a:pt x="7077268" y="374649"/>
                  </a:moveTo>
                  <a:lnTo>
                    <a:pt x="11015" y="374649"/>
                  </a:lnTo>
                  <a:lnTo>
                    <a:pt x="9395" y="374005"/>
                  </a:lnTo>
                  <a:lnTo>
                    <a:pt x="0" y="352618"/>
                  </a:lnTo>
                  <a:lnTo>
                    <a:pt x="0" y="3492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52618"/>
                  </a:lnTo>
                  <a:lnTo>
                    <a:pt x="7080507" y="374005"/>
                  </a:lnTo>
                  <a:lnTo>
                    <a:pt x="7077268" y="37464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460750"/>
              <a:ext cx="25400" cy="374650"/>
            </a:xfrm>
            <a:custGeom>
              <a:avLst/>
              <a:gdLst/>
              <a:ahLst/>
              <a:cxnLst/>
              <a:rect l="l" t="t" r="r" b="b"/>
              <a:pathLst>
                <a:path w="25400" h="374650">
                  <a:moveTo>
                    <a:pt x="25399" y="374649"/>
                  </a:moveTo>
                  <a:lnTo>
                    <a:pt x="18385" y="374649"/>
                  </a:lnTo>
                  <a:lnTo>
                    <a:pt x="12399" y="372169"/>
                  </a:lnTo>
                  <a:lnTo>
                    <a:pt x="2479" y="362250"/>
                  </a:lnTo>
                  <a:lnTo>
                    <a:pt x="0" y="35626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7464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8179" y="1593850"/>
            <a:ext cx="4342765" cy="212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New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artificial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sweetener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molecule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(200x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sweetness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of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sugar,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no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aftertaste)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Will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be sold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to food manufacturers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in commercial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quantities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Standard analytical chemistry can identify molecular structure from product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sample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91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Synthesis process is straightforward once structure is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known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Competitors could bring similar product to market in 18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months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Development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cost: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$5M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over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3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years;</a:t>
            </a:r>
            <a:r>
              <a:rPr dirty="0" sz="9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Target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market: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$500M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annually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Patent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or trade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secret? What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is the strategic</a:t>
            </a:r>
            <a:r>
              <a:rPr dirty="0" sz="10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recommendation?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F29C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1A1F36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1A1F36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1A1F36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4057650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</a:t>
            </a:r>
            <a:r>
              <a:rPr dirty="0" sz="2100" spc="-15"/>
              <a:t> </a:t>
            </a:r>
            <a:r>
              <a:rPr dirty="0" sz="2100"/>
              <a:t>2B:</a:t>
            </a:r>
            <a:r>
              <a:rPr dirty="0" sz="2100" spc="-15"/>
              <a:t> </a:t>
            </a:r>
            <a:r>
              <a:rPr dirty="0" sz="2100" spc="-10"/>
              <a:t>Client-</a:t>
            </a:r>
            <a:r>
              <a:rPr dirty="0" sz="2100"/>
              <a:t>Side</a:t>
            </a:r>
            <a:r>
              <a:rPr dirty="0" sz="2100" spc="-10"/>
              <a:t> JavaScript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DataViz</a:t>
            </a:r>
            <a:r>
              <a:rPr dirty="0" sz="1000" spc="-20" b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Analytics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460750"/>
            <a:ext cx="7112000" cy="374650"/>
            <a:chOff x="508000" y="3460750"/>
            <a:chExt cx="7112000" cy="374650"/>
          </a:xfrm>
        </p:grpSpPr>
        <p:sp>
          <p:nvSpPr>
            <p:cNvPr id="6" name="object 6"/>
            <p:cNvSpPr/>
            <p:nvPr/>
          </p:nvSpPr>
          <p:spPr>
            <a:xfrm>
              <a:off x="520699" y="3460750"/>
              <a:ext cx="7099300" cy="374650"/>
            </a:xfrm>
            <a:custGeom>
              <a:avLst/>
              <a:gdLst/>
              <a:ahLst/>
              <a:cxnLst/>
              <a:rect l="l" t="t" r="r" b="b"/>
              <a:pathLst>
                <a:path w="7099300" h="374650">
                  <a:moveTo>
                    <a:pt x="7077268" y="374649"/>
                  </a:moveTo>
                  <a:lnTo>
                    <a:pt x="11015" y="374649"/>
                  </a:lnTo>
                  <a:lnTo>
                    <a:pt x="9395" y="374005"/>
                  </a:lnTo>
                  <a:lnTo>
                    <a:pt x="0" y="352618"/>
                  </a:lnTo>
                  <a:lnTo>
                    <a:pt x="0" y="3492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52618"/>
                  </a:lnTo>
                  <a:lnTo>
                    <a:pt x="7080507" y="374005"/>
                  </a:lnTo>
                  <a:lnTo>
                    <a:pt x="7077268" y="37464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460750"/>
              <a:ext cx="25400" cy="374650"/>
            </a:xfrm>
            <a:custGeom>
              <a:avLst/>
              <a:gdLst/>
              <a:ahLst/>
              <a:cxnLst/>
              <a:rect l="l" t="t" r="r" b="b"/>
              <a:pathLst>
                <a:path w="25400" h="374650">
                  <a:moveTo>
                    <a:pt x="25399" y="374649"/>
                  </a:moveTo>
                  <a:lnTo>
                    <a:pt x="18385" y="374649"/>
                  </a:lnTo>
                  <a:lnTo>
                    <a:pt x="12399" y="372169"/>
                  </a:lnTo>
                  <a:lnTo>
                    <a:pt x="2479" y="362250"/>
                  </a:lnTo>
                  <a:lnTo>
                    <a:pt x="0" y="35626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7464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8179" y="1593850"/>
            <a:ext cx="4918075" cy="212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Novel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algorithm for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rendering large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datasets efficiently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in web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browsers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Algorithm must execute client-side for performance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reasons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Code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will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be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downloaded to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users'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browsers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and can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be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decompiled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91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Algorithm reduces rendering time by 80 percent vs.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competitors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Development: 2 years, $1M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investment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Competitors include major tech companies with reverse engineering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resources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Can this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protected as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trade secret?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the company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seek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patent?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F29C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1A1F36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1A1F36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1A1F36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3686810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 2C: Bioreactor </a:t>
            </a:r>
            <a:r>
              <a:rPr dirty="0" sz="2100" spc="-10"/>
              <a:t>Process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b="0">
                <a:solidFill>
                  <a:srgbClr val="4A8FE2"/>
                </a:solidFill>
                <a:latin typeface="Arial"/>
                <a:cs typeface="Arial"/>
              </a:rPr>
              <a:t>BioManufacturing </a:t>
            </a: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Systems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460750"/>
            <a:ext cx="7112000" cy="374650"/>
            <a:chOff x="508000" y="3460750"/>
            <a:chExt cx="7112000" cy="374650"/>
          </a:xfrm>
        </p:grpSpPr>
        <p:sp>
          <p:nvSpPr>
            <p:cNvPr id="6" name="object 6"/>
            <p:cNvSpPr/>
            <p:nvPr/>
          </p:nvSpPr>
          <p:spPr>
            <a:xfrm>
              <a:off x="520699" y="3460750"/>
              <a:ext cx="7099300" cy="374650"/>
            </a:xfrm>
            <a:custGeom>
              <a:avLst/>
              <a:gdLst/>
              <a:ahLst/>
              <a:cxnLst/>
              <a:rect l="l" t="t" r="r" b="b"/>
              <a:pathLst>
                <a:path w="7099300" h="374650">
                  <a:moveTo>
                    <a:pt x="7077268" y="374649"/>
                  </a:moveTo>
                  <a:lnTo>
                    <a:pt x="11015" y="374649"/>
                  </a:lnTo>
                  <a:lnTo>
                    <a:pt x="9395" y="374005"/>
                  </a:lnTo>
                  <a:lnTo>
                    <a:pt x="0" y="352618"/>
                  </a:lnTo>
                  <a:lnTo>
                    <a:pt x="0" y="3492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52618"/>
                  </a:lnTo>
                  <a:lnTo>
                    <a:pt x="7080507" y="374005"/>
                  </a:lnTo>
                  <a:lnTo>
                    <a:pt x="7077268" y="37464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460750"/>
              <a:ext cx="25400" cy="374650"/>
            </a:xfrm>
            <a:custGeom>
              <a:avLst/>
              <a:gdLst/>
              <a:ahLst/>
              <a:cxnLst/>
              <a:rect l="l" t="t" r="r" b="b"/>
              <a:pathLst>
                <a:path w="25400" h="374650">
                  <a:moveTo>
                    <a:pt x="25399" y="374649"/>
                  </a:moveTo>
                  <a:lnTo>
                    <a:pt x="18385" y="374649"/>
                  </a:lnTo>
                  <a:lnTo>
                    <a:pt x="12399" y="372169"/>
                  </a:lnTo>
                  <a:lnTo>
                    <a:pt x="2479" y="362250"/>
                  </a:lnTo>
                  <a:lnTo>
                    <a:pt x="0" y="35626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7464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8179" y="1593850"/>
            <a:ext cx="5242560" cy="212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Proprietary bioreactor system for producing therapeutic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proteins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Process produces 30 percent higher yields than industry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standard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System</a:t>
            </a:r>
            <a:r>
              <a:rPr dirty="0" sz="9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used internally only - not sold to third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parties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91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Competitors cannot observe process by examining final protein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product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Process involves tacit knowledge developed over 5 years ($10M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investment)</a:t>
            </a:r>
            <a:endParaRPr sz="900">
              <a:latin typeface="Arial"/>
              <a:cs typeface="Arial"/>
            </a:endParaRPr>
          </a:p>
          <a:p>
            <a:pPr marL="149225" indent="-136525">
              <a:lnSpc>
                <a:spcPct val="100000"/>
              </a:lnSpc>
              <a:spcBef>
                <a:spcPts val="869"/>
              </a:spcBef>
              <a:buClr>
                <a:srgbClr val="4A8FE2"/>
              </a:buClr>
              <a:buFont typeface="Arial"/>
              <a:buChar char="•"/>
              <a:tabLst>
                <a:tab pos="149225" algn="l"/>
              </a:tabLst>
            </a:pPr>
            <a:r>
              <a:rPr dirty="0" sz="900">
                <a:solidFill>
                  <a:srgbClr val="B0C3DE"/>
                </a:solidFill>
                <a:latin typeface="Arial"/>
                <a:cs typeface="Arial"/>
              </a:rPr>
              <a:t>Slow-moving industry with high regulatory barriers to </a:t>
            </a:r>
            <a:r>
              <a:rPr dirty="0" sz="900" spc="-10">
                <a:solidFill>
                  <a:srgbClr val="B0C3DE"/>
                </a:solidFill>
                <a:latin typeface="Arial"/>
                <a:cs typeface="Arial"/>
              </a:rPr>
              <a:t>entry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Should the company patent the bioreactor design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or maintain it as a trade</a:t>
            </a:r>
            <a:r>
              <a:rPr dirty="0" sz="10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secret?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E74B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4189729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</a:t>
            </a:r>
            <a:r>
              <a:rPr dirty="0" sz="2100" spc="-20"/>
              <a:t> </a:t>
            </a:r>
            <a:r>
              <a:rPr dirty="0" sz="2100"/>
              <a:t>3A:</a:t>
            </a:r>
            <a:r>
              <a:rPr dirty="0" sz="2100" spc="-15"/>
              <a:t> </a:t>
            </a:r>
            <a:r>
              <a:rPr dirty="0" sz="2100"/>
              <a:t>The</a:t>
            </a:r>
            <a:r>
              <a:rPr dirty="0" sz="2100" spc="-15"/>
              <a:t> </a:t>
            </a:r>
            <a:r>
              <a:rPr dirty="0" sz="2100"/>
              <a:t>Soft</a:t>
            </a:r>
            <a:r>
              <a:rPr dirty="0" sz="2100" spc="-15"/>
              <a:t> </a:t>
            </a:r>
            <a:r>
              <a:rPr dirty="0" sz="2100"/>
              <a:t>Drink</a:t>
            </a:r>
            <a:r>
              <a:rPr dirty="0" sz="2100" spc="-15"/>
              <a:t> </a:t>
            </a:r>
            <a:r>
              <a:rPr dirty="0" sz="2100" spc="-10"/>
              <a:t>Formula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b="0">
                <a:solidFill>
                  <a:srgbClr val="4A8FE2"/>
                </a:solidFill>
                <a:latin typeface="Arial"/>
                <a:cs typeface="Arial"/>
              </a:rPr>
              <a:t>Global Beverages Inc. (1886-</a:t>
            </a: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Present)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581400"/>
            <a:ext cx="7112000" cy="368300"/>
            <a:chOff x="508000" y="3581400"/>
            <a:chExt cx="7112000" cy="368300"/>
          </a:xfrm>
        </p:grpSpPr>
        <p:sp>
          <p:nvSpPr>
            <p:cNvPr id="6" name="object 6"/>
            <p:cNvSpPr/>
            <p:nvPr/>
          </p:nvSpPr>
          <p:spPr>
            <a:xfrm>
              <a:off x="520699" y="3581400"/>
              <a:ext cx="7099300" cy="368300"/>
            </a:xfrm>
            <a:custGeom>
              <a:avLst/>
              <a:gdLst/>
              <a:ahLst/>
              <a:cxnLst/>
              <a:rect l="l" t="t" r="r" b="b"/>
              <a:pathLst>
                <a:path w="7099300" h="368300">
                  <a:moveTo>
                    <a:pt x="7077268" y="368299"/>
                  </a:moveTo>
                  <a:lnTo>
                    <a:pt x="11015" y="368299"/>
                  </a:lnTo>
                  <a:lnTo>
                    <a:pt x="9395" y="367655"/>
                  </a:lnTo>
                  <a:lnTo>
                    <a:pt x="0" y="346268"/>
                  </a:lnTo>
                  <a:lnTo>
                    <a:pt x="0" y="34290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46268"/>
                  </a:lnTo>
                  <a:lnTo>
                    <a:pt x="7080507" y="367655"/>
                  </a:lnTo>
                  <a:lnTo>
                    <a:pt x="7077268" y="36829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581400"/>
              <a:ext cx="25400" cy="368300"/>
            </a:xfrm>
            <a:custGeom>
              <a:avLst/>
              <a:gdLst/>
              <a:ahLst/>
              <a:cxnLst/>
              <a:rect l="l" t="t" r="r" b="b"/>
              <a:pathLst>
                <a:path w="25400" h="368300">
                  <a:moveTo>
                    <a:pt x="25399" y="368299"/>
                  </a:moveTo>
                  <a:lnTo>
                    <a:pt x="18385" y="368299"/>
                  </a:lnTo>
                  <a:lnTo>
                    <a:pt x="12399" y="365819"/>
                  </a:lnTo>
                  <a:lnTo>
                    <a:pt x="2479" y="355900"/>
                  </a:lnTo>
                  <a:lnTo>
                    <a:pt x="0" y="34991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6829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65819" y="1593850"/>
            <a:ext cx="5330190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Unique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soft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drink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formula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developed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1886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specific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proportions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of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natural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ingredients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Product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has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become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iconic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brand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massive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consumer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loyalty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(40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percent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market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share)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Reverse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engineering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difficult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but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not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impossible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modern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analytical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chemistry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78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Patent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filed</a:t>
            </a:r>
            <a:r>
              <a:rPr dirty="0" sz="85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1886</a:t>
            </a:r>
            <a:r>
              <a:rPr dirty="0" sz="85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would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have</a:t>
            </a:r>
            <a:r>
              <a:rPr dirty="0" sz="85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expired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</a:t>
            </a:r>
            <a:r>
              <a:rPr dirty="0" sz="85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1906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(20</a:t>
            </a:r>
            <a:r>
              <a:rPr dirty="0" sz="85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years)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Formula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maintained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as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trade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secret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for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140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years;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only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two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executives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know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complete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formula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Brand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value: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$80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billion;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even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if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reverse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engineered,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trademark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provides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protection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Mature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industry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slow-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changing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consumer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preferences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850">
              <a:latin typeface="Arial"/>
              <a:cs typeface="Arial"/>
            </a:endParaRPr>
          </a:p>
          <a:p>
            <a:pPr marL="281305">
              <a:lnSpc>
                <a:spcPct val="100000"/>
              </a:lnSpc>
            </a:pP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dirty="0" sz="9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trade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secret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right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choice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1886?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Would</a:t>
            </a:r>
            <a:r>
              <a:rPr dirty="0" sz="9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sense</a:t>
            </a:r>
            <a:r>
              <a:rPr dirty="0" sz="9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Arial"/>
                <a:cs typeface="Arial"/>
              </a:rPr>
              <a:t>today?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E74B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3454400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 3B: Search</a:t>
            </a:r>
            <a:r>
              <a:rPr dirty="0" sz="2100" spc="-80"/>
              <a:t> </a:t>
            </a:r>
            <a:r>
              <a:rPr dirty="0" sz="2100" spc="-10"/>
              <a:t>Algorithm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b="0">
                <a:solidFill>
                  <a:srgbClr val="4A8FE2"/>
                </a:solidFill>
                <a:latin typeface="Arial"/>
                <a:cs typeface="Arial"/>
              </a:rPr>
              <a:t>Search Engine Innovations (Late 1990s-</a:t>
            </a: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Present)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581400"/>
            <a:ext cx="7112000" cy="368300"/>
            <a:chOff x="508000" y="3581400"/>
            <a:chExt cx="7112000" cy="368300"/>
          </a:xfrm>
        </p:grpSpPr>
        <p:sp>
          <p:nvSpPr>
            <p:cNvPr id="6" name="object 6"/>
            <p:cNvSpPr/>
            <p:nvPr/>
          </p:nvSpPr>
          <p:spPr>
            <a:xfrm>
              <a:off x="520699" y="3581400"/>
              <a:ext cx="7099300" cy="368300"/>
            </a:xfrm>
            <a:custGeom>
              <a:avLst/>
              <a:gdLst/>
              <a:ahLst/>
              <a:cxnLst/>
              <a:rect l="l" t="t" r="r" b="b"/>
              <a:pathLst>
                <a:path w="7099300" h="368300">
                  <a:moveTo>
                    <a:pt x="7077268" y="368299"/>
                  </a:moveTo>
                  <a:lnTo>
                    <a:pt x="11015" y="368299"/>
                  </a:lnTo>
                  <a:lnTo>
                    <a:pt x="9395" y="367655"/>
                  </a:lnTo>
                  <a:lnTo>
                    <a:pt x="0" y="346268"/>
                  </a:lnTo>
                  <a:lnTo>
                    <a:pt x="0" y="34290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46268"/>
                  </a:lnTo>
                  <a:lnTo>
                    <a:pt x="7080507" y="367655"/>
                  </a:lnTo>
                  <a:lnTo>
                    <a:pt x="7077268" y="36829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581400"/>
              <a:ext cx="25400" cy="368300"/>
            </a:xfrm>
            <a:custGeom>
              <a:avLst/>
              <a:gdLst/>
              <a:ahLst/>
              <a:cxnLst/>
              <a:rect l="l" t="t" r="r" b="b"/>
              <a:pathLst>
                <a:path w="25400" h="368300">
                  <a:moveTo>
                    <a:pt x="25399" y="368299"/>
                  </a:moveTo>
                  <a:lnTo>
                    <a:pt x="18385" y="368299"/>
                  </a:lnTo>
                  <a:lnTo>
                    <a:pt x="12399" y="365819"/>
                  </a:lnTo>
                  <a:lnTo>
                    <a:pt x="2479" y="355900"/>
                  </a:lnTo>
                  <a:lnTo>
                    <a:pt x="0" y="34991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6829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65819" y="1593850"/>
            <a:ext cx="5501005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Novel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algorithm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for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ranking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web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search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results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(PageRank)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developed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late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1990s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Company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initially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patented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core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PageRank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algorithm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(expired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2018)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Hundreds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of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additional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ranking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factors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kept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trade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secrets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78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Algorithm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updated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constantly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(500+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changes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per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year)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Dominant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market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position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(90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percent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market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share)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Fast-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moving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industry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requiring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constant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innovation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Revealing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ranking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factors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would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enable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manipulation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SEO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practitioners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850">
              <a:latin typeface="Arial"/>
              <a:cs typeface="Arial"/>
            </a:endParaRPr>
          </a:p>
          <a:p>
            <a:pPr marL="281305">
              <a:lnSpc>
                <a:spcPct val="100000"/>
              </a:lnSpc>
            </a:pP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Why use a hybrid approach (patent + trade secret)? What are the strategic </a:t>
            </a:r>
            <a:r>
              <a:rPr dirty="0" sz="950" spc="-10" b="1">
                <a:solidFill>
                  <a:srgbClr val="FFFFFF"/>
                </a:solidFill>
                <a:latin typeface="Arial"/>
                <a:cs typeface="Arial"/>
              </a:rPr>
              <a:t>considerations?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810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500"/>
                </a:moveTo>
                <a:lnTo>
                  <a:pt x="22031" y="190500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500"/>
                </a:lnTo>
                <a:close/>
              </a:path>
            </a:pathLst>
          </a:custGeom>
          <a:solidFill>
            <a:srgbClr val="E74B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873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513969"/>
            <a:ext cx="4991735" cy="667385"/>
          </a:xfrm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/>
              <a:t>Case 3C: Pharma Intermediate </a:t>
            </a:r>
            <a:r>
              <a:rPr dirty="0" sz="2100" spc="-10"/>
              <a:t>Process</a:t>
            </a:r>
            <a:endParaRPr sz="2100"/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b="0">
                <a:solidFill>
                  <a:srgbClr val="4A8FE2"/>
                </a:solidFill>
                <a:latin typeface="Arial"/>
                <a:cs typeface="Arial"/>
              </a:rPr>
              <a:t>ChemSynth </a:t>
            </a:r>
            <a:r>
              <a:rPr dirty="0" sz="1000" spc="-10" b="0">
                <a:solidFill>
                  <a:srgbClr val="4A8FE2"/>
                </a:solidFill>
                <a:latin typeface="Arial"/>
                <a:cs typeface="Arial"/>
              </a:rPr>
              <a:t>Pharma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581400"/>
            <a:ext cx="7112000" cy="368300"/>
            <a:chOff x="508000" y="3581400"/>
            <a:chExt cx="7112000" cy="368300"/>
          </a:xfrm>
        </p:grpSpPr>
        <p:sp>
          <p:nvSpPr>
            <p:cNvPr id="6" name="object 6"/>
            <p:cNvSpPr/>
            <p:nvPr/>
          </p:nvSpPr>
          <p:spPr>
            <a:xfrm>
              <a:off x="520699" y="3581400"/>
              <a:ext cx="7099300" cy="368300"/>
            </a:xfrm>
            <a:custGeom>
              <a:avLst/>
              <a:gdLst/>
              <a:ahLst/>
              <a:cxnLst/>
              <a:rect l="l" t="t" r="r" b="b"/>
              <a:pathLst>
                <a:path w="7099300" h="368300">
                  <a:moveTo>
                    <a:pt x="7077268" y="368299"/>
                  </a:moveTo>
                  <a:lnTo>
                    <a:pt x="11015" y="368299"/>
                  </a:lnTo>
                  <a:lnTo>
                    <a:pt x="9395" y="367655"/>
                  </a:lnTo>
                  <a:lnTo>
                    <a:pt x="0" y="346268"/>
                  </a:lnTo>
                  <a:lnTo>
                    <a:pt x="0" y="34290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46268"/>
                  </a:lnTo>
                  <a:lnTo>
                    <a:pt x="7080507" y="367655"/>
                  </a:lnTo>
                  <a:lnTo>
                    <a:pt x="7077268" y="36829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581400"/>
              <a:ext cx="25400" cy="368300"/>
            </a:xfrm>
            <a:custGeom>
              <a:avLst/>
              <a:gdLst/>
              <a:ahLst/>
              <a:cxnLst/>
              <a:rect l="l" t="t" r="r" b="b"/>
              <a:pathLst>
                <a:path w="25400" h="368300">
                  <a:moveTo>
                    <a:pt x="25399" y="368299"/>
                  </a:moveTo>
                  <a:lnTo>
                    <a:pt x="18385" y="368299"/>
                  </a:lnTo>
                  <a:lnTo>
                    <a:pt x="12399" y="365819"/>
                  </a:lnTo>
                  <a:lnTo>
                    <a:pt x="2479" y="355900"/>
                  </a:lnTo>
                  <a:lnTo>
                    <a:pt x="0" y="34991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6829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65819" y="1593850"/>
            <a:ext cx="5600700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A8FE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8FE2"/>
                </a:solidFill>
                <a:latin typeface="Arial"/>
                <a:cs typeface="Arial"/>
              </a:rPr>
              <a:t>Situation</a:t>
            </a:r>
            <a:endParaRPr sz="120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6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Novel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7-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step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synthesis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process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for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key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intermediate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blockbuster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drug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($2B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revenue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annually)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Final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drug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molecule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already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patented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(expires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8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years)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Process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reduces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manufacturing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costs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40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percent</a:t>
            </a:r>
            <a:r>
              <a:rPr dirty="0" sz="85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vs.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alternative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routes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78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FDA</a:t>
            </a:r>
            <a:r>
              <a:rPr dirty="0" sz="850" spc="-6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requires</a:t>
            </a:r>
            <a:r>
              <a:rPr dirty="0" sz="850" spc="-4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manufacturing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process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disclosure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but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not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all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optimization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details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Generic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manufacturers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will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enter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after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drug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patent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expiration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Some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process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details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observable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from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impurity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profiles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final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product</a:t>
            </a:r>
            <a:endParaRPr sz="850">
              <a:latin typeface="Arial"/>
              <a:cs typeface="Arial"/>
            </a:endParaRPr>
          </a:p>
          <a:p>
            <a:pPr marL="142240" indent="-129539">
              <a:lnSpc>
                <a:spcPct val="100000"/>
              </a:lnSpc>
              <a:spcBef>
                <a:spcPts val="830"/>
              </a:spcBef>
              <a:buClr>
                <a:srgbClr val="4A8FE2"/>
              </a:buClr>
              <a:buFont typeface="Arial"/>
              <a:buChar char="•"/>
              <a:tabLst>
                <a:tab pos="142240" algn="l"/>
              </a:tabLst>
            </a:pP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Process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patent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would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expire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20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years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from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filing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(possibly</a:t>
            </a:r>
            <a:r>
              <a:rPr dirty="0" sz="85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after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0C3DE"/>
                </a:solidFill>
                <a:latin typeface="Arial"/>
                <a:cs typeface="Arial"/>
              </a:rPr>
              <a:t>drug</a:t>
            </a:r>
            <a:r>
              <a:rPr dirty="0" sz="85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0C3DE"/>
                </a:solidFill>
                <a:latin typeface="Arial"/>
                <a:cs typeface="Arial"/>
              </a:rPr>
              <a:t>patent)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850">
              <a:latin typeface="Arial"/>
              <a:cs typeface="Arial"/>
            </a:endParaRPr>
          </a:p>
          <a:p>
            <a:pPr marL="281305">
              <a:lnSpc>
                <a:spcPct val="100000"/>
              </a:lnSpc>
            </a:pP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Patent the process, keep it as a trade secret, or use a hybrid strategy?</a:t>
            </a:r>
            <a:r>
              <a:rPr dirty="0" sz="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Analyze the </a:t>
            </a:r>
            <a:r>
              <a:rPr dirty="0" sz="950" spc="-10" b="1">
                <a:solidFill>
                  <a:srgbClr val="FFFFFF"/>
                </a:solidFill>
                <a:latin typeface="Arial"/>
                <a:cs typeface="Arial"/>
              </a:rPr>
              <a:t>tradeoffs.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175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499"/>
                </a:moveTo>
                <a:lnTo>
                  <a:pt x="22031" y="190499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499"/>
                </a:lnTo>
                <a:close/>
              </a:path>
            </a:pathLst>
          </a:custGeom>
          <a:solidFill>
            <a:srgbClr val="9A58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238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446193"/>
            <a:ext cx="4490720" cy="618490"/>
          </a:xfrm>
          <a:prstGeom prst="rect"/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900"/>
              <a:t>Case</a:t>
            </a:r>
            <a:r>
              <a:rPr dirty="0" sz="1900" spc="-65"/>
              <a:t> </a:t>
            </a:r>
            <a:r>
              <a:rPr dirty="0" sz="1900"/>
              <a:t>4A:</a:t>
            </a:r>
            <a:r>
              <a:rPr dirty="0" sz="1900" spc="-65"/>
              <a:t> </a:t>
            </a:r>
            <a:r>
              <a:rPr dirty="0" sz="1900"/>
              <a:t>Biotech</a:t>
            </a:r>
            <a:r>
              <a:rPr dirty="0" sz="1900" spc="-65"/>
              <a:t> </a:t>
            </a:r>
            <a:r>
              <a:rPr dirty="0" sz="1900"/>
              <a:t>Therapeutic</a:t>
            </a:r>
            <a:r>
              <a:rPr dirty="0" sz="1900" spc="-60"/>
              <a:t> </a:t>
            </a:r>
            <a:r>
              <a:rPr dirty="0" sz="1900" spc="-10"/>
              <a:t>Platform</a:t>
            </a:r>
            <a:endParaRPr sz="1900"/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00" b="0">
                <a:solidFill>
                  <a:srgbClr val="4A8FE2"/>
                </a:solidFill>
                <a:latin typeface="Arial"/>
                <a:cs typeface="Arial"/>
              </a:rPr>
              <a:t>BioTherapeutics </a:t>
            </a:r>
            <a:r>
              <a:rPr dirty="0" sz="900" spc="-20" b="0">
                <a:solidFill>
                  <a:srgbClr val="4A8FE2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073400"/>
            <a:ext cx="7112000" cy="457200"/>
            <a:chOff x="508000" y="3073400"/>
            <a:chExt cx="7112000" cy="457200"/>
          </a:xfrm>
        </p:grpSpPr>
        <p:sp>
          <p:nvSpPr>
            <p:cNvPr id="6" name="object 6"/>
            <p:cNvSpPr/>
            <p:nvPr/>
          </p:nvSpPr>
          <p:spPr>
            <a:xfrm>
              <a:off x="520699" y="3073400"/>
              <a:ext cx="7099300" cy="457200"/>
            </a:xfrm>
            <a:custGeom>
              <a:avLst/>
              <a:gdLst/>
              <a:ahLst/>
              <a:cxnLst/>
              <a:rect l="l" t="t" r="r" b="b"/>
              <a:pathLst>
                <a:path w="7099300" h="457200">
                  <a:moveTo>
                    <a:pt x="7077268" y="457199"/>
                  </a:moveTo>
                  <a:lnTo>
                    <a:pt x="11015" y="457199"/>
                  </a:lnTo>
                  <a:lnTo>
                    <a:pt x="9395" y="456555"/>
                  </a:lnTo>
                  <a:lnTo>
                    <a:pt x="0" y="435168"/>
                  </a:lnTo>
                  <a:lnTo>
                    <a:pt x="0" y="43180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435168"/>
                  </a:lnTo>
                  <a:lnTo>
                    <a:pt x="7080507" y="456555"/>
                  </a:lnTo>
                  <a:lnTo>
                    <a:pt x="7077268" y="45719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073400"/>
              <a:ext cx="25400" cy="457200"/>
            </a:xfrm>
            <a:custGeom>
              <a:avLst/>
              <a:gdLst/>
              <a:ahLst/>
              <a:cxnLst/>
              <a:rect l="l" t="t" r="r" b="b"/>
              <a:pathLst>
                <a:path w="25400" h="457200">
                  <a:moveTo>
                    <a:pt x="25399" y="457199"/>
                  </a:moveTo>
                  <a:lnTo>
                    <a:pt x="18385" y="457199"/>
                  </a:lnTo>
                  <a:lnTo>
                    <a:pt x="12399" y="454719"/>
                  </a:lnTo>
                  <a:lnTo>
                    <a:pt x="2479" y="444800"/>
                  </a:lnTo>
                  <a:lnTo>
                    <a:pt x="0" y="43881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45719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73459" y="1384300"/>
            <a:ext cx="7078980" cy="2054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4A8FE2"/>
                </a:solidFill>
                <a:latin typeface="Arial"/>
                <a:cs typeface="Arial"/>
              </a:rPr>
              <a:t>Technology</a:t>
            </a:r>
            <a:r>
              <a:rPr dirty="0" sz="1100" spc="-40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A8FE2"/>
                </a:solidFill>
                <a:latin typeface="Arial"/>
                <a:cs typeface="Arial"/>
              </a:rPr>
              <a:t>Stack</a:t>
            </a:r>
            <a:r>
              <a:rPr dirty="0" sz="1100" spc="-40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4A8FE2"/>
                </a:solidFill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8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Target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Discovery</a:t>
            </a:r>
            <a:r>
              <a:rPr dirty="0" sz="800" spc="-4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Algorithm: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ML</a:t>
            </a:r>
            <a:r>
              <a:rPr dirty="0" sz="800" spc="-4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algorithm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for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identifying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therapeutic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targets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(cloud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SaaS)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Antibody</a:t>
            </a:r>
            <a:r>
              <a:rPr dirty="0" sz="800" spc="-3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Design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Method: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Computational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modeling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for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designing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antibody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sequences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Proprietary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Cell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Line: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Engineered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CHO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cell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line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higher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protein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yields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4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Bioreactor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Control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System: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Specialized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hardware/software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for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fermentation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control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Purification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Process: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Multi-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step</a:t>
            </a:r>
            <a:r>
              <a:rPr dirty="0" sz="8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chromatography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achieving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99.9</a:t>
            </a:r>
            <a:r>
              <a:rPr dirty="0" sz="8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percent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purity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Quality</a:t>
            </a:r>
            <a:r>
              <a:rPr dirty="0" sz="800" spc="-3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Control</a:t>
            </a:r>
            <a:r>
              <a:rPr dirty="0" sz="800" spc="-5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Assays:</a:t>
            </a:r>
            <a:r>
              <a:rPr dirty="0" sz="800" spc="-1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Novel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assays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faster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more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sensitive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than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industry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standard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Platform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Brand: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BioExpress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trademark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associated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quality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and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reliability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800">
              <a:latin typeface="Arial"/>
              <a:cs typeface="Arial"/>
            </a:endParaRPr>
          </a:p>
          <a:p>
            <a:pPr marL="254635" marR="5080">
              <a:lnSpc>
                <a:spcPts val="1050"/>
              </a:lnSpc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For each component, determine the optimal IP</a:t>
            </a: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protection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strategy.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 Consider patents, trade secrets, copyright,</a:t>
            </a:r>
            <a:r>
              <a:rPr dirty="0" sz="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trademark, </a:t>
            </a:r>
            <a:r>
              <a:rPr dirty="0" sz="9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hybrid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approaches.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999" y="317500"/>
            <a:ext cx="615950" cy="190500"/>
          </a:xfrm>
          <a:custGeom>
            <a:avLst/>
            <a:gdLst/>
            <a:ahLst/>
            <a:cxnLst/>
            <a:rect l="l" t="t" r="r" b="b"/>
            <a:pathLst>
              <a:path w="615950" h="190500">
                <a:moveTo>
                  <a:pt x="593918" y="190499"/>
                </a:moveTo>
                <a:lnTo>
                  <a:pt x="22031" y="190499"/>
                </a:lnTo>
                <a:lnTo>
                  <a:pt x="18791" y="189855"/>
                </a:lnTo>
                <a:lnTo>
                  <a:pt x="0" y="168468"/>
                </a:lnTo>
                <a:lnTo>
                  <a:pt x="0" y="165100"/>
                </a:lnTo>
                <a:lnTo>
                  <a:pt x="0" y="22031"/>
                </a:lnTo>
                <a:lnTo>
                  <a:pt x="22031" y="0"/>
                </a:lnTo>
                <a:lnTo>
                  <a:pt x="593918" y="0"/>
                </a:lnTo>
                <a:lnTo>
                  <a:pt x="615949" y="22031"/>
                </a:lnTo>
                <a:lnTo>
                  <a:pt x="615949" y="168468"/>
                </a:lnTo>
                <a:lnTo>
                  <a:pt x="597158" y="189855"/>
                </a:lnTo>
                <a:lnTo>
                  <a:pt x="593918" y="190499"/>
                </a:lnTo>
                <a:close/>
              </a:path>
            </a:pathLst>
          </a:custGeom>
          <a:solidFill>
            <a:srgbClr val="9A58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6900" y="323850"/>
            <a:ext cx="4362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300" y="446193"/>
            <a:ext cx="3534410" cy="618490"/>
          </a:xfrm>
          <a:prstGeom prst="rect"/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900"/>
              <a:t>Case</a:t>
            </a:r>
            <a:r>
              <a:rPr dirty="0" sz="1900" spc="-45"/>
              <a:t> </a:t>
            </a:r>
            <a:r>
              <a:rPr dirty="0" sz="1900"/>
              <a:t>4B:</a:t>
            </a:r>
            <a:r>
              <a:rPr dirty="0" sz="1900" spc="-114"/>
              <a:t> </a:t>
            </a:r>
            <a:r>
              <a:rPr dirty="0" sz="1900"/>
              <a:t>AI</a:t>
            </a:r>
            <a:r>
              <a:rPr dirty="0" sz="1900" spc="-110"/>
              <a:t> </a:t>
            </a:r>
            <a:r>
              <a:rPr dirty="0" sz="1900"/>
              <a:t>Analytics</a:t>
            </a:r>
            <a:r>
              <a:rPr dirty="0" sz="1900" spc="-45"/>
              <a:t> </a:t>
            </a:r>
            <a:r>
              <a:rPr dirty="0" sz="1900" spc="-10"/>
              <a:t>Platform</a:t>
            </a:r>
            <a:endParaRPr sz="1900"/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00" b="0">
                <a:solidFill>
                  <a:srgbClr val="4A8FE2"/>
                </a:solidFill>
                <a:latin typeface="Arial"/>
                <a:cs typeface="Arial"/>
              </a:rPr>
              <a:t>AI</a:t>
            </a:r>
            <a:r>
              <a:rPr dirty="0" sz="900" spc="-50" b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900" b="0">
                <a:solidFill>
                  <a:srgbClr val="4A8FE2"/>
                </a:solidFill>
                <a:latin typeface="Arial"/>
                <a:cs typeface="Arial"/>
              </a:rPr>
              <a:t>Analytics </a:t>
            </a:r>
            <a:r>
              <a:rPr dirty="0" sz="900" spc="-10" b="0">
                <a:solidFill>
                  <a:srgbClr val="4A8FE2"/>
                </a:solidFill>
                <a:latin typeface="Arial"/>
                <a:cs typeface="Arial"/>
              </a:rPr>
              <a:t>Corp.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8000" y="3073400"/>
            <a:ext cx="7112000" cy="323850"/>
            <a:chOff x="508000" y="3073400"/>
            <a:chExt cx="7112000" cy="323850"/>
          </a:xfrm>
        </p:grpSpPr>
        <p:sp>
          <p:nvSpPr>
            <p:cNvPr id="6" name="object 6"/>
            <p:cNvSpPr/>
            <p:nvPr/>
          </p:nvSpPr>
          <p:spPr>
            <a:xfrm>
              <a:off x="520699" y="3073400"/>
              <a:ext cx="7099300" cy="323850"/>
            </a:xfrm>
            <a:custGeom>
              <a:avLst/>
              <a:gdLst/>
              <a:ahLst/>
              <a:cxnLst/>
              <a:rect l="l" t="t" r="r" b="b"/>
              <a:pathLst>
                <a:path w="7099300" h="323850">
                  <a:moveTo>
                    <a:pt x="7077268" y="323849"/>
                  </a:moveTo>
                  <a:lnTo>
                    <a:pt x="11015" y="323849"/>
                  </a:lnTo>
                  <a:lnTo>
                    <a:pt x="9395" y="323205"/>
                  </a:lnTo>
                  <a:lnTo>
                    <a:pt x="0" y="301818"/>
                  </a:lnTo>
                  <a:lnTo>
                    <a:pt x="0" y="298450"/>
                  </a:lnTo>
                  <a:lnTo>
                    <a:pt x="0" y="22031"/>
                  </a:lnTo>
                  <a:lnTo>
                    <a:pt x="11015" y="0"/>
                  </a:lnTo>
                  <a:lnTo>
                    <a:pt x="7077268" y="0"/>
                  </a:lnTo>
                  <a:lnTo>
                    <a:pt x="7099299" y="22031"/>
                  </a:lnTo>
                  <a:lnTo>
                    <a:pt x="7099299" y="301818"/>
                  </a:lnTo>
                  <a:lnTo>
                    <a:pt x="7080507" y="323205"/>
                  </a:lnTo>
                  <a:lnTo>
                    <a:pt x="7077268" y="323849"/>
                  </a:lnTo>
                  <a:close/>
                </a:path>
              </a:pathLst>
            </a:custGeom>
            <a:solidFill>
              <a:srgbClr val="E74B3C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8000" y="3073400"/>
              <a:ext cx="25400" cy="323850"/>
            </a:xfrm>
            <a:custGeom>
              <a:avLst/>
              <a:gdLst/>
              <a:ahLst/>
              <a:cxnLst/>
              <a:rect l="l" t="t" r="r" b="b"/>
              <a:pathLst>
                <a:path w="25400" h="323850">
                  <a:moveTo>
                    <a:pt x="25399" y="323849"/>
                  </a:moveTo>
                  <a:lnTo>
                    <a:pt x="18385" y="323849"/>
                  </a:lnTo>
                  <a:lnTo>
                    <a:pt x="12399" y="321369"/>
                  </a:lnTo>
                  <a:lnTo>
                    <a:pt x="2479" y="311450"/>
                  </a:lnTo>
                  <a:lnTo>
                    <a:pt x="0" y="305463"/>
                  </a:lnTo>
                  <a:lnTo>
                    <a:pt x="0" y="18385"/>
                  </a:lnTo>
                  <a:lnTo>
                    <a:pt x="2479" y="12398"/>
                  </a:lnTo>
                  <a:lnTo>
                    <a:pt x="12399" y="2479"/>
                  </a:lnTo>
                  <a:lnTo>
                    <a:pt x="18385" y="0"/>
                  </a:lnTo>
                  <a:lnTo>
                    <a:pt x="25399" y="0"/>
                  </a:lnTo>
                  <a:lnTo>
                    <a:pt x="25399" y="32384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73459" y="1384300"/>
            <a:ext cx="6958965" cy="1921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4A8FE2"/>
                </a:solidFill>
                <a:latin typeface="Arial"/>
                <a:cs typeface="Arial"/>
              </a:rPr>
              <a:t>Technology</a:t>
            </a:r>
            <a:r>
              <a:rPr dirty="0" sz="1100" spc="-40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4A8FE2"/>
                </a:solidFill>
                <a:latin typeface="Arial"/>
                <a:cs typeface="Arial"/>
              </a:rPr>
              <a:t>Stack</a:t>
            </a:r>
            <a:r>
              <a:rPr dirty="0" sz="1100" spc="-40" b="1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4A8FE2"/>
                </a:solidFill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8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Core</a:t>
            </a:r>
            <a:r>
              <a:rPr dirty="0" sz="800" spc="-5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Analytics</a:t>
            </a:r>
            <a:r>
              <a:rPr dirty="0" sz="800" spc="-4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Engine: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Distributed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processing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system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novel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data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partitioning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approach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Machine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Learning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Models: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Neural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networks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trained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on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proprietary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industry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benchmark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dataset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Training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Data: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Proprietary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dataset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collected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from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customers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over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5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B0C3DE"/>
                </a:solidFill>
                <a:latin typeface="Arial"/>
                <a:cs typeface="Arial"/>
              </a:rPr>
              <a:t>years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4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User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Interface: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Distinctive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visual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design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interactive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dashboard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components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API</a:t>
            </a:r>
            <a:r>
              <a:rPr dirty="0" sz="800" spc="-5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Architecture: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RESTful</a:t>
            </a:r>
            <a:r>
              <a:rPr dirty="0" sz="800" spc="-4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API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novel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authentication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and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rate-limiting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Client-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Side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JavaScript</a:t>
            </a:r>
            <a:r>
              <a:rPr dirty="0" sz="8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Library:</a:t>
            </a:r>
            <a:r>
              <a:rPr dirty="0" sz="8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Visualization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library</a:t>
            </a:r>
            <a:r>
              <a:rPr dirty="0" sz="8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proprietary</a:t>
            </a:r>
            <a:r>
              <a:rPr dirty="0" sz="800" spc="-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rendering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 algorithms</a:t>
            </a:r>
            <a:endParaRPr sz="800">
              <a:latin typeface="Arial"/>
              <a:cs typeface="Arial"/>
            </a:endParaRPr>
          </a:p>
          <a:p>
            <a:pPr marL="135255" indent="-122555">
              <a:lnSpc>
                <a:spcPct val="100000"/>
              </a:lnSpc>
              <a:spcBef>
                <a:spcPts val="590"/>
              </a:spcBef>
              <a:buClr>
                <a:srgbClr val="4A8FE2"/>
              </a:buClr>
              <a:buFont typeface="Arial"/>
              <a:buChar char="•"/>
              <a:tabLst>
                <a:tab pos="135255" algn="l"/>
              </a:tabLst>
            </a:pP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Platform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Brand: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InsightIQ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trademark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with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tagline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Intelligence</a:t>
            </a:r>
            <a:r>
              <a:rPr dirty="0" sz="800" spc="-4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B0C3DE"/>
                </a:solidFill>
                <a:latin typeface="Arial"/>
                <a:cs typeface="Arial"/>
              </a:rPr>
              <a:t>You</a:t>
            </a:r>
            <a:r>
              <a:rPr dirty="0" sz="800" spc="-2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B0C3DE"/>
                </a:solidFill>
                <a:latin typeface="Arial"/>
                <a:cs typeface="Arial"/>
              </a:rPr>
              <a:t>Can</a:t>
            </a:r>
            <a:r>
              <a:rPr dirty="0" sz="800" spc="-35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B0C3DE"/>
                </a:solidFill>
                <a:latin typeface="Arial"/>
                <a:cs typeface="Arial"/>
              </a:rPr>
              <a:t>Trust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800">
              <a:latin typeface="Arial"/>
              <a:cs typeface="Arial"/>
            </a:endParaRPr>
          </a:p>
          <a:p>
            <a:pPr marL="254635">
              <a:lnSpc>
                <a:spcPct val="100000"/>
              </a:lnSpc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Design a comprehensive IP</a:t>
            </a: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strategy.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 How does SaaS delivery model affect your choices? Consider open-source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strategies.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000" y="381000"/>
            <a:ext cx="381000" cy="25400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381000" y="25400"/>
                </a:moveTo>
                <a:lnTo>
                  <a:pt x="0" y="25400"/>
                </a:lnTo>
                <a:lnTo>
                  <a:pt x="0" y="0"/>
                </a:lnTo>
                <a:lnTo>
                  <a:pt x="381000" y="0"/>
                </a:lnTo>
                <a:lnTo>
                  <a:pt x="381000" y="25400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45"/>
              <a:t> </a:t>
            </a:r>
            <a:r>
              <a:rPr dirty="0" spc="-20"/>
              <a:t>Takeaways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/>
              <a:t>Strategic</a:t>
            </a:r>
            <a:r>
              <a:rPr dirty="0" spc="-5"/>
              <a:t> </a:t>
            </a:r>
            <a:r>
              <a:rPr dirty="0"/>
              <a:t>IP</a:t>
            </a:r>
            <a:r>
              <a:rPr dirty="0" spc="-35"/>
              <a:t> </a:t>
            </a:r>
            <a:r>
              <a:rPr dirty="0"/>
              <a:t>Decision</a:t>
            </a:r>
            <a:r>
              <a:rPr dirty="0" spc="-5"/>
              <a:t> </a:t>
            </a:r>
            <a:r>
              <a:rPr dirty="0" spc="-10"/>
              <a:t>Framework</a:t>
            </a:r>
          </a:p>
          <a:p>
            <a:pPr marL="163830" indent="-151130">
              <a:lnSpc>
                <a:spcPct val="100000"/>
              </a:lnSpc>
              <a:spcBef>
                <a:spcPts val="1120"/>
              </a:spcBef>
              <a:buClr>
                <a:srgbClr val="4A8FE2"/>
              </a:buClr>
              <a:buFont typeface="Arial"/>
              <a:buChar char="•"/>
              <a:tabLst>
                <a:tab pos="163830" algn="l"/>
              </a:tabLst>
            </a:pP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Assess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reverse</a:t>
            </a:r>
            <a:r>
              <a:rPr dirty="0" sz="1000" spc="10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engineering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risk</a:t>
            </a:r>
            <a:r>
              <a:rPr dirty="0" sz="1000" spc="10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and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independent</a:t>
            </a:r>
            <a:r>
              <a:rPr dirty="0" sz="1000" spc="10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discovery</a:t>
            </a:r>
            <a:r>
              <a:rPr dirty="0" sz="1000" spc="10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spc="-10" b="0">
                <a:solidFill>
                  <a:srgbClr val="B0C3DE"/>
                </a:solidFill>
                <a:latin typeface="Arial"/>
                <a:cs typeface="Arial"/>
              </a:rPr>
              <a:t>likelihood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A8FE2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 marL="163830" indent="-151130">
              <a:lnSpc>
                <a:spcPct val="100000"/>
              </a:lnSpc>
              <a:buClr>
                <a:srgbClr val="4A8FE2"/>
              </a:buClr>
              <a:buFont typeface="Arial"/>
              <a:buChar char="•"/>
              <a:tabLst>
                <a:tab pos="163830" algn="l"/>
              </a:tabLst>
            </a:pP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Consider regulatory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disclosure requirements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and enforcement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spc="-10" b="0">
                <a:solidFill>
                  <a:srgbClr val="B0C3DE"/>
                </a:solidFill>
                <a:latin typeface="Arial"/>
                <a:cs typeface="Arial"/>
              </a:rPr>
              <a:t>costs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A8FE2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 marL="163830" indent="-151130">
              <a:lnSpc>
                <a:spcPct val="100000"/>
              </a:lnSpc>
              <a:buClr>
                <a:srgbClr val="4A8FE2"/>
              </a:buClr>
              <a:buFont typeface="Arial"/>
              <a:buChar char="•"/>
              <a:tabLst>
                <a:tab pos="163830" algn="l"/>
              </a:tabLst>
            </a:pP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Evaluate market position,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industry dynamics,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and competitive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spc="-10" b="0">
                <a:solidFill>
                  <a:srgbClr val="B0C3DE"/>
                </a:solidFill>
                <a:latin typeface="Arial"/>
                <a:cs typeface="Arial"/>
              </a:rPr>
              <a:t>landscape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A8FE2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 marL="163830" indent="-151130">
              <a:lnSpc>
                <a:spcPct val="100000"/>
              </a:lnSpc>
              <a:buClr>
                <a:srgbClr val="4A8FE2"/>
              </a:buClr>
              <a:buFont typeface="Arial"/>
              <a:buChar char="•"/>
              <a:tabLst>
                <a:tab pos="163830" algn="l"/>
              </a:tabLst>
            </a:pP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Recognize that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complex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technologies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often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require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mixed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IP</a:t>
            </a:r>
            <a:r>
              <a:rPr dirty="0" sz="1000" spc="-1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spc="-10" b="0">
                <a:solidFill>
                  <a:srgbClr val="B0C3DE"/>
                </a:solidFill>
                <a:latin typeface="Arial"/>
                <a:cs typeface="Arial"/>
              </a:rPr>
              <a:t>strategies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A8FE2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 marL="163830" indent="-151130">
              <a:lnSpc>
                <a:spcPct val="100000"/>
              </a:lnSpc>
              <a:buClr>
                <a:srgbClr val="4A8FE2"/>
              </a:buClr>
              <a:buFont typeface="Arial"/>
              <a:buChar char="•"/>
              <a:tabLst>
                <a:tab pos="163830" algn="l"/>
              </a:tabLst>
            </a:pP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Balance duration of protection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against disclosure </a:t>
            </a:r>
            <a:r>
              <a:rPr dirty="0" sz="1000" spc="-10" b="0">
                <a:solidFill>
                  <a:srgbClr val="B0C3DE"/>
                </a:solidFill>
                <a:latin typeface="Arial"/>
                <a:cs typeface="Arial"/>
              </a:rPr>
              <a:t>costs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4A8FE2"/>
              </a:buClr>
              <a:buFont typeface="Arial"/>
              <a:buChar char="•"/>
            </a:pPr>
            <a:endParaRPr sz="1000">
              <a:latin typeface="Arial"/>
              <a:cs typeface="Arial"/>
            </a:endParaRPr>
          </a:p>
          <a:p>
            <a:pPr marL="163830" indent="-151130">
              <a:lnSpc>
                <a:spcPct val="100000"/>
              </a:lnSpc>
              <a:buClr>
                <a:srgbClr val="4A8FE2"/>
              </a:buClr>
              <a:buFont typeface="Arial"/>
              <a:buChar char="•"/>
              <a:tabLst>
                <a:tab pos="163830" algn="l"/>
              </a:tabLst>
            </a:pP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Remember:</a:t>
            </a:r>
            <a:r>
              <a:rPr dirty="0" sz="1000" spc="-20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There is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often no single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right answer</a:t>
            </a:r>
            <a:r>
              <a:rPr dirty="0" sz="1000" spc="5" b="0">
                <a:solidFill>
                  <a:srgbClr val="B0C3DE"/>
                </a:solidFill>
                <a:latin typeface="Arial"/>
                <a:cs typeface="Arial"/>
              </a:rPr>
              <a:t> </a:t>
            </a:r>
            <a:r>
              <a:rPr dirty="0" sz="1000" b="0">
                <a:solidFill>
                  <a:srgbClr val="B0C3DE"/>
                </a:solidFill>
                <a:latin typeface="Arial"/>
                <a:cs typeface="Arial"/>
              </a:rPr>
              <a:t>- context </a:t>
            </a:r>
            <a:r>
              <a:rPr dirty="0" sz="1000" spc="-10" b="0">
                <a:solidFill>
                  <a:srgbClr val="B0C3DE"/>
                </a:solidFill>
                <a:latin typeface="Arial"/>
                <a:cs typeface="Arial"/>
              </a:rPr>
              <a:t>matters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2026-03-19T17:11:58Z</dcterms:created>
  <dcterms:modified xsi:type="dcterms:W3CDTF">2026-03-19T17:11:58Z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2026-03-19T00:00:00Z</vt:filetime>
  </property>
  <property fmtid="{D5CDD505-2E9C-101B-9397-08002B2CF9AE}" pid="3" name="Producer">
    <vt:lpwstr>PyPDF2</vt:lpwstr>
  </property>
  <property fmtid="{D5CDD505-2E9C-101B-9397-08002B2CF9AE}" pid="4" name="LastSaved">
    <vt:filetime>2026-03-19T00:00:00Z</vt:filetime>
  </property>
</Properties>
</file>